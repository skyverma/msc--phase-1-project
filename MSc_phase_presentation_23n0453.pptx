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41"/>
  </p:notesMasterIdLst>
  <p:sldIdLst>
    <p:sldId id="256" r:id="rId3"/>
    <p:sldId id="257" r:id="rId4"/>
    <p:sldId id="279" r:id="rId5"/>
    <p:sldId id="280" r:id="rId6"/>
    <p:sldId id="281" r:id="rId7"/>
    <p:sldId id="282" r:id="rId8"/>
    <p:sldId id="284" r:id="rId9"/>
    <p:sldId id="285" r:id="rId10"/>
    <p:sldId id="286" r:id="rId11"/>
    <p:sldId id="283" r:id="rId12"/>
    <p:sldId id="287" r:id="rId13"/>
    <p:sldId id="288" r:id="rId14"/>
    <p:sldId id="289" r:id="rId15"/>
    <p:sldId id="290" r:id="rId16"/>
    <p:sldId id="292" r:id="rId17"/>
    <p:sldId id="291" r:id="rId18"/>
    <p:sldId id="293" r:id="rId19"/>
    <p:sldId id="294" r:id="rId20"/>
    <p:sldId id="295" r:id="rId21"/>
    <p:sldId id="296" r:id="rId22"/>
    <p:sldId id="297" r:id="rId23"/>
    <p:sldId id="298" r:id="rId24"/>
    <p:sldId id="299" r:id="rId25"/>
    <p:sldId id="300" r:id="rId26"/>
    <p:sldId id="311" r:id="rId27"/>
    <p:sldId id="301" r:id="rId28"/>
    <p:sldId id="310" r:id="rId29"/>
    <p:sldId id="309" r:id="rId30"/>
    <p:sldId id="312" r:id="rId31"/>
    <p:sldId id="315" r:id="rId32"/>
    <p:sldId id="314" r:id="rId33"/>
    <p:sldId id="313" r:id="rId34"/>
    <p:sldId id="326" r:id="rId35"/>
    <p:sldId id="327" r:id="rId36"/>
    <p:sldId id="328" r:id="rId37"/>
    <p:sldId id="329" r:id="rId38"/>
    <p:sldId id="330" r:id="rId39"/>
    <p:sldId id="331" r:id="rId40"/>
  </p:sldIdLst>
  <p:sldSz cx="9144000" cy="5143500" type="screen16x9"/>
  <p:notesSz cx="6858000" cy="9144000"/>
  <p:embeddedFontLst>
    <p:embeddedFont>
      <p:font typeface="Cambria Math" panose="02040503050406030204" pitchFamily="18" charset="0"/>
      <p:regular r:id="rId42"/>
    </p:embeddedFont>
    <p:embeddedFont>
      <p:font typeface="Century" panose="02040604050505020304" pitchFamily="18" charset="0"/>
      <p:regular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4599F94E-CEE6-441E-89CC-EB005ECD8F06}">
      <a14:m xmlns:a14="http://schemas.microsoft.com/office/drawing/2010/main">
        <m:mathPr xmlns:m="http://schemas.openxmlformats.org/officeDocument/2006/math"/>
      </a14:m>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30" y="6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1.fntdata"/><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2.fntdata"/><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03f7aca4a4_2_77:notes"/>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r>
              <a:rPr lang="en" sz="1300"/>
              <a:t>sjkdbdnsds</a:t>
            </a:r>
            <a:endParaRPr sz="1300"/>
          </a:p>
          <a:p>
            <a:pPr marL="0" lvl="0" indent="0" algn="l" rtl="0">
              <a:spcBef>
                <a:spcPts val="0"/>
              </a:spcBef>
              <a:spcAft>
                <a:spcPts val="0"/>
              </a:spcAft>
              <a:buNone/>
            </a:pPr>
            <a:endParaRPr sz="1300"/>
          </a:p>
        </p:txBody>
      </p:sp>
      <p:sp>
        <p:nvSpPr>
          <p:cNvPr id="129" name="Google Shape;129;g303f7aca4a4_2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03f7aca4a4_2_85:notes"/>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BAB2B220-49B0-0316-FCCF-2EA417887BF2}"/>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0CD1065B-083A-41E3-1898-FF73D4836B1B}"/>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06DB3BC3-3027-7913-8FC3-21A4D8B913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494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5BB06923-76EF-1582-5082-A0BDDFCBC521}"/>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B14D20F7-B29D-488D-B079-0A24BAE8C646}"/>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20C10596-9605-8859-D452-BC7E44A1777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23330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425A1FE8-9917-35A5-06B7-D2A1B0E7A117}"/>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2262908D-F1D5-0844-8B0F-488F6FEDA149}"/>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7FB84E83-8549-8808-7B0D-0DB1B81F19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0647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AB4D3DB3-A26E-1CDB-6A55-24485B9F902D}"/>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E9B3DAE0-8B31-20AB-6BCB-83ECA559F069}"/>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FC47210F-FE45-C853-2EF0-A8662244DD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8298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73AF3C28-862D-9D83-1A6E-685FB5938745}"/>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8FD5DCB6-66DB-D4E7-D73F-F821E9168D90}"/>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17913D54-082C-08B6-822A-ECFE852610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19876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299E754B-242B-DABF-081A-04411298BEED}"/>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42EC6332-EE48-FE58-346F-C31E8AB96E2A}"/>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E31843B1-F300-1C4E-AE5B-F0EAA5EE5B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0100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A944D14E-FC45-AA4D-C5CE-14C4823648B3}"/>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66626FE0-9F15-59F3-E6C3-F3E6D71BBD28}"/>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9B9FAEB8-84D1-9E2D-D523-3D1DDF9ECF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9161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0A9E5483-CA2F-892C-49B4-E979CEE2DEF0}"/>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F430C3C3-6C51-BD4C-9A77-137C5CF92CFF}"/>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B347D2BA-DEB9-167C-3FFC-2DAEF2D080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192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D7E6F797-C41F-FF6F-7A4C-B00EC4575621}"/>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B0A4B4EB-3F01-66EA-7D8E-DAF08C38E2CA}"/>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479401AA-654A-D991-C32D-870684926C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4229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C79509B3-109B-2FEA-6124-BE8E006B62E8}"/>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23077560-1746-84E5-8BB4-6D5ABDECE33C}"/>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C47172A9-38DA-6BE5-63FA-566644F0FD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335315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F2C8732A-5A0C-4971-402B-95F2021CBAAD}"/>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EA76E486-C120-FF7E-5D73-2DFAA82C0264}"/>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1672CB8E-696D-F28D-16BC-48E99F44588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67546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18544D6B-2F85-EBB3-57F2-AEFD246361EA}"/>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2B715167-A069-318A-918A-DF1897DDB07E}"/>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CD82859F-F38E-3322-7DC5-72EB20E889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73262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FC427707-6E3D-A278-FA1D-6FD63A2BB05F}"/>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A0335FF5-CC04-6B11-1CC0-25ADFE1863DC}"/>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E39BB154-0745-CEC9-A4AB-FC8745071F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61097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7BAA3B3C-C893-CD71-531D-49B0F4201700}"/>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3D4976F9-3A34-9C24-BC07-9DC1DCBC92C8}"/>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B5B65CA3-8885-DD6F-C767-10A9333684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42796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4FA8B6CC-F3EF-0683-3378-AB90202DEAF2}"/>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1B423A3B-EF1C-C3B2-FA62-C9AF80756821}"/>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D84D27F3-3388-9DFE-5EDF-816BCBC245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08613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E378867C-F429-A881-6B27-D6575F9344AF}"/>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615D5A92-23CA-1121-7718-A38EBD53EE01}"/>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B84DF2FC-BAD4-F051-43F6-72CC62E355D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32699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8FCCBCD9-76EA-2BDE-959A-A89D04A20252}"/>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3324DE8E-DD02-4411-A2FE-B0AF0B4073EB}"/>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686178B9-4193-C278-1BF3-26621DEA29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653848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ED9EEFF8-6C1E-96A5-C73A-89EC03D8B493}"/>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D44CEBEB-9478-CFD5-DE24-753272BBF266}"/>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F3E58E6B-F03B-F5D3-077F-67546F0450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091999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DD140BB0-CD06-536B-7AFF-A27B511ADD4A}"/>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5CAABAAD-6169-DA13-1384-EA92B0BEF2AE}"/>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49D2C0D5-4D3A-FBBF-5592-18CF645FAE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50540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D22678B0-D735-EFD7-8B9F-5AB66F5FFD73}"/>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DCACE1C7-0535-10EA-89A0-F48D07613DAF}"/>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18C97319-0E45-6C19-ECAC-458C025246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07163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B44BE664-ED9D-E9A6-43D5-1A7FFEA83E61}"/>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04E04BAD-D031-FE4C-0D2A-D3017BFBD8F3}"/>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96BC7CF2-5B1D-BE0F-E708-A730A276AC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39448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37DE56B9-BC11-6C2A-ABE6-B9614F508522}"/>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41E1ED93-428C-7BD7-F9FF-CEDD7536E21E}"/>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03C3DAD7-C4CC-C843-82AD-5CF1008037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94127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61F52F05-B670-D6B6-C5D7-FD8C8DA486CC}"/>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7E0E412C-D724-A8D0-91C5-9BAF23E4770A}"/>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06C99825-9808-B453-68EA-93C75F47B6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2604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770F7190-858C-8022-DCA0-C0344EE3483F}"/>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0AE22D8D-81A7-F1B2-A7BB-7E18A3D733B0}"/>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6DF6EAAB-FBC2-3C87-88B3-0B140CFF64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166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C551BDDB-D1FB-871E-DC56-096CDB5AF2F4}"/>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A8B58363-5FD1-DCC5-2CAF-61F7EDD4AC16}"/>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FBF77FAC-2A13-C133-513B-E9F9308759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045572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D1D02CD6-C6DE-2E4F-45D7-D755D0EF447D}"/>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145041A1-9197-EA33-A084-B9341869FDAC}"/>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9E9829E7-FAA4-5F59-78F4-71ECF5EEDC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46287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38EA56B0-1471-E1B6-136B-C008EC8D6027}"/>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1D0BE980-3C41-9D5C-75DD-914811927F57}"/>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00EFBD0E-AD57-E7F7-E432-D0E0CC0345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97726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16BAC44D-C9A0-DD15-3926-C91478AB05D2}"/>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7F85D50E-5A70-CE6C-2A2A-1E96F0D8353D}"/>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042A593C-3F9D-4753-A645-CA6AD27061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21905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B660632F-3673-4360-8984-27F965B9CA30}"/>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4FA71A54-6963-9474-9AFB-75CF8F7346A3}"/>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A978E39E-408B-C262-EA2D-B5E8A78F59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044663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DAEBC3D2-8E5B-9FCB-29D8-963523FC6500}"/>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95895808-1796-A588-F4D5-17E83703C463}"/>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00AE9B57-5BC1-B0C7-8E8C-48D9E9368D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26291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8FC81105-AEEA-8CA5-57C9-52215D47A652}"/>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106AC9CA-BD67-3FA0-55F8-9CBF21363A59}"/>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EF9AD83B-E995-77EB-C777-F5B5D310D6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5475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D3E074D0-1F23-7E75-C5E4-E662027C4176}"/>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5FA0C484-D6B3-F0A1-0585-3BEA25E4EEAD}"/>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39834B68-636B-FCC8-A145-8102B3C5B7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261111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7B5DE5E0-9B99-41C0-75D6-695835D19A97}"/>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521CC0D4-80CC-F3F7-8DCB-A82655E221E8}"/>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6F5E1BE3-4B2F-C999-03C1-97746EE5D1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04368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E0FA4B77-9B17-B5EC-8B4A-9E1F5A730735}"/>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A896B603-9D55-BE39-8C5C-B7F2BDD1E932}"/>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BAC5EE80-DC57-ED9A-ED88-3DC650F08C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795218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621C9C61-903A-352A-6274-40AF9332CB28}"/>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CB382AE0-C3EF-A55C-359F-04AE132915CB}"/>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5E68339E-EEB5-570A-23FB-F6F3AAD294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78684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a:extLst>
            <a:ext uri="{FF2B5EF4-FFF2-40B4-BE49-F238E27FC236}">
              <a16:creationId xmlns:a16="http://schemas.microsoft.com/office/drawing/2014/main" id="{9FF237BB-34F1-14F2-DEFA-494C08EC1541}"/>
            </a:ext>
          </a:extLst>
        </p:cNvPr>
        <p:cNvGrpSpPr/>
        <p:nvPr/>
      </p:nvGrpSpPr>
      <p:grpSpPr>
        <a:xfrm>
          <a:off x="0" y="0"/>
          <a:ext cx="0" cy="0"/>
          <a:chOff x="0" y="0"/>
          <a:chExt cx="0" cy="0"/>
        </a:xfrm>
      </p:grpSpPr>
      <p:sp>
        <p:nvSpPr>
          <p:cNvPr id="138" name="Google Shape;138;g303f7aca4a4_2_85:notes">
            <a:extLst>
              <a:ext uri="{FF2B5EF4-FFF2-40B4-BE49-F238E27FC236}">
                <a16:creationId xmlns:a16="http://schemas.microsoft.com/office/drawing/2014/main" id="{EAC26A98-D201-F0B3-7619-C11C31D38E66}"/>
              </a:ext>
            </a:extLst>
          </p:cNvPr>
          <p:cNvSpPr txBox="1">
            <a:spLocks noGrp="1"/>
          </p:cNvSpPr>
          <p:nvPr>
            <p:ph type="body" idx="1"/>
          </p:nvPr>
        </p:nvSpPr>
        <p:spPr>
          <a:xfrm>
            <a:off x="685800" y="4343400"/>
            <a:ext cx="5486400" cy="4114800"/>
          </a:xfrm>
          <a:prstGeom prst="rect">
            <a:avLst/>
          </a:prstGeom>
        </p:spPr>
        <p:txBody>
          <a:bodyPr spcFirstLastPara="1" wrap="square" lIns="86175" tIns="86175" rIns="86175" bIns="86175" anchor="t" anchorCtr="0">
            <a:noAutofit/>
          </a:bodyPr>
          <a:lstStyle/>
          <a:p>
            <a:pPr marL="0" lvl="0" indent="0" algn="l" rtl="0">
              <a:spcBef>
                <a:spcPts val="0"/>
              </a:spcBef>
              <a:spcAft>
                <a:spcPts val="0"/>
              </a:spcAft>
              <a:buNone/>
            </a:pPr>
            <a:endParaRPr/>
          </a:p>
        </p:txBody>
      </p:sp>
      <p:sp>
        <p:nvSpPr>
          <p:cNvPr id="139" name="Google Shape;139;g303f7aca4a4_2_85:notes">
            <a:extLst>
              <a:ext uri="{FF2B5EF4-FFF2-40B4-BE49-F238E27FC236}">
                <a16:creationId xmlns:a16="http://schemas.microsoft.com/office/drawing/2014/main" id="{88F38342-792F-764E-D324-74293A9737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2759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685800" y="1597820"/>
            <a:ext cx="7772400" cy="11025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0" name="Google Shape;60;p14"/>
          <p:cNvSpPr txBox="1">
            <a:spLocks noGrp="1"/>
          </p:cNvSpPr>
          <p:nvPr>
            <p:ph type="subTitle" idx="1"/>
          </p:nvPr>
        </p:nvSpPr>
        <p:spPr>
          <a:xfrm>
            <a:off x="1371600" y="2914650"/>
            <a:ext cx="6400800" cy="1314600"/>
          </a:xfrm>
          <a:prstGeom prst="rect">
            <a:avLst/>
          </a:prstGeom>
          <a:noFill/>
          <a:ln>
            <a:noFill/>
          </a:ln>
        </p:spPr>
        <p:txBody>
          <a:bodyPr spcFirstLastPara="1" wrap="square" lIns="68575" tIns="34275" rIns="68575" bIns="34275" anchor="t" anchorCtr="0">
            <a:normAutofit/>
          </a:bodyPr>
          <a:lstStyle>
            <a:lvl1pPr lvl="0" algn="ctr">
              <a:spcBef>
                <a:spcPts val="400"/>
              </a:spcBef>
              <a:spcAft>
                <a:spcPts val="0"/>
              </a:spcAft>
              <a:buClr>
                <a:srgbClr val="888888"/>
              </a:buClr>
              <a:buSzPts val="1800"/>
              <a:buNone/>
              <a:defRPr>
                <a:solidFill>
                  <a:srgbClr val="888888"/>
                </a:solidFill>
              </a:defRPr>
            </a:lvl1pPr>
            <a:lvl2pPr lvl="1" algn="ctr">
              <a:spcBef>
                <a:spcPts val="400"/>
              </a:spcBef>
              <a:spcAft>
                <a:spcPts val="0"/>
              </a:spcAft>
              <a:buClr>
                <a:srgbClr val="888888"/>
              </a:buClr>
              <a:buSzPts val="18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400"/>
              </a:spcBef>
              <a:spcAft>
                <a:spcPts val="0"/>
              </a:spcAft>
              <a:buClr>
                <a:srgbClr val="888888"/>
              </a:buClr>
              <a:buSzPts val="1800"/>
              <a:buNone/>
              <a:defRPr>
                <a:solidFill>
                  <a:srgbClr val="888888"/>
                </a:solidFill>
              </a:defRPr>
            </a:lvl4pPr>
            <a:lvl5pPr lvl="4" algn="ctr">
              <a:spcBef>
                <a:spcPts val="400"/>
              </a:spcBef>
              <a:spcAft>
                <a:spcPts val="0"/>
              </a:spcAft>
              <a:buClr>
                <a:srgbClr val="888888"/>
              </a:buClr>
              <a:buSzPts val="18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a:endParaRPr/>
          </a:p>
        </p:txBody>
      </p:sp>
      <p:sp>
        <p:nvSpPr>
          <p:cNvPr id="61" name="Google Shape;61;p14"/>
          <p:cNvSpPr txBox="1">
            <a:spLocks noGrp="1"/>
          </p:cNvSpPr>
          <p:nvPr>
            <p:ph type="dt" idx="10"/>
          </p:nvPr>
        </p:nvSpPr>
        <p:spPr>
          <a:xfrm>
            <a:off x="457200" y="4857751"/>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Google Shape;62;p14"/>
          <p:cNvSpPr txBox="1">
            <a:spLocks noGrp="1"/>
          </p:cNvSpPr>
          <p:nvPr>
            <p:ph type="ftr" idx="11"/>
          </p:nvPr>
        </p:nvSpPr>
        <p:spPr>
          <a:xfrm>
            <a:off x="3124200" y="4857751"/>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Google Shape;63;p14"/>
          <p:cNvSpPr txBox="1">
            <a:spLocks noGrp="1"/>
          </p:cNvSpPr>
          <p:nvPr>
            <p:ph type="sldNum" idx="12"/>
          </p:nvPr>
        </p:nvSpPr>
        <p:spPr>
          <a:xfrm>
            <a:off x="6553200" y="4857751"/>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04800" y="57150"/>
            <a:ext cx="8610600" cy="5145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2400"/>
              <a:buFont typeface="Century"/>
              <a:buNone/>
              <a:defRPr sz="2400">
                <a:latin typeface="Century"/>
                <a:ea typeface="Century"/>
                <a:cs typeface="Century"/>
                <a:sym typeface="Century"/>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5"/>
          <p:cNvSpPr txBox="1">
            <a:spLocks noGrp="1"/>
          </p:cNvSpPr>
          <p:nvPr>
            <p:ph type="body" idx="1"/>
          </p:nvPr>
        </p:nvSpPr>
        <p:spPr>
          <a:xfrm>
            <a:off x="304800" y="685800"/>
            <a:ext cx="8610600" cy="4114800"/>
          </a:xfrm>
          <a:prstGeom prst="rect">
            <a:avLst/>
          </a:prstGeom>
          <a:noFill/>
          <a:ln>
            <a:noFill/>
          </a:ln>
        </p:spPr>
        <p:txBody>
          <a:bodyPr spcFirstLastPara="1" wrap="square" lIns="68575" tIns="34275" rIns="68575" bIns="34275" anchor="t" anchorCtr="0">
            <a:normAutofit/>
          </a:bodyPr>
          <a:lstStyle>
            <a:lvl1pPr marL="457200" lvl="0" indent="-342900" algn="l">
              <a:spcBef>
                <a:spcPts val="400"/>
              </a:spcBef>
              <a:spcAft>
                <a:spcPts val="0"/>
              </a:spcAft>
              <a:buClr>
                <a:schemeClr val="dk1"/>
              </a:buClr>
              <a:buSzPts val="1800"/>
              <a:buChar char="•"/>
              <a:defRPr>
                <a:latin typeface="Century"/>
                <a:ea typeface="Century"/>
                <a:cs typeface="Century"/>
                <a:sym typeface="Century"/>
              </a:defRPr>
            </a:lvl1pPr>
            <a:lvl2pPr marL="914400" lvl="1" indent="-342900" algn="l">
              <a:spcBef>
                <a:spcPts val="400"/>
              </a:spcBef>
              <a:spcAft>
                <a:spcPts val="0"/>
              </a:spcAft>
              <a:buClr>
                <a:schemeClr val="dk1"/>
              </a:buClr>
              <a:buSzPts val="1800"/>
              <a:buChar char="–"/>
              <a:defRPr>
                <a:latin typeface="Century"/>
                <a:ea typeface="Century"/>
                <a:cs typeface="Century"/>
                <a:sym typeface="Century"/>
              </a:defRPr>
            </a:lvl2pPr>
            <a:lvl3pPr marL="1371600" lvl="2" indent="-342900" algn="l">
              <a:spcBef>
                <a:spcPts val="400"/>
              </a:spcBef>
              <a:spcAft>
                <a:spcPts val="0"/>
              </a:spcAft>
              <a:buClr>
                <a:schemeClr val="dk1"/>
              </a:buClr>
              <a:buSzPts val="1800"/>
              <a:buChar char="•"/>
              <a:defRPr>
                <a:latin typeface="Century"/>
                <a:ea typeface="Century"/>
                <a:cs typeface="Century"/>
                <a:sym typeface="Century"/>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67" name="Google Shape;67;p15"/>
          <p:cNvSpPr txBox="1">
            <a:spLocks noGrp="1"/>
          </p:cNvSpPr>
          <p:nvPr>
            <p:ph type="dt" idx="10"/>
          </p:nvPr>
        </p:nvSpPr>
        <p:spPr>
          <a:xfrm>
            <a:off x="457200" y="4857751"/>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atin typeface="Century"/>
                <a:ea typeface="Century"/>
                <a:cs typeface="Century"/>
                <a:sym typeface="Century"/>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Google Shape;68;p15"/>
          <p:cNvSpPr txBox="1">
            <a:spLocks noGrp="1"/>
          </p:cNvSpPr>
          <p:nvPr>
            <p:ph type="ftr" idx="11"/>
          </p:nvPr>
        </p:nvSpPr>
        <p:spPr>
          <a:xfrm>
            <a:off x="3124200" y="4857751"/>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atin typeface="Century"/>
                <a:ea typeface="Century"/>
                <a:cs typeface="Century"/>
                <a:sym typeface="Century"/>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Google Shape;69;p15"/>
          <p:cNvSpPr txBox="1">
            <a:spLocks noGrp="1"/>
          </p:cNvSpPr>
          <p:nvPr>
            <p:ph type="sldNum" idx="12"/>
          </p:nvPr>
        </p:nvSpPr>
        <p:spPr>
          <a:xfrm>
            <a:off x="6553200" y="4857751"/>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sz="900" b="0" i="0" u="none" strike="noStrike" cap="none">
                <a:solidFill>
                  <a:schemeClr val="dk1"/>
                </a:solidFill>
                <a:latin typeface="Century"/>
                <a:ea typeface="Century"/>
                <a:cs typeface="Century"/>
                <a:sym typeface="Century"/>
              </a:defRPr>
            </a:lvl1pPr>
            <a:lvl2pPr marL="0" lvl="1" indent="0" algn="r">
              <a:spcBef>
                <a:spcPts val="0"/>
              </a:spcBef>
              <a:buNone/>
              <a:defRPr sz="900" b="0" i="0" u="none" strike="noStrike" cap="none">
                <a:solidFill>
                  <a:schemeClr val="dk1"/>
                </a:solidFill>
                <a:latin typeface="Century"/>
                <a:ea typeface="Century"/>
                <a:cs typeface="Century"/>
                <a:sym typeface="Century"/>
              </a:defRPr>
            </a:lvl2pPr>
            <a:lvl3pPr marL="0" lvl="2" indent="0" algn="r">
              <a:spcBef>
                <a:spcPts val="0"/>
              </a:spcBef>
              <a:buNone/>
              <a:defRPr sz="900" b="0" i="0" u="none" strike="noStrike" cap="none">
                <a:solidFill>
                  <a:schemeClr val="dk1"/>
                </a:solidFill>
                <a:latin typeface="Century"/>
                <a:ea typeface="Century"/>
                <a:cs typeface="Century"/>
                <a:sym typeface="Century"/>
              </a:defRPr>
            </a:lvl3pPr>
            <a:lvl4pPr marL="0" lvl="3" indent="0" algn="r">
              <a:spcBef>
                <a:spcPts val="0"/>
              </a:spcBef>
              <a:buNone/>
              <a:defRPr sz="900" b="0" i="0" u="none" strike="noStrike" cap="none">
                <a:solidFill>
                  <a:schemeClr val="dk1"/>
                </a:solidFill>
                <a:latin typeface="Century"/>
                <a:ea typeface="Century"/>
                <a:cs typeface="Century"/>
                <a:sym typeface="Century"/>
              </a:defRPr>
            </a:lvl4pPr>
            <a:lvl5pPr marL="0" lvl="4" indent="0" algn="r">
              <a:spcBef>
                <a:spcPts val="0"/>
              </a:spcBef>
              <a:buNone/>
              <a:defRPr sz="900" b="0" i="0" u="none" strike="noStrike" cap="none">
                <a:solidFill>
                  <a:schemeClr val="dk1"/>
                </a:solidFill>
                <a:latin typeface="Century"/>
                <a:ea typeface="Century"/>
                <a:cs typeface="Century"/>
                <a:sym typeface="Century"/>
              </a:defRPr>
            </a:lvl5pPr>
            <a:lvl6pPr marL="0" lvl="5" indent="0" algn="r">
              <a:spcBef>
                <a:spcPts val="0"/>
              </a:spcBef>
              <a:buNone/>
              <a:defRPr sz="900" b="0" i="0" u="none" strike="noStrike" cap="none">
                <a:solidFill>
                  <a:schemeClr val="dk1"/>
                </a:solidFill>
                <a:latin typeface="Century"/>
                <a:ea typeface="Century"/>
                <a:cs typeface="Century"/>
                <a:sym typeface="Century"/>
              </a:defRPr>
            </a:lvl6pPr>
            <a:lvl7pPr marL="0" lvl="6" indent="0" algn="r">
              <a:spcBef>
                <a:spcPts val="0"/>
              </a:spcBef>
              <a:buNone/>
              <a:defRPr sz="900" b="0" i="0" u="none" strike="noStrike" cap="none">
                <a:solidFill>
                  <a:schemeClr val="dk1"/>
                </a:solidFill>
                <a:latin typeface="Century"/>
                <a:ea typeface="Century"/>
                <a:cs typeface="Century"/>
                <a:sym typeface="Century"/>
              </a:defRPr>
            </a:lvl7pPr>
            <a:lvl8pPr marL="0" lvl="7" indent="0" algn="r">
              <a:spcBef>
                <a:spcPts val="0"/>
              </a:spcBef>
              <a:buNone/>
              <a:defRPr sz="900" b="0" i="0" u="none" strike="noStrike" cap="none">
                <a:solidFill>
                  <a:schemeClr val="dk1"/>
                </a:solidFill>
                <a:latin typeface="Century"/>
                <a:ea typeface="Century"/>
                <a:cs typeface="Century"/>
                <a:sym typeface="Century"/>
              </a:defRPr>
            </a:lvl8pPr>
            <a:lvl9pPr marL="0" lvl="8" indent="0" algn="r">
              <a:spcBef>
                <a:spcPts val="0"/>
              </a:spcBef>
              <a:buNone/>
              <a:defRPr sz="900" b="0" i="0" u="none" strike="noStrike" cap="none">
                <a:solidFill>
                  <a:schemeClr val="dk1"/>
                </a:solidFill>
                <a:latin typeface="Century"/>
                <a:ea typeface="Century"/>
                <a:cs typeface="Century"/>
                <a:sym typeface="Century"/>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722313" y="3305176"/>
            <a:ext cx="7772400" cy="1021500"/>
          </a:xfrm>
          <a:prstGeom prst="rect">
            <a:avLst/>
          </a:prstGeom>
          <a:noFill/>
          <a:ln>
            <a:noFill/>
          </a:ln>
        </p:spPr>
        <p:txBody>
          <a:bodyPr spcFirstLastPara="1" wrap="square" lIns="68575" tIns="34275" rIns="68575" bIns="34275" anchor="t" anchorCtr="0">
            <a:normAutofit/>
          </a:bodyPr>
          <a:lstStyle>
            <a:lvl1pPr lvl="0" algn="l">
              <a:spcBef>
                <a:spcPts val="0"/>
              </a:spcBef>
              <a:spcAft>
                <a:spcPts val="0"/>
              </a:spcAft>
              <a:buClr>
                <a:schemeClr val="dk1"/>
              </a:buClr>
              <a:buSzPts val="3000"/>
              <a:buFont typeface="Calibri"/>
              <a:buNone/>
              <a:defRPr sz="3000" b="1"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2" name="Google Shape;72;p16"/>
          <p:cNvSpPr txBox="1">
            <a:spLocks noGrp="1"/>
          </p:cNvSpPr>
          <p:nvPr>
            <p:ph type="body" idx="1"/>
          </p:nvPr>
        </p:nvSpPr>
        <p:spPr>
          <a:xfrm>
            <a:off x="722313" y="2180035"/>
            <a:ext cx="7772400" cy="1125000"/>
          </a:xfrm>
          <a:prstGeom prst="rect">
            <a:avLst/>
          </a:prstGeom>
          <a:noFill/>
          <a:ln>
            <a:noFill/>
          </a:ln>
        </p:spPr>
        <p:txBody>
          <a:bodyPr spcFirstLastPara="1" wrap="square" lIns="68575" tIns="34275" rIns="68575" bIns="34275" anchor="b" anchorCtr="0">
            <a:normAutofit/>
          </a:bodyPr>
          <a:lstStyle>
            <a:lvl1pPr marL="457200" lvl="0" indent="-228600" algn="l">
              <a:spcBef>
                <a:spcPts val="300"/>
              </a:spcBef>
              <a:spcAft>
                <a:spcPts val="0"/>
              </a:spcAft>
              <a:buClr>
                <a:srgbClr val="888888"/>
              </a:buClr>
              <a:buSzPts val="1500"/>
              <a:buNone/>
              <a:defRPr sz="1500">
                <a:solidFill>
                  <a:srgbClr val="888888"/>
                </a:solidFill>
              </a:defRPr>
            </a:lvl1pPr>
            <a:lvl2pPr marL="914400" lvl="1" indent="-228600" algn="l">
              <a:spcBef>
                <a:spcPts val="300"/>
              </a:spcBef>
              <a:spcAft>
                <a:spcPts val="0"/>
              </a:spcAft>
              <a:buClr>
                <a:srgbClr val="888888"/>
              </a:buClr>
              <a:buSzPts val="1400"/>
              <a:buNone/>
              <a:defRPr sz="1400">
                <a:solidFill>
                  <a:srgbClr val="888888"/>
                </a:solidFill>
              </a:defRPr>
            </a:lvl2pPr>
            <a:lvl3pPr marL="1371600" lvl="2" indent="-228600" algn="l">
              <a:spcBef>
                <a:spcPts val="200"/>
              </a:spcBef>
              <a:spcAft>
                <a:spcPts val="0"/>
              </a:spcAft>
              <a:buClr>
                <a:srgbClr val="888888"/>
              </a:buClr>
              <a:buSzPts val="1200"/>
              <a:buNone/>
              <a:defRPr sz="1200">
                <a:solidFill>
                  <a:srgbClr val="888888"/>
                </a:solidFill>
              </a:defRPr>
            </a:lvl3pPr>
            <a:lvl4pPr marL="1828800" lvl="3" indent="-228600" algn="l">
              <a:spcBef>
                <a:spcPts val="200"/>
              </a:spcBef>
              <a:spcAft>
                <a:spcPts val="0"/>
              </a:spcAft>
              <a:buClr>
                <a:srgbClr val="888888"/>
              </a:buClr>
              <a:buSzPts val="1100"/>
              <a:buNone/>
              <a:defRPr sz="1100">
                <a:solidFill>
                  <a:srgbClr val="888888"/>
                </a:solidFill>
              </a:defRPr>
            </a:lvl4pPr>
            <a:lvl5pPr marL="2286000" lvl="4" indent="-228600" algn="l">
              <a:spcBef>
                <a:spcPts val="200"/>
              </a:spcBef>
              <a:spcAft>
                <a:spcPts val="0"/>
              </a:spcAft>
              <a:buClr>
                <a:srgbClr val="888888"/>
              </a:buClr>
              <a:buSzPts val="1100"/>
              <a:buNone/>
              <a:defRPr sz="1100">
                <a:solidFill>
                  <a:srgbClr val="888888"/>
                </a:solidFill>
              </a:defRPr>
            </a:lvl5pPr>
            <a:lvl6pPr marL="2743200" lvl="5" indent="-228600" algn="l">
              <a:spcBef>
                <a:spcPts val="200"/>
              </a:spcBef>
              <a:spcAft>
                <a:spcPts val="0"/>
              </a:spcAft>
              <a:buClr>
                <a:srgbClr val="888888"/>
              </a:buClr>
              <a:buSzPts val="1100"/>
              <a:buNone/>
              <a:defRPr sz="1100">
                <a:solidFill>
                  <a:srgbClr val="888888"/>
                </a:solidFill>
              </a:defRPr>
            </a:lvl6pPr>
            <a:lvl7pPr marL="3200400" lvl="6" indent="-228600" algn="l">
              <a:spcBef>
                <a:spcPts val="200"/>
              </a:spcBef>
              <a:spcAft>
                <a:spcPts val="0"/>
              </a:spcAft>
              <a:buClr>
                <a:srgbClr val="888888"/>
              </a:buClr>
              <a:buSzPts val="1100"/>
              <a:buNone/>
              <a:defRPr sz="1100">
                <a:solidFill>
                  <a:srgbClr val="888888"/>
                </a:solidFill>
              </a:defRPr>
            </a:lvl7pPr>
            <a:lvl8pPr marL="3657600" lvl="7" indent="-228600" algn="l">
              <a:spcBef>
                <a:spcPts val="200"/>
              </a:spcBef>
              <a:spcAft>
                <a:spcPts val="0"/>
              </a:spcAft>
              <a:buClr>
                <a:srgbClr val="888888"/>
              </a:buClr>
              <a:buSzPts val="1100"/>
              <a:buNone/>
              <a:defRPr sz="1100">
                <a:solidFill>
                  <a:srgbClr val="888888"/>
                </a:solidFill>
              </a:defRPr>
            </a:lvl8pPr>
            <a:lvl9pPr marL="4114800" lvl="8" indent="-228600" algn="l">
              <a:spcBef>
                <a:spcPts val="200"/>
              </a:spcBef>
              <a:spcAft>
                <a:spcPts val="0"/>
              </a:spcAft>
              <a:buClr>
                <a:srgbClr val="888888"/>
              </a:buClr>
              <a:buSzPts val="1100"/>
              <a:buNone/>
              <a:defRPr sz="1100">
                <a:solidFill>
                  <a:srgbClr val="888888"/>
                </a:solidFill>
              </a:defRPr>
            </a:lvl9pPr>
          </a:lstStyle>
          <a:p>
            <a:endParaRPr/>
          </a:p>
        </p:txBody>
      </p:sp>
      <p:sp>
        <p:nvSpPr>
          <p:cNvPr id="73" name="Google Shape;73;p16"/>
          <p:cNvSpPr txBox="1">
            <a:spLocks noGrp="1"/>
          </p:cNvSpPr>
          <p:nvPr>
            <p:ph type="dt" idx="10"/>
          </p:nvPr>
        </p:nvSpPr>
        <p:spPr>
          <a:xfrm>
            <a:off x="457200" y="4857751"/>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4" name="Google Shape;74;p16"/>
          <p:cNvSpPr txBox="1">
            <a:spLocks noGrp="1"/>
          </p:cNvSpPr>
          <p:nvPr>
            <p:ph type="ftr" idx="11"/>
          </p:nvPr>
        </p:nvSpPr>
        <p:spPr>
          <a:xfrm>
            <a:off x="3124200" y="4857751"/>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5" name="Google Shape;75;p16"/>
          <p:cNvSpPr txBox="1">
            <a:spLocks noGrp="1"/>
          </p:cNvSpPr>
          <p:nvPr>
            <p:ph type="sldNum" idx="12"/>
          </p:nvPr>
        </p:nvSpPr>
        <p:spPr>
          <a:xfrm>
            <a:off x="6553200" y="4857751"/>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6"/>
        <p:cNvGrpSpPr/>
        <p:nvPr/>
      </p:nvGrpSpPr>
      <p:grpSpPr>
        <a:xfrm>
          <a:off x="0" y="0"/>
          <a:ext cx="0" cy="0"/>
          <a:chOff x="0" y="0"/>
          <a:chExt cx="0" cy="0"/>
        </a:xfrm>
      </p:grpSpPr>
      <p:sp>
        <p:nvSpPr>
          <p:cNvPr id="77" name="Google Shape;77;p17"/>
          <p:cNvSpPr txBox="1">
            <a:spLocks noGrp="1"/>
          </p:cNvSpPr>
          <p:nvPr>
            <p:ph type="title"/>
          </p:nvPr>
        </p:nvSpPr>
        <p:spPr>
          <a:xfrm>
            <a:off x="304800" y="57150"/>
            <a:ext cx="8001000" cy="5145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8" name="Google Shape;78;p17"/>
          <p:cNvSpPr txBox="1">
            <a:spLocks noGrp="1"/>
          </p:cNvSpPr>
          <p:nvPr>
            <p:ph type="body" idx="1"/>
          </p:nvPr>
        </p:nvSpPr>
        <p:spPr>
          <a:xfrm>
            <a:off x="457200" y="1200151"/>
            <a:ext cx="4038600" cy="3394500"/>
          </a:xfrm>
          <a:prstGeom prst="rect">
            <a:avLst/>
          </a:prstGeom>
          <a:noFill/>
          <a:ln>
            <a:noFill/>
          </a:ln>
        </p:spPr>
        <p:txBody>
          <a:bodyPr spcFirstLastPara="1" wrap="square" lIns="68575" tIns="34275" rIns="68575" bIns="34275" anchor="t" anchorCtr="0">
            <a:normAutofit/>
          </a:bodyPr>
          <a:lstStyle>
            <a:lvl1pPr marL="457200" lvl="0" indent="-361950" algn="l">
              <a:spcBef>
                <a:spcPts val="400"/>
              </a:spcBef>
              <a:spcAft>
                <a:spcPts val="0"/>
              </a:spcAft>
              <a:buClr>
                <a:schemeClr val="dk1"/>
              </a:buClr>
              <a:buSzPts val="2100"/>
              <a:buChar char="•"/>
              <a:defRPr sz="2100"/>
            </a:lvl1pPr>
            <a:lvl2pPr marL="914400" lvl="1" indent="-342900" algn="l">
              <a:spcBef>
                <a:spcPts val="40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7500" algn="l">
              <a:spcBef>
                <a:spcPts val="300"/>
              </a:spcBef>
              <a:spcAft>
                <a:spcPts val="0"/>
              </a:spcAft>
              <a:buClr>
                <a:schemeClr val="dk1"/>
              </a:buClr>
              <a:buSzPts val="1400"/>
              <a:buChar char="–"/>
              <a:defRPr sz="1400"/>
            </a:lvl4pPr>
            <a:lvl5pPr marL="2286000" lvl="4" indent="-317500" algn="l">
              <a:spcBef>
                <a:spcPts val="300"/>
              </a:spcBef>
              <a:spcAft>
                <a:spcPts val="0"/>
              </a:spcAft>
              <a:buClr>
                <a:schemeClr val="dk1"/>
              </a:buClr>
              <a:buSzPts val="1400"/>
              <a:buChar char="»"/>
              <a:defRPr sz="1400"/>
            </a:lvl5pPr>
            <a:lvl6pPr marL="2743200" lvl="5" indent="-317500" algn="l">
              <a:spcBef>
                <a:spcPts val="300"/>
              </a:spcBef>
              <a:spcAft>
                <a:spcPts val="0"/>
              </a:spcAft>
              <a:buClr>
                <a:schemeClr val="dk1"/>
              </a:buClr>
              <a:buSzPts val="1400"/>
              <a:buChar char="•"/>
              <a:defRPr sz="1400"/>
            </a:lvl6pPr>
            <a:lvl7pPr marL="3200400" lvl="6" indent="-317500" algn="l">
              <a:spcBef>
                <a:spcPts val="300"/>
              </a:spcBef>
              <a:spcAft>
                <a:spcPts val="0"/>
              </a:spcAft>
              <a:buClr>
                <a:schemeClr val="dk1"/>
              </a:buClr>
              <a:buSzPts val="1400"/>
              <a:buChar char="•"/>
              <a:defRPr sz="1400"/>
            </a:lvl7pPr>
            <a:lvl8pPr marL="3657600" lvl="7" indent="-317500" algn="l">
              <a:spcBef>
                <a:spcPts val="300"/>
              </a:spcBef>
              <a:spcAft>
                <a:spcPts val="0"/>
              </a:spcAft>
              <a:buClr>
                <a:schemeClr val="dk1"/>
              </a:buClr>
              <a:buSzPts val="1400"/>
              <a:buChar char="•"/>
              <a:defRPr sz="1400"/>
            </a:lvl8pPr>
            <a:lvl9pPr marL="4114800" lvl="8" indent="-317500" algn="l">
              <a:spcBef>
                <a:spcPts val="300"/>
              </a:spcBef>
              <a:spcAft>
                <a:spcPts val="0"/>
              </a:spcAft>
              <a:buClr>
                <a:schemeClr val="dk1"/>
              </a:buClr>
              <a:buSzPts val="1400"/>
              <a:buChar char="•"/>
              <a:defRPr sz="1400"/>
            </a:lvl9pPr>
          </a:lstStyle>
          <a:p>
            <a:endParaRPr/>
          </a:p>
        </p:txBody>
      </p:sp>
      <p:sp>
        <p:nvSpPr>
          <p:cNvPr id="79" name="Google Shape;79;p17"/>
          <p:cNvSpPr txBox="1">
            <a:spLocks noGrp="1"/>
          </p:cNvSpPr>
          <p:nvPr>
            <p:ph type="body" idx="2"/>
          </p:nvPr>
        </p:nvSpPr>
        <p:spPr>
          <a:xfrm>
            <a:off x="4648200" y="1200151"/>
            <a:ext cx="4038600" cy="3394500"/>
          </a:xfrm>
          <a:prstGeom prst="rect">
            <a:avLst/>
          </a:prstGeom>
          <a:noFill/>
          <a:ln>
            <a:noFill/>
          </a:ln>
        </p:spPr>
        <p:txBody>
          <a:bodyPr spcFirstLastPara="1" wrap="square" lIns="68575" tIns="34275" rIns="68575" bIns="34275" anchor="t" anchorCtr="0">
            <a:normAutofit/>
          </a:bodyPr>
          <a:lstStyle>
            <a:lvl1pPr marL="457200" lvl="0" indent="-361950" algn="l">
              <a:spcBef>
                <a:spcPts val="400"/>
              </a:spcBef>
              <a:spcAft>
                <a:spcPts val="0"/>
              </a:spcAft>
              <a:buClr>
                <a:schemeClr val="dk1"/>
              </a:buClr>
              <a:buSzPts val="2100"/>
              <a:buChar char="•"/>
              <a:defRPr sz="2100"/>
            </a:lvl1pPr>
            <a:lvl2pPr marL="914400" lvl="1" indent="-342900" algn="l">
              <a:spcBef>
                <a:spcPts val="400"/>
              </a:spcBef>
              <a:spcAft>
                <a:spcPts val="0"/>
              </a:spcAft>
              <a:buClr>
                <a:schemeClr val="dk1"/>
              </a:buClr>
              <a:buSzPts val="1800"/>
              <a:buChar char="–"/>
              <a:defRPr sz="1800"/>
            </a:lvl2pPr>
            <a:lvl3pPr marL="1371600" lvl="2" indent="-323850" algn="l">
              <a:spcBef>
                <a:spcPts val="300"/>
              </a:spcBef>
              <a:spcAft>
                <a:spcPts val="0"/>
              </a:spcAft>
              <a:buClr>
                <a:schemeClr val="dk1"/>
              </a:buClr>
              <a:buSzPts val="1500"/>
              <a:buChar char="•"/>
              <a:defRPr sz="1500"/>
            </a:lvl3pPr>
            <a:lvl4pPr marL="1828800" lvl="3" indent="-317500" algn="l">
              <a:spcBef>
                <a:spcPts val="300"/>
              </a:spcBef>
              <a:spcAft>
                <a:spcPts val="0"/>
              </a:spcAft>
              <a:buClr>
                <a:schemeClr val="dk1"/>
              </a:buClr>
              <a:buSzPts val="1400"/>
              <a:buChar char="–"/>
              <a:defRPr sz="1400"/>
            </a:lvl4pPr>
            <a:lvl5pPr marL="2286000" lvl="4" indent="-317500" algn="l">
              <a:spcBef>
                <a:spcPts val="300"/>
              </a:spcBef>
              <a:spcAft>
                <a:spcPts val="0"/>
              </a:spcAft>
              <a:buClr>
                <a:schemeClr val="dk1"/>
              </a:buClr>
              <a:buSzPts val="1400"/>
              <a:buChar char="»"/>
              <a:defRPr sz="1400"/>
            </a:lvl5pPr>
            <a:lvl6pPr marL="2743200" lvl="5" indent="-317500" algn="l">
              <a:spcBef>
                <a:spcPts val="300"/>
              </a:spcBef>
              <a:spcAft>
                <a:spcPts val="0"/>
              </a:spcAft>
              <a:buClr>
                <a:schemeClr val="dk1"/>
              </a:buClr>
              <a:buSzPts val="1400"/>
              <a:buChar char="•"/>
              <a:defRPr sz="1400"/>
            </a:lvl6pPr>
            <a:lvl7pPr marL="3200400" lvl="6" indent="-317500" algn="l">
              <a:spcBef>
                <a:spcPts val="300"/>
              </a:spcBef>
              <a:spcAft>
                <a:spcPts val="0"/>
              </a:spcAft>
              <a:buClr>
                <a:schemeClr val="dk1"/>
              </a:buClr>
              <a:buSzPts val="1400"/>
              <a:buChar char="•"/>
              <a:defRPr sz="1400"/>
            </a:lvl7pPr>
            <a:lvl8pPr marL="3657600" lvl="7" indent="-317500" algn="l">
              <a:spcBef>
                <a:spcPts val="300"/>
              </a:spcBef>
              <a:spcAft>
                <a:spcPts val="0"/>
              </a:spcAft>
              <a:buClr>
                <a:schemeClr val="dk1"/>
              </a:buClr>
              <a:buSzPts val="1400"/>
              <a:buChar char="•"/>
              <a:defRPr sz="1400"/>
            </a:lvl8pPr>
            <a:lvl9pPr marL="4114800" lvl="8" indent="-317500" algn="l">
              <a:spcBef>
                <a:spcPts val="300"/>
              </a:spcBef>
              <a:spcAft>
                <a:spcPts val="0"/>
              </a:spcAft>
              <a:buClr>
                <a:schemeClr val="dk1"/>
              </a:buClr>
              <a:buSzPts val="1400"/>
              <a:buChar char="•"/>
              <a:defRPr sz="1400"/>
            </a:lvl9pPr>
          </a:lstStyle>
          <a:p>
            <a:endParaRPr/>
          </a:p>
        </p:txBody>
      </p:sp>
      <p:sp>
        <p:nvSpPr>
          <p:cNvPr id="80" name="Google Shape;80;p17"/>
          <p:cNvSpPr txBox="1">
            <a:spLocks noGrp="1"/>
          </p:cNvSpPr>
          <p:nvPr>
            <p:ph type="dt" idx="10"/>
          </p:nvPr>
        </p:nvSpPr>
        <p:spPr>
          <a:xfrm>
            <a:off x="457200" y="4857751"/>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1" name="Google Shape;81;p17"/>
          <p:cNvSpPr txBox="1">
            <a:spLocks noGrp="1"/>
          </p:cNvSpPr>
          <p:nvPr>
            <p:ph type="ftr" idx="11"/>
          </p:nvPr>
        </p:nvSpPr>
        <p:spPr>
          <a:xfrm>
            <a:off x="3124200" y="4857751"/>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2" name="Google Shape;82;p17"/>
          <p:cNvSpPr txBox="1">
            <a:spLocks noGrp="1"/>
          </p:cNvSpPr>
          <p:nvPr>
            <p:ph type="sldNum" idx="12"/>
          </p:nvPr>
        </p:nvSpPr>
        <p:spPr>
          <a:xfrm>
            <a:off x="6553200" y="4857751"/>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04800" y="57150"/>
            <a:ext cx="8001000" cy="5145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27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5" name="Google Shape;85;p18"/>
          <p:cNvSpPr txBox="1">
            <a:spLocks noGrp="1"/>
          </p:cNvSpPr>
          <p:nvPr>
            <p:ph type="body" idx="1"/>
          </p:nvPr>
        </p:nvSpPr>
        <p:spPr>
          <a:xfrm>
            <a:off x="457200" y="1151335"/>
            <a:ext cx="4040100" cy="479700"/>
          </a:xfrm>
          <a:prstGeom prst="rect">
            <a:avLst/>
          </a:prstGeom>
          <a:noFill/>
          <a:ln>
            <a:noFill/>
          </a:ln>
        </p:spPr>
        <p:txBody>
          <a:bodyPr spcFirstLastPara="1" wrap="square" lIns="68575" tIns="34275" rIns="68575" bIns="34275" anchor="b" anchorCtr="0">
            <a:normAutofit/>
          </a:bodyPr>
          <a:lstStyle>
            <a:lvl1pPr marL="457200" lvl="0" indent="-228600" algn="l">
              <a:spcBef>
                <a:spcPts val="40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300"/>
              </a:spcBef>
              <a:spcAft>
                <a:spcPts val="0"/>
              </a:spcAft>
              <a:buClr>
                <a:schemeClr val="dk1"/>
              </a:buClr>
              <a:buSzPts val="1400"/>
              <a:buNone/>
              <a:defRPr sz="1400" b="1"/>
            </a:lvl3pPr>
            <a:lvl4pPr marL="1828800" lvl="3" indent="-228600" algn="l">
              <a:spcBef>
                <a:spcPts val="200"/>
              </a:spcBef>
              <a:spcAft>
                <a:spcPts val="0"/>
              </a:spcAft>
              <a:buClr>
                <a:schemeClr val="dk1"/>
              </a:buClr>
              <a:buSzPts val="1200"/>
              <a:buNone/>
              <a:defRPr sz="1200" b="1"/>
            </a:lvl4pPr>
            <a:lvl5pPr marL="2286000" lvl="4" indent="-228600" algn="l">
              <a:spcBef>
                <a:spcPts val="2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86" name="Google Shape;86;p18"/>
          <p:cNvSpPr txBox="1">
            <a:spLocks noGrp="1"/>
          </p:cNvSpPr>
          <p:nvPr>
            <p:ph type="body" idx="2"/>
          </p:nvPr>
        </p:nvSpPr>
        <p:spPr>
          <a:xfrm>
            <a:off x="457200" y="1631156"/>
            <a:ext cx="4040100" cy="2963400"/>
          </a:xfrm>
          <a:prstGeom prst="rect">
            <a:avLst/>
          </a:prstGeom>
          <a:noFill/>
          <a:ln>
            <a:noFill/>
          </a:ln>
        </p:spPr>
        <p:txBody>
          <a:bodyPr spcFirstLastPara="1" wrap="square" lIns="68575" tIns="34275" rIns="68575" bIns="34275" anchor="t" anchorCtr="0">
            <a:normAutofit/>
          </a:bodyPr>
          <a:lstStyle>
            <a:lvl1pPr marL="457200" lvl="0" indent="-342900" algn="l">
              <a:spcBef>
                <a:spcPts val="40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7500" algn="l">
              <a:spcBef>
                <a:spcPts val="300"/>
              </a:spcBef>
              <a:spcAft>
                <a:spcPts val="0"/>
              </a:spcAft>
              <a:buClr>
                <a:schemeClr val="dk1"/>
              </a:buClr>
              <a:buSzPts val="1400"/>
              <a:buChar char="•"/>
              <a:defRPr sz="1400"/>
            </a:lvl3pPr>
            <a:lvl4pPr marL="1828800" lvl="3" indent="-304800" algn="l">
              <a:spcBef>
                <a:spcPts val="200"/>
              </a:spcBef>
              <a:spcAft>
                <a:spcPts val="0"/>
              </a:spcAft>
              <a:buClr>
                <a:schemeClr val="dk1"/>
              </a:buClr>
              <a:buSzPts val="1200"/>
              <a:buChar char="–"/>
              <a:defRPr sz="1200"/>
            </a:lvl4pPr>
            <a:lvl5pPr marL="2286000" lvl="4" indent="-304800" algn="l">
              <a:spcBef>
                <a:spcPts val="200"/>
              </a:spcBef>
              <a:spcAft>
                <a:spcPts val="0"/>
              </a:spcAft>
              <a:buClr>
                <a:schemeClr val="dk1"/>
              </a:buClr>
              <a:buSzPts val="1200"/>
              <a:buChar char="»"/>
              <a:defRPr sz="1200"/>
            </a:lvl5pPr>
            <a:lvl6pPr marL="2743200" lvl="5" indent="-304800" algn="l">
              <a:spcBef>
                <a:spcPts val="200"/>
              </a:spcBef>
              <a:spcAft>
                <a:spcPts val="0"/>
              </a:spcAft>
              <a:buClr>
                <a:schemeClr val="dk1"/>
              </a:buClr>
              <a:buSzPts val="1200"/>
              <a:buChar char="•"/>
              <a:defRPr sz="1200"/>
            </a:lvl6pPr>
            <a:lvl7pPr marL="3200400" lvl="6" indent="-304800" algn="l">
              <a:spcBef>
                <a:spcPts val="200"/>
              </a:spcBef>
              <a:spcAft>
                <a:spcPts val="0"/>
              </a:spcAft>
              <a:buClr>
                <a:schemeClr val="dk1"/>
              </a:buClr>
              <a:buSzPts val="1200"/>
              <a:buChar char="•"/>
              <a:defRPr sz="1200"/>
            </a:lvl7pPr>
            <a:lvl8pPr marL="3657600" lvl="7" indent="-304800" algn="l">
              <a:spcBef>
                <a:spcPts val="200"/>
              </a:spcBef>
              <a:spcAft>
                <a:spcPts val="0"/>
              </a:spcAft>
              <a:buClr>
                <a:schemeClr val="dk1"/>
              </a:buClr>
              <a:buSzPts val="1200"/>
              <a:buChar char="•"/>
              <a:defRPr sz="1200"/>
            </a:lvl8pPr>
            <a:lvl9pPr marL="4114800" lvl="8" indent="-304800" algn="l">
              <a:spcBef>
                <a:spcPts val="200"/>
              </a:spcBef>
              <a:spcAft>
                <a:spcPts val="0"/>
              </a:spcAft>
              <a:buClr>
                <a:schemeClr val="dk1"/>
              </a:buClr>
              <a:buSzPts val="1200"/>
              <a:buChar char="•"/>
              <a:defRPr sz="1200"/>
            </a:lvl9pPr>
          </a:lstStyle>
          <a:p>
            <a:endParaRPr/>
          </a:p>
        </p:txBody>
      </p:sp>
      <p:sp>
        <p:nvSpPr>
          <p:cNvPr id="87" name="Google Shape;87;p18"/>
          <p:cNvSpPr txBox="1">
            <a:spLocks noGrp="1"/>
          </p:cNvSpPr>
          <p:nvPr>
            <p:ph type="body" idx="3"/>
          </p:nvPr>
        </p:nvSpPr>
        <p:spPr>
          <a:xfrm>
            <a:off x="4645026" y="1151335"/>
            <a:ext cx="4041900" cy="479700"/>
          </a:xfrm>
          <a:prstGeom prst="rect">
            <a:avLst/>
          </a:prstGeom>
          <a:noFill/>
          <a:ln>
            <a:noFill/>
          </a:ln>
        </p:spPr>
        <p:txBody>
          <a:bodyPr spcFirstLastPara="1" wrap="square" lIns="68575" tIns="34275" rIns="68575" bIns="34275" anchor="b" anchorCtr="0">
            <a:normAutofit/>
          </a:bodyPr>
          <a:lstStyle>
            <a:lvl1pPr marL="457200" lvl="0" indent="-228600" algn="l">
              <a:spcBef>
                <a:spcPts val="400"/>
              </a:spcBef>
              <a:spcAft>
                <a:spcPts val="0"/>
              </a:spcAft>
              <a:buClr>
                <a:schemeClr val="dk1"/>
              </a:buClr>
              <a:buSzPts val="1800"/>
              <a:buNone/>
              <a:defRPr sz="1800" b="1"/>
            </a:lvl1pPr>
            <a:lvl2pPr marL="914400" lvl="1" indent="-228600" algn="l">
              <a:spcBef>
                <a:spcPts val="300"/>
              </a:spcBef>
              <a:spcAft>
                <a:spcPts val="0"/>
              </a:spcAft>
              <a:buClr>
                <a:schemeClr val="dk1"/>
              </a:buClr>
              <a:buSzPts val="1500"/>
              <a:buNone/>
              <a:defRPr sz="1500" b="1"/>
            </a:lvl2pPr>
            <a:lvl3pPr marL="1371600" lvl="2" indent="-228600" algn="l">
              <a:spcBef>
                <a:spcPts val="300"/>
              </a:spcBef>
              <a:spcAft>
                <a:spcPts val="0"/>
              </a:spcAft>
              <a:buClr>
                <a:schemeClr val="dk1"/>
              </a:buClr>
              <a:buSzPts val="1400"/>
              <a:buNone/>
              <a:defRPr sz="1400" b="1"/>
            </a:lvl3pPr>
            <a:lvl4pPr marL="1828800" lvl="3" indent="-228600" algn="l">
              <a:spcBef>
                <a:spcPts val="200"/>
              </a:spcBef>
              <a:spcAft>
                <a:spcPts val="0"/>
              </a:spcAft>
              <a:buClr>
                <a:schemeClr val="dk1"/>
              </a:buClr>
              <a:buSzPts val="1200"/>
              <a:buNone/>
              <a:defRPr sz="1200" b="1"/>
            </a:lvl4pPr>
            <a:lvl5pPr marL="2286000" lvl="4" indent="-228600" algn="l">
              <a:spcBef>
                <a:spcPts val="200"/>
              </a:spcBef>
              <a:spcAft>
                <a:spcPts val="0"/>
              </a:spcAft>
              <a:buClr>
                <a:schemeClr val="dk1"/>
              </a:buClr>
              <a:buSzPts val="1200"/>
              <a:buNone/>
              <a:defRPr sz="1200" b="1"/>
            </a:lvl5pPr>
            <a:lvl6pPr marL="2743200" lvl="5" indent="-228600" algn="l">
              <a:spcBef>
                <a:spcPts val="200"/>
              </a:spcBef>
              <a:spcAft>
                <a:spcPts val="0"/>
              </a:spcAft>
              <a:buClr>
                <a:schemeClr val="dk1"/>
              </a:buClr>
              <a:buSzPts val="1200"/>
              <a:buNone/>
              <a:defRPr sz="1200" b="1"/>
            </a:lvl6pPr>
            <a:lvl7pPr marL="3200400" lvl="6" indent="-228600" algn="l">
              <a:spcBef>
                <a:spcPts val="200"/>
              </a:spcBef>
              <a:spcAft>
                <a:spcPts val="0"/>
              </a:spcAft>
              <a:buClr>
                <a:schemeClr val="dk1"/>
              </a:buClr>
              <a:buSzPts val="1200"/>
              <a:buNone/>
              <a:defRPr sz="1200" b="1"/>
            </a:lvl7pPr>
            <a:lvl8pPr marL="3657600" lvl="7" indent="-228600" algn="l">
              <a:spcBef>
                <a:spcPts val="200"/>
              </a:spcBef>
              <a:spcAft>
                <a:spcPts val="0"/>
              </a:spcAft>
              <a:buClr>
                <a:schemeClr val="dk1"/>
              </a:buClr>
              <a:buSzPts val="1200"/>
              <a:buNone/>
              <a:defRPr sz="1200" b="1"/>
            </a:lvl8pPr>
            <a:lvl9pPr marL="4114800" lvl="8" indent="-228600" algn="l">
              <a:spcBef>
                <a:spcPts val="200"/>
              </a:spcBef>
              <a:spcAft>
                <a:spcPts val="0"/>
              </a:spcAft>
              <a:buClr>
                <a:schemeClr val="dk1"/>
              </a:buClr>
              <a:buSzPts val="1200"/>
              <a:buNone/>
              <a:defRPr sz="1200" b="1"/>
            </a:lvl9pPr>
          </a:lstStyle>
          <a:p>
            <a:endParaRPr/>
          </a:p>
        </p:txBody>
      </p:sp>
      <p:sp>
        <p:nvSpPr>
          <p:cNvPr id="88" name="Google Shape;88;p18"/>
          <p:cNvSpPr txBox="1">
            <a:spLocks noGrp="1"/>
          </p:cNvSpPr>
          <p:nvPr>
            <p:ph type="body" idx="4"/>
          </p:nvPr>
        </p:nvSpPr>
        <p:spPr>
          <a:xfrm>
            <a:off x="4645026" y="1631156"/>
            <a:ext cx="4041900" cy="2963400"/>
          </a:xfrm>
          <a:prstGeom prst="rect">
            <a:avLst/>
          </a:prstGeom>
          <a:noFill/>
          <a:ln>
            <a:noFill/>
          </a:ln>
        </p:spPr>
        <p:txBody>
          <a:bodyPr spcFirstLastPara="1" wrap="square" lIns="68575" tIns="34275" rIns="68575" bIns="34275" anchor="t" anchorCtr="0">
            <a:normAutofit/>
          </a:bodyPr>
          <a:lstStyle>
            <a:lvl1pPr marL="457200" lvl="0" indent="-342900" algn="l">
              <a:spcBef>
                <a:spcPts val="400"/>
              </a:spcBef>
              <a:spcAft>
                <a:spcPts val="0"/>
              </a:spcAft>
              <a:buClr>
                <a:schemeClr val="dk1"/>
              </a:buClr>
              <a:buSzPts val="1800"/>
              <a:buChar char="•"/>
              <a:defRPr sz="1800"/>
            </a:lvl1pPr>
            <a:lvl2pPr marL="914400" lvl="1" indent="-323850" algn="l">
              <a:spcBef>
                <a:spcPts val="300"/>
              </a:spcBef>
              <a:spcAft>
                <a:spcPts val="0"/>
              </a:spcAft>
              <a:buClr>
                <a:schemeClr val="dk1"/>
              </a:buClr>
              <a:buSzPts val="1500"/>
              <a:buChar char="–"/>
              <a:defRPr sz="1500"/>
            </a:lvl2pPr>
            <a:lvl3pPr marL="1371600" lvl="2" indent="-317500" algn="l">
              <a:spcBef>
                <a:spcPts val="300"/>
              </a:spcBef>
              <a:spcAft>
                <a:spcPts val="0"/>
              </a:spcAft>
              <a:buClr>
                <a:schemeClr val="dk1"/>
              </a:buClr>
              <a:buSzPts val="1400"/>
              <a:buChar char="•"/>
              <a:defRPr sz="1400"/>
            </a:lvl3pPr>
            <a:lvl4pPr marL="1828800" lvl="3" indent="-304800" algn="l">
              <a:spcBef>
                <a:spcPts val="200"/>
              </a:spcBef>
              <a:spcAft>
                <a:spcPts val="0"/>
              </a:spcAft>
              <a:buClr>
                <a:schemeClr val="dk1"/>
              </a:buClr>
              <a:buSzPts val="1200"/>
              <a:buChar char="–"/>
              <a:defRPr sz="1200"/>
            </a:lvl4pPr>
            <a:lvl5pPr marL="2286000" lvl="4" indent="-304800" algn="l">
              <a:spcBef>
                <a:spcPts val="200"/>
              </a:spcBef>
              <a:spcAft>
                <a:spcPts val="0"/>
              </a:spcAft>
              <a:buClr>
                <a:schemeClr val="dk1"/>
              </a:buClr>
              <a:buSzPts val="1200"/>
              <a:buChar char="»"/>
              <a:defRPr sz="1200"/>
            </a:lvl5pPr>
            <a:lvl6pPr marL="2743200" lvl="5" indent="-304800" algn="l">
              <a:spcBef>
                <a:spcPts val="200"/>
              </a:spcBef>
              <a:spcAft>
                <a:spcPts val="0"/>
              </a:spcAft>
              <a:buClr>
                <a:schemeClr val="dk1"/>
              </a:buClr>
              <a:buSzPts val="1200"/>
              <a:buChar char="•"/>
              <a:defRPr sz="1200"/>
            </a:lvl6pPr>
            <a:lvl7pPr marL="3200400" lvl="6" indent="-304800" algn="l">
              <a:spcBef>
                <a:spcPts val="200"/>
              </a:spcBef>
              <a:spcAft>
                <a:spcPts val="0"/>
              </a:spcAft>
              <a:buClr>
                <a:schemeClr val="dk1"/>
              </a:buClr>
              <a:buSzPts val="1200"/>
              <a:buChar char="•"/>
              <a:defRPr sz="1200"/>
            </a:lvl7pPr>
            <a:lvl8pPr marL="3657600" lvl="7" indent="-304800" algn="l">
              <a:spcBef>
                <a:spcPts val="200"/>
              </a:spcBef>
              <a:spcAft>
                <a:spcPts val="0"/>
              </a:spcAft>
              <a:buClr>
                <a:schemeClr val="dk1"/>
              </a:buClr>
              <a:buSzPts val="1200"/>
              <a:buChar char="•"/>
              <a:defRPr sz="1200"/>
            </a:lvl8pPr>
            <a:lvl9pPr marL="4114800" lvl="8" indent="-304800" algn="l">
              <a:spcBef>
                <a:spcPts val="200"/>
              </a:spcBef>
              <a:spcAft>
                <a:spcPts val="0"/>
              </a:spcAft>
              <a:buClr>
                <a:schemeClr val="dk1"/>
              </a:buClr>
              <a:buSzPts val="1200"/>
              <a:buChar char="•"/>
              <a:defRPr sz="1200"/>
            </a:lvl9pPr>
          </a:lstStyle>
          <a:p>
            <a:endParaRPr/>
          </a:p>
        </p:txBody>
      </p:sp>
      <p:sp>
        <p:nvSpPr>
          <p:cNvPr id="89" name="Google Shape;89;p18"/>
          <p:cNvSpPr txBox="1">
            <a:spLocks noGrp="1"/>
          </p:cNvSpPr>
          <p:nvPr>
            <p:ph type="dt" idx="10"/>
          </p:nvPr>
        </p:nvSpPr>
        <p:spPr>
          <a:xfrm>
            <a:off x="457200" y="4857751"/>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0" name="Google Shape;90;p18"/>
          <p:cNvSpPr txBox="1">
            <a:spLocks noGrp="1"/>
          </p:cNvSpPr>
          <p:nvPr>
            <p:ph type="ftr" idx="11"/>
          </p:nvPr>
        </p:nvSpPr>
        <p:spPr>
          <a:xfrm>
            <a:off x="3124200" y="4857751"/>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1" name="Google Shape;91;p18"/>
          <p:cNvSpPr txBox="1">
            <a:spLocks noGrp="1"/>
          </p:cNvSpPr>
          <p:nvPr>
            <p:ph type="sldNum" idx="12"/>
          </p:nvPr>
        </p:nvSpPr>
        <p:spPr>
          <a:xfrm>
            <a:off x="6553200" y="4857751"/>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304800" y="57150"/>
            <a:ext cx="8001000" cy="5145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4" name="Google Shape;94;p19"/>
          <p:cNvSpPr txBox="1">
            <a:spLocks noGrp="1"/>
          </p:cNvSpPr>
          <p:nvPr>
            <p:ph type="dt" idx="10"/>
          </p:nvPr>
        </p:nvSpPr>
        <p:spPr>
          <a:xfrm>
            <a:off x="457200" y="4857751"/>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5" name="Google Shape;95;p19"/>
          <p:cNvSpPr txBox="1">
            <a:spLocks noGrp="1"/>
          </p:cNvSpPr>
          <p:nvPr>
            <p:ph type="ftr" idx="11"/>
          </p:nvPr>
        </p:nvSpPr>
        <p:spPr>
          <a:xfrm>
            <a:off x="3124200" y="4857751"/>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6" name="Google Shape;96;p19"/>
          <p:cNvSpPr txBox="1">
            <a:spLocks noGrp="1"/>
          </p:cNvSpPr>
          <p:nvPr>
            <p:ph type="sldNum" idx="12"/>
          </p:nvPr>
        </p:nvSpPr>
        <p:spPr>
          <a:xfrm>
            <a:off x="6553200" y="4857751"/>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457201" y="204788"/>
            <a:ext cx="3008400" cy="871500"/>
          </a:xfrm>
          <a:prstGeom prst="rect">
            <a:avLst/>
          </a:prstGeom>
          <a:noFill/>
          <a:ln>
            <a:noFill/>
          </a:ln>
        </p:spPr>
        <p:txBody>
          <a:bodyPr spcFirstLastPara="1" wrap="square" lIns="68575" tIns="34275" rIns="68575" bIns="34275"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3" name="Google Shape;103;p21"/>
          <p:cNvSpPr txBox="1">
            <a:spLocks noGrp="1"/>
          </p:cNvSpPr>
          <p:nvPr>
            <p:ph type="body" idx="1"/>
          </p:nvPr>
        </p:nvSpPr>
        <p:spPr>
          <a:xfrm>
            <a:off x="3575050" y="204788"/>
            <a:ext cx="5111700" cy="4389900"/>
          </a:xfrm>
          <a:prstGeom prst="rect">
            <a:avLst/>
          </a:prstGeom>
          <a:noFill/>
          <a:ln>
            <a:noFill/>
          </a:ln>
        </p:spPr>
        <p:txBody>
          <a:bodyPr spcFirstLastPara="1" wrap="square" lIns="68575" tIns="34275" rIns="68575" bIns="34275" anchor="t" anchorCtr="0">
            <a:normAutofit/>
          </a:bodyPr>
          <a:lstStyle>
            <a:lvl1pPr marL="457200" lvl="0" indent="-381000" algn="l">
              <a:spcBef>
                <a:spcPts val="500"/>
              </a:spcBef>
              <a:spcAft>
                <a:spcPts val="0"/>
              </a:spcAft>
              <a:buClr>
                <a:schemeClr val="dk1"/>
              </a:buClr>
              <a:buSzPts val="2400"/>
              <a:buChar char="•"/>
              <a:defRPr sz="2400"/>
            </a:lvl1pPr>
            <a:lvl2pPr marL="914400" lvl="1" indent="-361950" algn="l">
              <a:spcBef>
                <a:spcPts val="400"/>
              </a:spcBef>
              <a:spcAft>
                <a:spcPts val="0"/>
              </a:spcAft>
              <a:buClr>
                <a:schemeClr val="dk1"/>
              </a:buClr>
              <a:buSzPts val="2100"/>
              <a:buChar char="–"/>
              <a:defRPr sz="2100"/>
            </a:lvl2pPr>
            <a:lvl3pPr marL="1371600" lvl="2" indent="-342900" algn="l">
              <a:spcBef>
                <a:spcPts val="400"/>
              </a:spcBef>
              <a:spcAft>
                <a:spcPts val="0"/>
              </a:spcAft>
              <a:buClr>
                <a:schemeClr val="dk1"/>
              </a:buClr>
              <a:buSzPts val="1800"/>
              <a:buChar char="•"/>
              <a:defRPr sz="1800"/>
            </a:lvl3pPr>
            <a:lvl4pPr marL="1828800" lvl="3" indent="-323850" algn="l">
              <a:spcBef>
                <a:spcPts val="300"/>
              </a:spcBef>
              <a:spcAft>
                <a:spcPts val="0"/>
              </a:spcAft>
              <a:buClr>
                <a:schemeClr val="dk1"/>
              </a:buClr>
              <a:buSzPts val="1500"/>
              <a:buChar char="–"/>
              <a:defRPr sz="1500"/>
            </a:lvl4pPr>
            <a:lvl5pPr marL="2286000" lvl="4" indent="-323850" algn="l">
              <a:spcBef>
                <a:spcPts val="300"/>
              </a:spcBef>
              <a:spcAft>
                <a:spcPts val="0"/>
              </a:spcAft>
              <a:buClr>
                <a:schemeClr val="dk1"/>
              </a:buClr>
              <a:buSzPts val="1500"/>
              <a:buChar char="»"/>
              <a:defRPr sz="1500"/>
            </a:lvl5pPr>
            <a:lvl6pPr marL="2743200" lvl="5" indent="-323850" algn="l">
              <a:spcBef>
                <a:spcPts val="300"/>
              </a:spcBef>
              <a:spcAft>
                <a:spcPts val="0"/>
              </a:spcAft>
              <a:buClr>
                <a:schemeClr val="dk1"/>
              </a:buClr>
              <a:buSzPts val="1500"/>
              <a:buChar char="•"/>
              <a:defRPr sz="1500"/>
            </a:lvl6pPr>
            <a:lvl7pPr marL="3200400" lvl="6" indent="-323850" algn="l">
              <a:spcBef>
                <a:spcPts val="300"/>
              </a:spcBef>
              <a:spcAft>
                <a:spcPts val="0"/>
              </a:spcAft>
              <a:buClr>
                <a:schemeClr val="dk1"/>
              </a:buClr>
              <a:buSzPts val="1500"/>
              <a:buChar char="•"/>
              <a:defRPr sz="1500"/>
            </a:lvl7pPr>
            <a:lvl8pPr marL="3657600" lvl="7" indent="-323850" algn="l">
              <a:spcBef>
                <a:spcPts val="300"/>
              </a:spcBef>
              <a:spcAft>
                <a:spcPts val="0"/>
              </a:spcAft>
              <a:buClr>
                <a:schemeClr val="dk1"/>
              </a:buClr>
              <a:buSzPts val="1500"/>
              <a:buChar char="•"/>
              <a:defRPr sz="1500"/>
            </a:lvl8pPr>
            <a:lvl9pPr marL="4114800" lvl="8" indent="-323850" algn="l">
              <a:spcBef>
                <a:spcPts val="300"/>
              </a:spcBef>
              <a:spcAft>
                <a:spcPts val="0"/>
              </a:spcAft>
              <a:buClr>
                <a:schemeClr val="dk1"/>
              </a:buClr>
              <a:buSzPts val="1500"/>
              <a:buChar char="•"/>
              <a:defRPr sz="1500"/>
            </a:lvl9pPr>
          </a:lstStyle>
          <a:p>
            <a:endParaRPr/>
          </a:p>
        </p:txBody>
      </p:sp>
      <p:sp>
        <p:nvSpPr>
          <p:cNvPr id="104" name="Google Shape;104;p21"/>
          <p:cNvSpPr txBox="1">
            <a:spLocks noGrp="1"/>
          </p:cNvSpPr>
          <p:nvPr>
            <p:ph type="body" idx="2"/>
          </p:nvPr>
        </p:nvSpPr>
        <p:spPr>
          <a:xfrm>
            <a:off x="457201" y="1076326"/>
            <a:ext cx="3008400" cy="3518400"/>
          </a:xfrm>
          <a:prstGeom prst="rect">
            <a:avLst/>
          </a:prstGeom>
          <a:noFill/>
          <a:ln>
            <a:noFill/>
          </a:ln>
        </p:spPr>
        <p:txBody>
          <a:bodyPr spcFirstLastPara="1" wrap="square" lIns="68575" tIns="34275" rIns="68575" bIns="34275" anchor="t" anchorCtr="0">
            <a:normAutofit/>
          </a:bodyPr>
          <a:lstStyle>
            <a:lvl1pPr marL="457200" lvl="0" indent="-228600" algn="l">
              <a:spcBef>
                <a:spcPts val="200"/>
              </a:spcBef>
              <a:spcAft>
                <a:spcPts val="0"/>
              </a:spcAft>
              <a:buClr>
                <a:schemeClr val="dk1"/>
              </a:buClr>
              <a:buSzPts val="1100"/>
              <a:buNone/>
              <a:defRPr sz="1100"/>
            </a:lvl1pPr>
            <a:lvl2pPr marL="914400" lvl="1" indent="-228600" algn="l">
              <a:spcBef>
                <a:spcPts val="200"/>
              </a:spcBef>
              <a:spcAft>
                <a:spcPts val="0"/>
              </a:spcAft>
              <a:buClr>
                <a:schemeClr val="dk1"/>
              </a:buClr>
              <a:buSzPts val="900"/>
              <a:buNone/>
              <a:defRPr sz="900"/>
            </a:lvl2pPr>
            <a:lvl3pPr marL="1371600" lvl="2" indent="-228600" algn="l">
              <a:spcBef>
                <a:spcPts val="200"/>
              </a:spcBef>
              <a:spcAft>
                <a:spcPts val="0"/>
              </a:spcAft>
              <a:buClr>
                <a:schemeClr val="dk1"/>
              </a:buClr>
              <a:buSzPts val="800"/>
              <a:buNone/>
              <a:defRPr sz="800"/>
            </a:lvl3pPr>
            <a:lvl4pPr marL="1828800" lvl="3" indent="-228600" algn="l">
              <a:spcBef>
                <a:spcPts val="100"/>
              </a:spcBef>
              <a:spcAft>
                <a:spcPts val="0"/>
              </a:spcAft>
              <a:buClr>
                <a:schemeClr val="dk1"/>
              </a:buClr>
              <a:buSzPts val="700"/>
              <a:buNone/>
              <a:defRPr sz="700"/>
            </a:lvl4pPr>
            <a:lvl5pPr marL="2286000" lvl="4" indent="-228600" algn="l">
              <a:spcBef>
                <a:spcPts val="1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105" name="Google Shape;105;p21"/>
          <p:cNvSpPr txBox="1">
            <a:spLocks noGrp="1"/>
          </p:cNvSpPr>
          <p:nvPr>
            <p:ph type="dt" idx="10"/>
          </p:nvPr>
        </p:nvSpPr>
        <p:spPr>
          <a:xfrm>
            <a:off x="457200" y="4857751"/>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6" name="Google Shape;106;p21"/>
          <p:cNvSpPr txBox="1">
            <a:spLocks noGrp="1"/>
          </p:cNvSpPr>
          <p:nvPr>
            <p:ph type="ftr" idx="11"/>
          </p:nvPr>
        </p:nvSpPr>
        <p:spPr>
          <a:xfrm>
            <a:off x="3124200" y="4857751"/>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7" name="Google Shape;107;p21"/>
          <p:cNvSpPr txBox="1">
            <a:spLocks noGrp="1"/>
          </p:cNvSpPr>
          <p:nvPr>
            <p:ph type="sldNum" idx="12"/>
          </p:nvPr>
        </p:nvSpPr>
        <p:spPr>
          <a:xfrm>
            <a:off x="6553200" y="4857751"/>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1792288" y="3600450"/>
            <a:ext cx="5486400" cy="425100"/>
          </a:xfrm>
          <a:prstGeom prst="rect">
            <a:avLst/>
          </a:prstGeom>
          <a:noFill/>
          <a:ln>
            <a:noFill/>
          </a:ln>
        </p:spPr>
        <p:txBody>
          <a:bodyPr spcFirstLastPara="1" wrap="square" lIns="68575" tIns="34275" rIns="68575" bIns="34275" anchor="b" anchorCtr="0">
            <a:normAutofit/>
          </a:bodyPr>
          <a:lstStyle>
            <a:lvl1pPr lvl="0" algn="l">
              <a:spcBef>
                <a:spcPts val="0"/>
              </a:spcBef>
              <a:spcAft>
                <a:spcPts val="0"/>
              </a:spcAft>
              <a:buClr>
                <a:schemeClr val="dk1"/>
              </a:buClr>
              <a:buSzPts val="1500"/>
              <a:buFont typeface="Calibri"/>
              <a:buNone/>
              <a:defRPr sz="1500" b="1"/>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0" name="Google Shape;110;p22"/>
          <p:cNvSpPr>
            <a:spLocks noGrp="1"/>
          </p:cNvSpPr>
          <p:nvPr>
            <p:ph type="pic" idx="2"/>
          </p:nvPr>
        </p:nvSpPr>
        <p:spPr>
          <a:xfrm>
            <a:off x="1792288" y="459581"/>
            <a:ext cx="5486400" cy="3086100"/>
          </a:xfrm>
          <a:prstGeom prst="rect">
            <a:avLst/>
          </a:prstGeom>
          <a:noFill/>
          <a:ln>
            <a:noFill/>
          </a:ln>
        </p:spPr>
      </p:sp>
      <p:sp>
        <p:nvSpPr>
          <p:cNvPr id="111" name="Google Shape;111;p22"/>
          <p:cNvSpPr txBox="1">
            <a:spLocks noGrp="1"/>
          </p:cNvSpPr>
          <p:nvPr>
            <p:ph type="body" idx="1"/>
          </p:nvPr>
        </p:nvSpPr>
        <p:spPr>
          <a:xfrm>
            <a:off x="1792288" y="4025504"/>
            <a:ext cx="5486400" cy="603600"/>
          </a:xfrm>
          <a:prstGeom prst="rect">
            <a:avLst/>
          </a:prstGeom>
          <a:noFill/>
          <a:ln>
            <a:noFill/>
          </a:ln>
        </p:spPr>
        <p:txBody>
          <a:bodyPr spcFirstLastPara="1" wrap="square" lIns="68575" tIns="34275" rIns="68575" bIns="34275" anchor="t" anchorCtr="0">
            <a:normAutofit/>
          </a:bodyPr>
          <a:lstStyle>
            <a:lvl1pPr marL="457200" lvl="0" indent="-228600" algn="l">
              <a:spcBef>
                <a:spcPts val="200"/>
              </a:spcBef>
              <a:spcAft>
                <a:spcPts val="0"/>
              </a:spcAft>
              <a:buClr>
                <a:schemeClr val="dk1"/>
              </a:buClr>
              <a:buSzPts val="1100"/>
              <a:buNone/>
              <a:defRPr sz="1100"/>
            </a:lvl1pPr>
            <a:lvl2pPr marL="914400" lvl="1" indent="-228600" algn="l">
              <a:spcBef>
                <a:spcPts val="200"/>
              </a:spcBef>
              <a:spcAft>
                <a:spcPts val="0"/>
              </a:spcAft>
              <a:buClr>
                <a:schemeClr val="dk1"/>
              </a:buClr>
              <a:buSzPts val="900"/>
              <a:buNone/>
              <a:defRPr sz="900"/>
            </a:lvl2pPr>
            <a:lvl3pPr marL="1371600" lvl="2" indent="-228600" algn="l">
              <a:spcBef>
                <a:spcPts val="200"/>
              </a:spcBef>
              <a:spcAft>
                <a:spcPts val="0"/>
              </a:spcAft>
              <a:buClr>
                <a:schemeClr val="dk1"/>
              </a:buClr>
              <a:buSzPts val="800"/>
              <a:buNone/>
              <a:defRPr sz="800"/>
            </a:lvl3pPr>
            <a:lvl4pPr marL="1828800" lvl="3" indent="-228600" algn="l">
              <a:spcBef>
                <a:spcPts val="100"/>
              </a:spcBef>
              <a:spcAft>
                <a:spcPts val="0"/>
              </a:spcAft>
              <a:buClr>
                <a:schemeClr val="dk1"/>
              </a:buClr>
              <a:buSzPts val="700"/>
              <a:buNone/>
              <a:defRPr sz="700"/>
            </a:lvl4pPr>
            <a:lvl5pPr marL="2286000" lvl="4" indent="-228600" algn="l">
              <a:spcBef>
                <a:spcPts val="100"/>
              </a:spcBef>
              <a:spcAft>
                <a:spcPts val="0"/>
              </a:spcAft>
              <a:buClr>
                <a:schemeClr val="dk1"/>
              </a:buClr>
              <a:buSzPts val="700"/>
              <a:buNone/>
              <a:defRPr sz="700"/>
            </a:lvl5pPr>
            <a:lvl6pPr marL="2743200" lvl="5" indent="-228600" algn="l">
              <a:spcBef>
                <a:spcPts val="100"/>
              </a:spcBef>
              <a:spcAft>
                <a:spcPts val="0"/>
              </a:spcAft>
              <a:buClr>
                <a:schemeClr val="dk1"/>
              </a:buClr>
              <a:buSzPts val="700"/>
              <a:buNone/>
              <a:defRPr sz="700"/>
            </a:lvl6pPr>
            <a:lvl7pPr marL="3200400" lvl="6" indent="-228600" algn="l">
              <a:spcBef>
                <a:spcPts val="100"/>
              </a:spcBef>
              <a:spcAft>
                <a:spcPts val="0"/>
              </a:spcAft>
              <a:buClr>
                <a:schemeClr val="dk1"/>
              </a:buClr>
              <a:buSzPts val="700"/>
              <a:buNone/>
              <a:defRPr sz="700"/>
            </a:lvl7pPr>
            <a:lvl8pPr marL="3657600" lvl="7" indent="-228600" algn="l">
              <a:spcBef>
                <a:spcPts val="100"/>
              </a:spcBef>
              <a:spcAft>
                <a:spcPts val="0"/>
              </a:spcAft>
              <a:buClr>
                <a:schemeClr val="dk1"/>
              </a:buClr>
              <a:buSzPts val="700"/>
              <a:buNone/>
              <a:defRPr sz="700"/>
            </a:lvl8pPr>
            <a:lvl9pPr marL="4114800" lvl="8" indent="-228600" algn="l">
              <a:spcBef>
                <a:spcPts val="100"/>
              </a:spcBef>
              <a:spcAft>
                <a:spcPts val="0"/>
              </a:spcAft>
              <a:buClr>
                <a:schemeClr val="dk1"/>
              </a:buClr>
              <a:buSzPts val="700"/>
              <a:buNone/>
              <a:defRPr sz="700"/>
            </a:lvl9pPr>
          </a:lstStyle>
          <a:p>
            <a:endParaRPr/>
          </a:p>
        </p:txBody>
      </p:sp>
      <p:sp>
        <p:nvSpPr>
          <p:cNvPr id="112" name="Google Shape;112;p22"/>
          <p:cNvSpPr txBox="1">
            <a:spLocks noGrp="1"/>
          </p:cNvSpPr>
          <p:nvPr>
            <p:ph type="dt" idx="10"/>
          </p:nvPr>
        </p:nvSpPr>
        <p:spPr>
          <a:xfrm>
            <a:off x="457200" y="4857751"/>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3" name="Google Shape;113;p22"/>
          <p:cNvSpPr txBox="1">
            <a:spLocks noGrp="1"/>
          </p:cNvSpPr>
          <p:nvPr>
            <p:ph type="ftr" idx="11"/>
          </p:nvPr>
        </p:nvSpPr>
        <p:spPr>
          <a:xfrm>
            <a:off x="3124200" y="4857751"/>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4" name="Google Shape;114;p22"/>
          <p:cNvSpPr txBox="1">
            <a:spLocks noGrp="1"/>
          </p:cNvSpPr>
          <p:nvPr>
            <p:ph type="sldNum" idx="12"/>
          </p:nvPr>
        </p:nvSpPr>
        <p:spPr>
          <a:xfrm>
            <a:off x="6553200" y="4857751"/>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5"/>
        <p:cNvGrpSpPr/>
        <p:nvPr/>
      </p:nvGrpSpPr>
      <p:grpSpPr>
        <a:xfrm>
          <a:off x="0" y="0"/>
          <a:ext cx="0" cy="0"/>
          <a:chOff x="0" y="0"/>
          <a:chExt cx="0" cy="0"/>
        </a:xfrm>
      </p:grpSpPr>
      <p:sp>
        <p:nvSpPr>
          <p:cNvPr id="116" name="Google Shape;116;p23"/>
          <p:cNvSpPr txBox="1">
            <a:spLocks noGrp="1"/>
          </p:cNvSpPr>
          <p:nvPr>
            <p:ph type="title"/>
          </p:nvPr>
        </p:nvSpPr>
        <p:spPr>
          <a:xfrm>
            <a:off x="304800" y="57150"/>
            <a:ext cx="8001000" cy="5145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7" name="Google Shape;117;p23"/>
          <p:cNvSpPr txBox="1">
            <a:spLocks noGrp="1"/>
          </p:cNvSpPr>
          <p:nvPr>
            <p:ph type="body" idx="1"/>
          </p:nvPr>
        </p:nvSpPr>
        <p:spPr>
          <a:xfrm rot="5400000">
            <a:off x="2552700" y="-1562100"/>
            <a:ext cx="4114800" cy="8610600"/>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18" name="Google Shape;118;p23"/>
          <p:cNvSpPr txBox="1">
            <a:spLocks noGrp="1"/>
          </p:cNvSpPr>
          <p:nvPr>
            <p:ph type="dt" idx="10"/>
          </p:nvPr>
        </p:nvSpPr>
        <p:spPr>
          <a:xfrm>
            <a:off x="457200" y="4857751"/>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9" name="Google Shape;119;p23"/>
          <p:cNvSpPr txBox="1">
            <a:spLocks noGrp="1"/>
          </p:cNvSpPr>
          <p:nvPr>
            <p:ph type="ftr" idx="11"/>
          </p:nvPr>
        </p:nvSpPr>
        <p:spPr>
          <a:xfrm>
            <a:off x="3124200" y="4857751"/>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0" name="Google Shape;120;p23"/>
          <p:cNvSpPr txBox="1">
            <a:spLocks noGrp="1"/>
          </p:cNvSpPr>
          <p:nvPr>
            <p:ph type="sldNum" idx="12"/>
          </p:nvPr>
        </p:nvSpPr>
        <p:spPr>
          <a:xfrm>
            <a:off x="6553200" y="4857751"/>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1"/>
        <p:cNvGrpSpPr/>
        <p:nvPr/>
      </p:nvGrpSpPr>
      <p:grpSpPr>
        <a:xfrm>
          <a:off x="0" y="0"/>
          <a:ext cx="0" cy="0"/>
          <a:chOff x="0" y="0"/>
          <a:chExt cx="0" cy="0"/>
        </a:xfrm>
      </p:grpSpPr>
      <p:sp>
        <p:nvSpPr>
          <p:cNvPr id="122" name="Google Shape;122;p24"/>
          <p:cNvSpPr txBox="1">
            <a:spLocks noGrp="1"/>
          </p:cNvSpPr>
          <p:nvPr>
            <p:ph type="title"/>
          </p:nvPr>
        </p:nvSpPr>
        <p:spPr>
          <a:xfrm rot="5400000">
            <a:off x="5463750" y="1371629"/>
            <a:ext cx="4388700" cy="2057400"/>
          </a:xfrm>
          <a:prstGeom prst="rect">
            <a:avLst/>
          </a:prstGeom>
          <a:noFill/>
          <a:ln>
            <a:noFill/>
          </a:ln>
        </p:spPr>
        <p:txBody>
          <a:bodyPr spcFirstLastPara="1" wrap="square" lIns="68575" tIns="34275" rIns="68575" bIns="34275" anchor="ctr" anchorCtr="0">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3" name="Google Shape;123;p24"/>
          <p:cNvSpPr txBox="1">
            <a:spLocks noGrp="1"/>
          </p:cNvSpPr>
          <p:nvPr>
            <p:ph type="body" idx="1"/>
          </p:nvPr>
        </p:nvSpPr>
        <p:spPr>
          <a:xfrm rot="5400000">
            <a:off x="1272750" y="-609571"/>
            <a:ext cx="4388700" cy="6019800"/>
          </a:xfrm>
          <a:prstGeom prst="rect">
            <a:avLst/>
          </a:prstGeom>
          <a:noFill/>
          <a:ln>
            <a:noFill/>
          </a:ln>
        </p:spPr>
        <p:txBody>
          <a:bodyPr spcFirstLastPara="1" wrap="square" lIns="68575" tIns="34275" rIns="68575" bIns="34275" anchor="t" anchorCtr="0">
            <a:normAutofit/>
          </a:bodyPr>
          <a:lstStyle>
            <a:lvl1pPr marL="457200" lvl="0" indent="-317500" algn="l">
              <a:spcBef>
                <a:spcPts val="300"/>
              </a:spcBef>
              <a:spcAft>
                <a:spcPts val="0"/>
              </a:spcAft>
              <a:buClr>
                <a:schemeClr val="dk1"/>
              </a:buClr>
              <a:buSzPts val="1400"/>
              <a:buChar char="•"/>
              <a:defRPr/>
            </a:lvl1pPr>
            <a:lvl2pPr marL="914400" lvl="1" indent="-317500" algn="l">
              <a:spcBef>
                <a:spcPts val="300"/>
              </a:spcBef>
              <a:spcAft>
                <a:spcPts val="0"/>
              </a:spcAft>
              <a:buClr>
                <a:schemeClr val="dk1"/>
              </a:buClr>
              <a:buSzPts val="1400"/>
              <a:buChar char="–"/>
              <a:defRPr/>
            </a:lvl2pPr>
            <a:lvl3pPr marL="1371600" lvl="2" indent="-317500" algn="l">
              <a:spcBef>
                <a:spcPts val="300"/>
              </a:spcBef>
              <a:spcAft>
                <a:spcPts val="0"/>
              </a:spcAft>
              <a:buClr>
                <a:schemeClr val="dk1"/>
              </a:buClr>
              <a:buSzPts val="1400"/>
              <a:buChar char="•"/>
              <a:defRPr/>
            </a:lvl3pPr>
            <a:lvl4pPr marL="1828800" lvl="3" indent="-317500" algn="l">
              <a:spcBef>
                <a:spcPts val="300"/>
              </a:spcBef>
              <a:spcAft>
                <a:spcPts val="0"/>
              </a:spcAft>
              <a:buClr>
                <a:schemeClr val="dk1"/>
              </a:buClr>
              <a:buSzPts val="1400"/>
              <a:buChar char="–"/>
              <a:defRPr/>
            </a:lvl4pPr>
            <a:lvl5pPr marL="2286000" lvl="4" indent="-317500" algn="l">
              <a:spcBef>
                <a:spcPts val="300"/>
              </a:spcBef>
              <a:spcAft>
                <a:spcPts val="0"/>
              </a:spcAft>
              <a:buClr>
                <a:schemeClr val="dk1"/>
              </a:buClr>
              <a:buSzPts val="1400"/>
              <a:buChar char="»"/>
              <a:defRPr/>
            </a:lvl5pPr>
            <a:lvl6pPr marL="2743200" lvl="5" indent="-317500" algn="l">
              <a:spcBef>
                <a:spcPts val="300"/>
              </a:spcBef>
              <a:spcAft>
                <a:spcPts val="0"/>
              </a:spcAft>
              <a:buClr>
                <a:schemeClr val="dk1"/>
              </a:buClr>
              <a:buSzPts val="1400"/>
              <a:buChar char="•"/>
              <a:defRPr/>
            </a:lvl6pPr>
            <a:lvl7pPr marL="3200400" lvl="6" indent="-317500" algn="l">
              <a:spcBef>
                <a:spcPts val="300"/>
              </a:spcBef>
              <a:spcAft>
                <a:spcPts val="0"/>
              </a:spcAft>
              <a:buClr>
                <a:schemeClr val="dk1"/>
              </a:buClr>
              <a:buSzPts val="1400"/>
              <a:buChar char="•"/>
              <a:defRPr/>
            </a:lvl7pPr>
            <a:lvl8pPr marL="3657600" lvl="7" indent="-317500" algn="l">
              <a:spcBef>
                <a:spcPts val="300"/>
              </a:spcBef>
              <a:spcAft>
                <a:spcPts val="0"/>
              </a:spcAft>
              <a:buClr>
                <a:schemeClr val="dk1"/>
              </a:buClr>
              <a:buSzPts val="1400"/>
              <a:buChar char="•"/>
              <a:defRPr/>
            </a:lvl8pPr>
            <a:lvl9pPr marL="4114800" lvl="8" indent="-317500" algn="l">
              <a:spcBef>
                <a:spcPts val="300"/>
              </a:spcBef>
              <a:spcAft>
                <a:spcPts val="0"/>
              </a:spcAft>
              <a:buClr>
                <a:schemeClr val="dk1"/>
              </a:buClr>
              <a:buSzPts val="1400"/>
              <a:buChar char="•"/>
              <a:defRPr/>
            </a:lvl9pPr>
          </a:lstStyle>
          <a:p>
            <a:endParaRPr/>
          </a:p>
        </p:txBody>
      </p:sp>
      <p:sp>
        <p:nvSpPr>
          <p:cNvPr id="124" name="Google Shape;124;p24"/>
          <p:cNvSpPr txBox="1">
            <a:spLocks noGrp="1"/>
          </p:cNvSpPr>
          <p:nvPr>
            <p:ph type="dt" idx="10"/>
          </p:nvPr>
        </p:nvSpPr>
        <p:spPr>
          <a:xfrm>
            <a:off x="457200" y="4857751"/>
            <a:ext cx="21336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5" name="Google Shape;125;p24"/>
          <p:cNvSpPr txBox="1">
            <a:spLocks noGrp="1"/>
          </p:cNvSpPr>
          <p:nvPr>
            <p:ph type="ftr" idx="11"/>
          </p:nvPr>
        </p:nvSpPr>
        <p:spPr>
          <a:xfrm>
            <a:off x="3124200" y="4857751"/>
            <a:ext cx="28956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6" name="Google Shape;126;p24"/>
          <p:cNvSpPr txBox="1">
            <a:spLocks noGrp="1"/>
          </p:cNvSpPr>
          <p:nvPr>
            <p:ph type="sldNum" idx="12"/>
          </p:nvPr>
        </p:nvSpPr>
        <p:spPr>
          <a:xfrm>
            <a:off x="6553200" y="4857751"/>
            <a:ext cx="21336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jp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04800" y="57150"/>
            <a:ext cx="8001000" cy="514500"/>
          </a:xfrm>
          <a:prstGeom prst="rect">
            <a:avLst/>
          </a:prstGeom>
          <a:noFill/>
          <a:ln>
            <a:noFill/>
          </a:ln>
        </p:spPr>
        <p:txBody>
          <a:bodyPr spcFirstLastPara="1" wrap="square" lIns="68575" tIns="34275" rIns="68575" bIns="34275" anchor="ctr" anchorCtr="0">
            <a:normAutofit/>
          </a:bodyPr>
          <a:lstStyle>
            <a:lvl1pPr marR="0" lvl="0" algn="ctr">
              <a:spcBef>
                <a:spcPts val="0"/>
              </a:spcBef>
              <a:spcAft>
                <a:spcPts val="0"/>
              </a:spcAft>
              <a:buClr>
                <a:schemeClr val="dk1"/>
              </a:buClr>
              <a:buSzPts val="2700"/>
              <a:buFont typeface="Calibri"/>
              <a:buNone/>
              <a:defRPr sz="27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304800" y="685800"/>
            <a:ext cx="8610600" cy="4114800"/>
          </a:xfrm>
          <a:prstGeom prst="rect">
            <a:avLst/>
          </a:prstGeom>
          <a:noFill/>
          <a:ln>
            <a:noFill/>
          </a:ln>
        </p:spPr>
        <p:txBody>
          <a:bodyPr spcFirstLastPara="1" wrap="square" lIns="68575" tIns="34275" rIns="68575" bIns="34275" anchor="t" anchorCtr="0">
            <a:normAutofit/>
          </a:bodyPr>
          <a:lstStyle>
            <a:lvl1pPr marL="457200" marR="0" lvl="0" indent="-342900" algn="l">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42900" algn="l">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42900" algn="l">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42900" algn="l">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457200" y="4857751"/>
            <a:ext cx="21336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124200" y="4857751"/>
            <a:ext cx="28956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chemeClr val="dk1"/>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553200" y="4857751"/>
            <a:ext cx="21336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0" i="0" u="none" strike="noStrike" cap="none">
                <a:solidFill>
                  <a:schemeClr val="dk1"/>
                </a:solidFill>
                <a:latin typeface="Calibri"/>
                <a:ea typeface="Calibri"/>
                <a:cs typeface="Calibri"/>
                <a:sym typeface="Calibri"/>
              </a:defRPr>
            </a:lvl1pPr>
            <a:lvl2pPr marL="0" marR="0" lvl="1" indent="0" algn="r">
              <a:spcBef>
                <a:spcPts val="0"/>
              </a:spcBef>
              <a:buNone/>
              <a:defRPr sz="900" b="0" i="0" u="none" strike="noStrike" cap="none">
                <a:solidFill>
                  <a:schemeClr val="dk1"/>
                </a:solidFill>
                <a:latin typeface="Calibri"/>
                <a:ea typeface="Calibri"/>
                <a:cs typeface="Calibri"/>
                <a:sym typeface="Calibri"/>
              </a:defRPr>
            </a:lvl2pPr>
            <a:lvl3pPr marL="0" marR="0" lvl="2" indent="0" algn="r">
              <a:spcBef>
                <a:spcPts val="0"/>
              </a:spcBef>
              <a:buNone/>
              <a:defRPr sz="900" b="0" i="0" u="none" strike="noStrike" cap="none">
                <a:solidFill>
                  <a:schemeClr val="dk1"/>
                </a:solidFill>
                <a:latin typeface="Calibri"/>
                <a:ea typeface="Calibri"/>
                <a:cs typeface="Calibri"/>
                <a:sym typeface="Calibri"/>
              </a:defRPr>
            </a:lvl3pPr>
            <a:lvl4pPr marL="0" marR="0" lvl="3" indent="0" algn="r">
              <a:spcBef>
                <a:spcPts val="0"/>
              </a:spcBef>
              <a:buNone/>
              <a:defRPr sz="900" b="0" i="0" u="none" strike="noStrike" cap="none">
                <a:solidFill>
                  <a:schemeClr val="dk1"/>
                </a:solidFill>
                <a:latin typeface="Calibri"/>
                <a:ea typeface="Calibri"/>
                <a:cs typeface="Calibri"/>
                <a:sym typeface="Calibri"/>
              </a:defRPr>
            </a:lvl4pPr>
            <a:lvl5pPr marL="0" marR="0" lvl="4" indent="0" algn="r">
              <a:spcBef>
                <a:spcPts val="0"/>
              </a:spcBef>
              <a:buNone/>
              <a:defRPr sz="900" b="0" i="0" u="none" strike="noStrike" cap="none">
                <a:solidFill>
                  <a:schemeClr val="dk1"/>
                </a:solidFill>
                <a:latin typeface="Calibri"/>
                <a:ea typeface="Calibri"/>
                <a:cs typeface="Calibri"/>
                <a:sym typeface="Calibri"/>
              </a:defRPr>
            </a:lvl5pPr>
            <a:lvl6pPr marL="0" marR="0" lvl="5" indent="0" algn="r">
              <a:spcBef>
                <a:spcPts val="0"/>
              </a:spcBef>
              <a:buNone/>
              <a:defRPr sz="900" b="0" i="0" u="none" strike="noStrike" cap="none">
                <a:solidFill>
                  <a:schemeClr val="dk1"/>
                </a:solidFill>
                <a:latin typeface="Calibri"/>
                <a:ea typeface="Calibri"/>
                <a:cs typeface="Calibri"/>
                <a:sym typeface="Calibri"/>
              </a:defRPr>
            </a:lvl6pPr>
            <a:lvl7pPr marL="0" marR="0" lvl="6" indent="0" algn="r">
              <a:spcBef>
                <a:spcPts val="0"/>
              </a:spcBef>
              <a:buNone/>
              <a:defRPr sz="900" b="0" i="0" u="none" strike="noStrike" cap="none">
                <a:solidFill>
                  <a:schemeClr val="dk1"/>
                </a:solidFill>
                <a:latin typeface="Calibri"/>
                <a:ea typeface="Calibri"/>
                <a:cs typeface="Calibri"/>
                <a:sym typeface="Calibri"/>
              </a:defRPr>
            </a:lvl7pPr>
            <a:lvl8pPr marL="0" marR="0" lvl="7" indent="0" algn="r">
              <a:spcBef>
                <a:spcPts val="0"/>
              </a:spcBef>
              <a:buNone/>
              <a:defRPr sz="900" b="0" i="0" u="none" strike="noStrike" cap="none">
                <a:solidFill>
                  <a:schemeClr val="dk1"/>
                </a:solidFill>
                <a:latin typeface="Calibri"/>
                <a:ea typeface="Calibri"/>
                <a:cs typeface="Calibri"/>
                <a:sym typeface="Calibri"/>
              </a:defRPr>
            </a:lvl8pPr>
            <a:lvl9pPr marL="0" marR="0" lvl="8" indent="0" algn="r">
              <a:spcBef>
                <a:spcPts val="0"/>
              </a:spcBef>
              <a:buNone/>
              <a:defRPr sz="9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r>
              <a:rPr lang="en"/>
              <a:t>&lt;</a:t>
            </a:r>
            <a:fld id="{00000000-1234-1234-1234-123412341234}" type="slidenum">
              <a:rPr lang="en"/>
              <a:t>‹#›</a:t>
            </a:fld>
            <a:r>
              <a:rPr lang="en"/>
              <a:t>&gt;</a:t>
            </a:r>
            <a:endParaRPr/>
          </a:p>
        </p:txBody>
      </p:sp>
      <p:pic>
        <p:nvPicPr>
          <p:cNvPr id="56" name="Google Shape;56;p13" descr="C:\Users\Pradeep\Desktop\IIT Bombay logo.jpg"/>
          <p:cNvPicPr preferRelativeResize="0"/>
          <p:nvPr/>
        </p:nvPicPr>
        <p:blipFill rotWithShape="1">
          <a:blip r:embed="rId12">
            <a:alphaModFix/>
          </a:blip>
          <a:srcRect/>
          <a:stretch/>
        </p:blipFill>
        <p:spPr>
          <a:xfrm>
            <a:off x="8412480" y="11430"/>
            <a:ext cx="731520" cy="548640"/>
          </a:xfrm>
          <a:prstGeom prst="rect">
            <a:avLst/>
          </a:prstGeom>
          <a:noFill/>
          <a:ln>
            <a:noFill/>
          </a:ln>
        </p:spPr>
      </p:pic>
      <p:cxnSp>
        <p:nvCxnSpPr>
          <p:cNvPr id="57" name="Google Shape;57;p13"/>
          <p:cNvCxnSpPr/>
          <p:nvPr/>
        </p:nvCxnSpPr>
        <p:spPr>
          <a:xfrm>
            <a:off x="0" y="571500"/>
            <a:ext cx="9144000" cy="0"/>
          </a:xfrm>
          <a:prstGeom prst="straightConnector1">
            <a:avLst/>
          </a:prstGeom>
          <a:noFill/>
          <a:ln w="25400" cap="flat" cmpd="sng">
            <a:solidFill>
              <a:schemeClr val="dk1"/>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6" r:id="rId7"/>
    <p:sldLayoutId id="2147483667" r:id="rId8"/>
    <p:sldLayoutId id="2147483668" r:id="rId9"/>
    <p:sldLayoutId id="214748366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image" Target="../media/image31.png"/><Relationship Id="rId4" Type="http://schemas.openxmlformats.org/officeDocument/2006/relationships/image" Target="../media/image30.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5"/>
          <p:cNvSpPr txBox="1">
            <a:spLocks noGrp="1"/>
          </p:cNvSpPr>
          <p:nvPr>
            <p:ph type="ctrTitle"/>
          </p:nvPr>
        </p:nvSpPr>
        <p:spPr>
          <a:xfrm>
            <a:off x="171450" y="914400"/>
            <a:ext cx="8801100" cy="1428750"/>
          </a:xfrm>
          <a:prstGeom prst="rect">
            <a:avLst/>
          </a:prstGeom>
          <a:noFill/>
          <a:ln>
            <a:noFill/>
          </a:ln>
        </p:spPr>
        <p:txBody>
          <a:bodyPr spcFirstLastPara="1" wrap="square" lIns="68575" tIns="34275" rIns="68575" bIns="34275" anchor="ctr" anchorCtr="0">
            <a:noAutofit/>
          </a:bodyPr>
          <a:lstStyle/>
          <a:p>
            <a:pPr marL="0" lvl="0" indent="0" algn="ctr" rtl="0">
              <a:spcBef>
                <a:spcPts val="0"/>
              </a:spcBef>
              <a:spcAft>
                <a:spcPts val="0"/>
              </a:spcAft>
              <a:buClr>
                <a:schemeClr val="dk1"/>
              </a:buClr>
              <a:buSzPts val="2700"/>
              <a:buFont typeface="Century"/>
              <a:buNone/>
            </a:pPr>
            <a:r>
              <a:rPr lang="en-IN" sz="4000" b="1" dirty="0"/>
              <a:t>Modeling Demand Curve for Non-Traditional Patterns</a:t>
            </a:r>
            <a:endParaRPr sz="4800" b="1" dirty="0">
              <a:latin typeface="Century"/>
              <a:ea typeface="Century"/>
              <a:cs typeface="Century"/>
              <a:sym typeface="Century"/>
            </a:endParaRPr>
          </a:p>
        </p:txBody>
      </p:sp>
      <p:sp>
        <p:nvSpPr>
          <p:cNvPr id="132" name="Google Shape;132;p25"/>
          <p:cNvSpPr txBox="1">
            <a:spLocks noGrp="1"/>
          </p:cNvSpPr>
          <p:nvPr>
            <p:ph type="subTitle" idx="1"/>
          </p:nvPr>
        </p:nvSpPr>
        <p:spPr>
          <a:xfrm>
            <a:off x="1937541" y="2412614"/>
            <a:ext cx="5429250" cy="1028700"/>
          </a:xfrm>
          <a:prstGeom prst="rect">
            <a:avLst/>
          </a:prstGeom>
          <a:noFill/>
          <a:ln>
            <a:noFill/>
          </a:ln>
        </p:spPr>
        <p:txBody>
          <a:bodyPr spcFirstLastPara="1" wrap="square" lIns="68575" tIns="34275" rIns="68575" bIns="34275" anchor="t" anchorCtr="0">
            <a:noAutofit/>
          </a:bodyPr>
          <a:lstStyle/>
          <a:p>
            <a:pPr marL="0" lvl="0" indent="0" algn="ctr" rtl="0">
              <a:spcBef>
                <a:spcPts val="0"/>
              </a:spcBef>
              <a:spcAft>
                <a:spcPts val="0"/>
              </a:spcAft>
              <a:buClr>
                <a:schemeClr val="dk1"/>
              </a:buClr>
              <a:buSzPts val="1500"/>
              <a:buNone/>
            </a:pPr>
            <a:r>
              <a:rPr lang="en" sz="2800" b="1" dirty="0">
                <a:solidFill>
                  <a:schemeClr val="tx1"/>
                </a:solidFill>
                <a:latin typeface="Century"/>
                <a:ea typeface="Century"/>
                <a:cs typeface="Century"/>
                <a:sym typeface="Century"/>
              </a:rPr>
              <a:t>IE-685 </a:t>
            </a:r>
            <a:r>
              <a:rPr lang="pt-BR" sz="2800" dirty="0">
                <a:solidFill>
                  <a:schemeClr val="tx1"/>
                </a:solidFill>
              </a:rPr>
              <a:t> M.Sc Project 1</a:t>
            </a:r>
            <a:endParaRPr sz="1600" b="1" dirty="0">
              <a:solidFill>
                <a:schemeClr val="tx1"/>
              </a:solidFill>
              <a:latin typeface="Century"/>
              <a:ea typeface="Century"/>
              <a:cs typeface="Century"/>
              <a:sym typeface="Century"/>
            </a:endParaRPr>
          </a:p>
        </p:txBody>
      </p:sp>
      <p:pic>
        <p:nvPicPr>
          <p:cNvPr id="133" name="Google Shape;133;p25"/>
          <p:cNvPicPr preferRelativeResize="0"/>
          <p:nvPr/>
        </p:nvPicPr>
        <p:blipFill rotWithShape="1">
          <a:blip r:embed="rId3">
            <a:alphaModFix/>
          </a:blip>
          <a:srcRect/>
          <a:stretch/>
        </p:blipFill>
        <p:spPr>
          <a:xfrm>
            <a:off x="365541" y="3510778"/>
            <a:ext cx="1266092" cy="1234440"/>
          </a:xfrm>
          <a:prstGeom prst="rect">
            <a:avLst/>
          </a:prstGeom>
          <a:noFill/>
          <a:ln>
            <a:noFill/>
          </a:ln>
        </p:spPr>
      </p:pic>
      <p:sp>
        <p:nvSpPr>
          <p:cNvPr id="134" name="Google Shape;134;p25"/>
          <p:cNvSpPr txBox="1"/>
          <p:nvPr/>
        </p:nvSpPr>
        <p:spPr>
          <a:xfrm>
            <a:off x="6396975" y="3877594"/>
            <a:ext cx="4071375" cy="1311525"/>
          </a:xfrm>
          <a:prstGeom prst="rect">
            <a:avLst/>
          </a:prstGeom>
          <a:noFill/>
          <a:ln>
            <a:noFill/>
          </a:ln>
        </p:spPr>
        <p:txBody>
          <a:bodyPr spcFirstLastPara="1" wrap="square" lIns="68575" tIns="68575" rIns="68575" bIns="68575" anchor="t" anchorCtr="0">
            <a:noAutofit/>
          </a:bodyPr>
          <a:lstStyle/>
          <a:p>
            <a:pPr marL="0" lvl="0" indent="0" algn="l" rtl="0">
              <a:spcBef>
                <a:spcPts val="0"/>
              </a:spcBef>
              <a:spcAft>
                <a:spcPts val="0"/>
              </a:spcAft>
              <a:buNone/>
            </a:pPr>
            <a:r>
              <a:rPr lang="en" sz="1800" dirty="0">
                <a:solidFill>
                  <a:schemeClr val="dk1"/>
                </a:solidFill>
                <a:latin typeface="Calibri"/>
                <a:ea typeface="Calibri"/>
                <a:cs typeface="Calibri"/>
                <a:sym typeface="Calibri"/>
              </a:rPr>
              <a:t>Name- Aakash Verma</a:t>
            </a:r>
            <a:endParaRPr sz="1800" dirty="0">
              <a:solidFill>
                <a:schemeClr val="dk1"/>
              </a:solidFill>
              <a:latin typeface="Calibri"/>
              <a:ea typeface="Calibri"/>
              <a:cs typeface="Calibri"/>
              <a:sym typeface="Calibri"/>
            </a:endParaRPr>
          </a:p>
          <a:p>
            <a:pPr marL="0" lvl="0" indent="0" algn="l" rtl="0">
              <a:spcBef>
                <a:spcPts val="0"/>
              </a:spcBef>
              <a:spcAft>
                <a:spcPts val="0"/>
              </a:spcAft>
              <a:buNone/>
            </a:pPr>
            <a:r>
              <a:rPr lang="en" sz="1800" dirty="0">
                <a:solidFill>
                  <a:schemeClr val="dk1"/>
                </a:solidFill>
                <a:latin typeface="Calibri"/>
                <a:ea typeface="Calibri"/>
                <a:cs typeface="Calibri"/>
                <a:sym typeface="Calibri"/>
              </a:rPr>
              <a:t>Roll No.- 23N0453</a:t>
            </a:r>
            <a:endParaRPr sz="1800" dirty="0">
              <a:solidFill>
                <a:schemeClr val="dk1"/>
              </a:solidFill>
              <a:latin typeface="Calibri"/>
              <a:ea typeface="Calibri"/>
              <a:cs typeface="Calibri"/>
              <a:sym typeface="Calibri"/>
            </a:endParaRPr>
          </a:p>
        </p:txBody>
      </p:sp>
      <p:pic>
        <p:nvPicPr>
          <p:cNvPr id="135" name="Google Shape;135;p25"/>
          <p:cNvPicPr preferRelativeResize="0"/>
          <p:nvPr/>
        </p:nvPicPr>
        <p:blipFill>
          <a:blip r:embed="rId4">
            <a:alphaModFix/>
          </a:blip>
          <a:stretch>
            <a:fillRect/>
          </a:stretch>
        </p:blipFill>
        <p:spPr>
          <a:xfrm>
            <a:off x="27048" y="0"/>
            <a:ext cx="548525" cy="516275"/>
          </a:xfrm>
          <a:prstGeom prst="rect">
            <a:avLst/>
          </a:prstGeom>
          <a:noFill/>
          <a:ln>
            <a:noFill/>
          </a:ln>
        </p:spPr>
      </p:pic>
      <p:sp>
        <p:nvSpPr>
          <p:cNvPr id="136" name="Google Shape;136;p25"/>
          <p:cNvSpPr txBox="1">
            <a:spLocks noGrp="1"/>
          </p:cNvSpPr>
          <p:nvPr>
            <p:ph type="sldNum" idx="12"/>
          </p:nvPr>
        </p:nvSpPr>
        <p:spPr>
          <a:xfrm>
            <a:off x="6553200" y="4857751"/>
            <a:ext cx="2133600" cy="273900"/>
          </a:xfrm>
          <a:prstGeom prst="rect">
            <a:avLst/>
          </a:prstGeom>
        </p:spPr>
        <p:txBody>
          <a:bodyPr spcFirstLastPara="1" wrap="square" lIns="68575" tIns="34275" rIns="68575" bIns="34275" anchor="ctr" anchorCtr="0">
            <a:noAutofit/>
          </a:bodyPr>
          <a:lstStyle/>
          <a:p>
            <a:pPr marL="0" lvl="0" indent="0" algn="r" rtl="0">
              <a:spcBef>
                <a:spcPts val="0"/>
              </a:spcBef>
              <a:spcAft>
                <a:spcPts val="0"/>
              </a:spcAft>
              <a:buClr>
                <a:srgbClr val="000000"/>
              </a:buClr>
              <a:buFont typeface="Arial"/>
              <a:buNone/>
            </a:pPr>
            <a:r>
              <a:rPr lang="en"/>
              <a:t>1</a:t>
            </a:r>
            <a:endParaRPr/>
          </a:p>
        </p:txBody>
      </p:sp>
      <p:sp>
        <p:nvSpPr>
          <p:cNvPr id="2" name="TextBox 1">
            <a:extLst>
              <a:ext uri="{FF2B5EF4-FFF2-40B4-BE49-F238E27FC236}">
                <a16:creationId xmlns:a16="http://schemas.microsoft.com/office/drawing/2014/main" id="{E6110461-F7C2-CC5D-B3D3-6AC1C6CEEF9E}"/>
              </a:ext>
            </a:extLst>
          </p:cNvPr>
          <p:cNvSpPr txBox="1"/>
          <p:nvPr/>
        </p:nvSpPr>
        <p:spPr>
          <a:xfrm>
            <a:off x="2512741" y="3375102"/>
            <a:ext cx="4040459" cy="307777"/>
          </a:xfrm>
          <a:prstGeom prst="rect">
            <a:avLst/>
          </a:prstGeom>
          <a:noFill/>
        </p:spPr>
        <p:txBody>
          <a:bodyPr wrap="square" rtlCol="0">
            <a:spAutoFit/>
          </a:bodyPr>
          <a:lstStyle/>
          <a:p>
            <a:r>
              <a:rPr lang="en-IN" dirty="0"/>
              <a:t>Under the supervision of prof. Saurabh Jain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6"/>
          <p:cNvSpPr txBox="1">
            <a:spLocks noGrp="1"/>
          </p:cNvSpPr>
          <p:nvPr>
            <p:ph type="title"/>
          </p:nvPr>
        </p:nvSpPr>
        <p:spPr>
          <a:xfrm>
            <a:off x="266738" y="3769"/>
            <a:ext cx="8610600" cy="514500"/>
          </a:xfrm>
          <a:prstGeom prst="rect">
            <a:avLst/>
          </a:prstGeom>
          <a:noFill/>
          <a:ln>
            <a:noFill/>
          </a:ln>
        </p:spPr>
        <p:txBody>
          <a:bodyPr spcFirstLastPara="1" wrap="square" lIns="68575" tIns="34275" rIns="68575" bIns="34275" anchor="ctr" anchorCtr="0">
            <a:normAutofit/>
          </a:bodyPr>
          <a:lstStyle/>
          <a:p>
            <a:pPr marL="0" lvl="0" indent="0" algn="ctr" rtl="0">
              <a:spcBef>
                <a:spcPts val="0"/>
              </a:spcBef>
              <a:spcAft>
                <a:spcPts val="0"/>
              </a:spcAft>
              <a:buClr>
                <a:schemeClr val="dk1"/>
              </a:buClr>
              <a:buSzPts val="2400"/>
              <a:buFont typeface="Century"/>
              <a:buNone/>
            </a:pPr>
            <a:r>
              <a:rPr lang="en" sz="2600" b="1"/>
              <a:t>Contents:</a:t>
            </a:r>
            <a:endParaRPr sz="2600" b="1"/>
          </a:p>
        </p:txBody>
      </p:sp>
      <p:sp>
        <p:nvSpPr>
          <p:cNvPr id="142" name="Google Shape;142;p26"/>
          <p:cNvSpPr txBox="1">
            <a:spLocks noGrp="1"/>
          </p:cNvSpPr>
          <p:nvPr>
            <p:ph type="body" idx="1"/>
          </p:nvPr>
        </p:nvSpPr>
        <p:spPr>
          <a:xfrm>
            <a:off x="273250" y="696132"/>
            <a:ext cx="8610600" cy="4157700"/>
          </a:xfrm>
          <a:prstGeom prst="rect">
            <a:avLst/>
          </a:prstGeom>
          <a:noFill/>
          <a:ln>
            <a:noFill/>
          </a:ln>
        </p:spPr>
        <p:txBody>
          <a:bodyPr spcFirstLastPara="1" wrap="square" lIns="68575" tIns="34275" rIns="68575" bIns="34275" anchor="t" anchorCtr="0">
            <a:normAutofit/>
          </a:bodyPr>
          <a:lstStyle/>
          <a:p>
            <a:pPr marL="0" lvl="0" indent="0" algn="l" rtl="0">
              <a:spcBef>
                <a:spcPts val="0"/>
              </a:spcBef>
              <a:spcAft>
                <a:spcPts val="0"/>
              </a:spcAft>
              <a:buNone/>
            </a:pPr>
            <a:endParaRPr sz="2100" dirty="0"/>
          </a:p>
          <a:p>
            <a:pPr marL="342900" lvl="0" indent="-298450" algn="l" rtl="0">
              <a:spcBef>
                <a:spcPts val="0"/>
              </a:spcBef>
              <a:spcAft>
                <a:spcPts val="0"/>
              </a:spcAft>
              <a:buSzPts val="2100"/>
              <a:buAutoNum type="arabicPeriod"/>
            </a:pPr>
            <a:r>
              <a:rPr lang="en" sz="2100" dirty="0"/>
              <a:t>Introduction</a:t>
            </a:r>
            <a:endParaRPr sz="2100" dirty="0"/>
          </a:p>
          <a:p>
            <a:pPr marL="342900" lvl="0" indent="-298450" algn="l" rtl="0">
              <a:spcBef>
                <a:spcPts val="0"/>
              </a:spcBef>
              <a:spcAft>
                <a:spcPts val="0"/>
              </a:spcAft>
              <a:buSzPts val="2100"/>
              <a:buAutoNum type="arabicPeriod"/>
            </a:pPr>
            <a:r>
              <a:rPr lang="en" sz="2100" dirty="0"/>
              <a:t>Problem Description</a:t>
            </a:r>
          </a:p>
          <a:p>
            <a:pPr marL="342900" lvl="0" indent="-298450" algn="l" rtl="0">
              <a:spcBef>
                <a:spcPts val="0"/>
              </a:spcBef>
              <a:spcAft>
                <a:spcPts val="0"/>
              </a:spcAft>
              <a:buSzPts val="2100"/>
              <a:buAutoNum type="arabicPeriod"/>
            </a:pPr>
            <a:r>
              <a:rPr lang="en" sz="2100" dirty="0"/>
              <a:t>Features </a:t>
            </a:r>
            <a:endParaRPr sz="2100" dirty="0"/>
          </a:p>
          <a:p>
            <a:pPr marL="342900" lvl="0" indent="-298450" algn="l" rtl="0">
              <a:spcBef>
                <a:spcPts val="0"/>
              </a:spcBef>
              <a:spcAft>
                <a:spcPts val="0"/>
              </a:spcAft>
              <a:buSzPts val="2100"/>
              <a:buAutoNum type="arabicPeriod"/>
            </a:pPr>
            <a:r>
              <a:rPr lang="en" sz="2100" dirty="0"/>
              <a:t>Dataset</a:t>
            </a:r>
            <a:endParaRPr sz="2100" dirty="0"/>
          </a:p>
          <a:p>
            <a:pPr marL="342900" lvl="0" indent="-298450" algn="l" rtl="0">
              <a:spcBef>
                <a:spcPts val="0"/>
              </a:spcBef>
              <a:spcAft>
                <a:spcPts val="0"/>
              </a:spcAft>
              <a:buSzPts val="2100"/>
              <a:buAutoNum type="arabicPeriod"/>
            </a:pPr>
            <a:r>
              <a:rPr lang="en" sz="2100" dirty="0"/>
              <a:t>Method and Approaches</a:t>
            </a:r>
          </a:p>
          <a:p>
            <a:pPr marL="342900" lvl="0" indent="-298450" algn="l" rtl="0">
              <a:spcBef>
                <a:spcPts val="0"/>
              </a:spcBef>
              <a:spcAft>
                <a:spcPts val="0"/>
              </a:spcAft>
              <a:buSzPts val="2100"/>
              <a:buAutoNum type="arabicPeriod"/>
            </a:pPr>
            <a:r>
              <a:rPr lang="en-IN" sz="2100" dirty="0"/>
              <a:t>Demand curve and Elasticity</a:t>
            </a:r>
          </a:p>
          <a:p>
            <a:pPr marL="342900" lvl="0" indent="-298450" algn="l" rtl="0">
              <a:spcBef>
                <a:spcPts val="0"/>
              </a:spcBef>
              <a:spcAft>
                <a:spcPts val="0"/>
              </a:spcAft>
              <a:buSzPts val="2100"/>
              <a:buAutoNum type="arabicPeriod"/>
            </a:pPr>
            <a:r>
              <a:rPr lang="en" sz="2100" dirty="0"/>
              <a:t>Experiment</a:t>
            </a:r>
          </a:p>
          <a:p>
            <a:pPr marL="342900" lvl="0" indent="-298450" algn="l" rtl="0">
              <a:spcBef>
                <a:spcPts val="0"/>
              </a:spcBef>
              <a:spcAft>
                <a:spcPts val="0"/>
              </a:spcAft>
              <a:buSzPts val="2100"/>
              <a:buAutoNum type="arabicPeriod"/>
            </a:pPr>
            <a:r>
              <a:rPr lang="en" sz="2100" dirty="0"/>
              <a:t>Results</a:t>
            </a:r>
            <a:endParaRPr sz="2100" dirty="0"/>
          </a:p>
          <a:p>
            <a:pPr marL="342900" lvl="0" indent="-298450" algn="l" rtl="0">
              <a:spcBef>
                <a:spcPts val="0"/>
              </a:spcBef>
              <a:spcAft>
                <a:spcPts val="0"/>
              </a:spcAft>
              <a:buSzPts val="2100"/>
              <a:buAutoNum type="arabicPeriod"/>
            </a:pPr>
            <a:r>
              <a:rPr lang="en" sz="2100" dirty="0"/>
              <a:t>Conclusion</a:t>
            </a:r>
            <a:endParaRPr sz="2100" dirty="0"/>
          </a:p>
          <a:p>
            <a:pPr marL="342900" lvl="0" indent="-298450" algn="l" rtl="0">
              <a:spcBef>
                <a:spcPts val="0"/>
              </a:spcBef>
              <a:spcAft>
                <a:spcPts val="0"/>
              </a:spcAft>
              <a:buSzPts val="2100"/>
              <a:buAutoNum type="arabicPeriod"/>
            </a:pPr>
            <a:r>
              <a:rPr lang="en" sz="2100" dirty="0"/>
              <a:t>Future Work </a:t>
            </a:r>
            <a:endParaRPr sz="2100" dirty="0"/>
          </a:p>
          <a:p>
            <a:pPr marL="342900" lvl="0" indent="-298450" algn="l" rtl="0">
              <a:spcBef>
                <a:spcPts val="0"/>
              </a:spcBef>
              <a:spcAft>
                <a:spcPts val="0"/>
              </a:spcAft>
              <a:buSzPts val="2100"/>
              <a:buAutoNum type="arabicPeriod"/>
            </a:pPr>
            <a:r>
              <a:rPr lang="en" sz="2100" dirty="0"/>
              <a:t>References</a:t>
            </a:r>
            <a:endParaRPr sz="2100" dirty="0"/>
          </a:p>
        </p:txBody>
      </p:sp>
      <p:sp>
        <p:nvSpPr>
          <p:cNvPr id="143" name="Google Shape;143;p26"/>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a:t>
            </a:fld>
            <a:endParaRPr/>
          </a:p>
        </p:txBody>
      </p:sp>
      <p:pic>
        <p:nvPicPr>
          <p:cNvPr id="144" name="Google Shape;144;p26"/>
          <p:cNvPicPr preferRelativeResize="0"/>
          <p:nvPr/>
        </p:nvPicPr>
        <p:blipFill>
          <a:blip r:embed="rId3">
            <a:alphaModFix/>
          </a:blip>
          <a:stretch>
            <a:fillRect/>
          </a:stretch>
        </p:blipFill>
        <p:spPr>
          <a:xfrm>
            <a:off x="0" y="0"/>
            <a:ext cx="546501" cy="514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226DA2FF-9596-E7A6-FB21-FD23C7B9FFCF}"/>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C9024977-8AD3-36B9-3956-80CF825C884A}"/>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800" dirty="0"/>
              <a:t>Introduction</a:t>
            </a:r>
            <a:endParaRPr sz="2600" b="1" dirty="0"/>
          </a:p>
        </p:txBody>
      </p:sp>
      <p:sp>
        <p:nvSpPr>
          <p:cNvPr id="143" name="Google Shape;143;p26">
            <a:extLst>
              <a:ext uri="{FF2B5EF4-FFF2-40B4-BE49-F238E27FC236}">
                <a16:creationId xmlns:a16="http://schemas.microsoft.com/office/drawing/2014/main" id="{3F2C4F34-D1A6-810B-276D-901C0876A109}"/>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a:t>
            </a:fld>
            <a:endParaRPr/>
          </a:p>
        </p:txBody>
      </p:sp>
      <p:pic>
        <p:nvPicPr>
          <p:cNvPr id="144" name="Google Shape;144;p26">
            <a:extLst>
              <a:ext uri="{FF2B5EF4-FFF2-40B4-BE49-F238E27FC236}">
                <a16:creationId xmlns:a16="http://schemas.microsoft.com/office/drawing/2014/main" id="{1AFB4000-25E5-5531-9EA3-EF51E1CCEAC6}"/>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500A5715-6205-3B3C-0CFC-BF0F74839DEA}"/>
              </a:ext>
            </a:extLst>
          </p:cNvPr>
          <p:cNvSpPr>
            <a:spLocks noGrp="1"/>
          </p:cNvSpPr>
          <p:nvPr>
            <p:ph type="body" idx="1"/>
          </p:nvPr>
        </p:nvSpPr>
        <p:spPr/>
        <p:txBody>
          <a:bodyPr/>
          <a:lstStyle/>
          <a:p>
            <a:pPr>
              <a:buFont typeface="Arial" panose="020B0604020202020204" pitchFamily="34" charset="0"/>
              <a:buChar char="•"/>
            </a:pPr>
            <a:r>
              <a:rPr lang="en-US" dirty="0"/>
              <a:t>Traditional Economic Theory The </a:t>
            </a:r>
            <a:r>
              <a:rPr lang="en-US" b="1" dirty="0"/>
              <a:t>law of demand</a:t>
            </a:r>
            <a:r>
              <a:rPr lang="en-US" dirty="0"/>
              <a:t> explains that higher prices reduce demand, resulting in a downward-sloping demand curve.</a:t>
            </a:r>
          </a:p>
          <a:p>
            <a:pPr marL="114300" indent="0">
              <a:buNone/>
            </a:pPr>
            <a:endParaRPr lang="en-US" dirty="0"/>
          </a:p>
          <a:p>
            <a:pPr>
              <a:buFont typeface="Arial" panose="020B0604020202020204" pitchFamily="34" charset="0"/>
              <a:buChar char="•"/>
            </a:pPr>
            <a:r>
              <a:rPr lang="en-US" b="1" dirty="0"/>
              <a:t>Significance:</a:t>
            </a:r>
            <a:endParaRPr lang="en-US" dirty="0"/>
          </a:p>
          <a:p>
            <a:pPr marL="742950" lvl="1" indent="-285750">
              <a:buFont typeface="Arial" panose="020B0604020202020204" pitchFamily="34" charset="0"/>
              <a:buChar char="•"/>
            </a:pPr>
            <a:r>
              <a:rPr lang="en-US" dirty="0"/>
              <a:t>Price-setting strategies</a:t>
            </a:r>
          </a:p>
          <a:p>
            <a:pPr marL="742950" lvl="1" indent="-285750">
              <a:buFont typeface="Arial" panose="020B0604020202020204" pitchFamily="34" charset="0"/>
              <a:buChar char="•"/>
            </a:pPr>
            <a:r>
              <a:rPr lang="en-US" dirty="0"/>
              <a:t>Supply chain optimization</a:t>
            </a:r>
          </a:p>
          <a:p>
            <a:pPr marL="742950" lvl="1" indent="-285750">
              <a:buFont typeface="Arial" panose="020B0604020202020204" pitchFamily="34" charset="0"/>
              <a:buChar char="•"/>
            </a:pPr>
            <a:r>
              <a:rPr lang="en-US" dirty="0"/>
              <a:t>Production planning</a:t>
            </a:r>
          </a:p>
          <a:p>
            <a:pPr marL="742950" lvl="1" indent="-285750">
              <a:buFont typeface="Arial" panose="020B0604020202020204" pitchFamily="34" charset="0"/>
              <a:buChar char="•"/>
            </a:pPr>
            <a:r>
              <a:rPr lang="en-US" dirty="0"/>
              <a:t>Promotional Strategy</a:t>
            </a:r>
          </a:p>
          <a:p>
            <a:pPr marL="742950" lvl="1" indent="-285750">
              <a:buFont typeface="Arial" panose="020B0604020202020204" pitchFamily="34" charset="0"/>
              <a:buChar char="•"/>
            </a:pPr>
            <a:r>
              <a:rPr lang="en-US" dirty="0"/>
              <a:t>Future Predictions </a:t>
            </a:r>
          </a:p>
          <a:p>
            <a:pPr marL="742950" lvl="1" indent="-285750">
              <a:buFont typeface="Arial" panose="020B0604020202020204" pitchFamily="34" charset="0"/>
              <a:buChar char="•"/>
            </a:pPr>
            <a:r>
              <a:rPr lang="en-US" dirty="0"/>
              <a:t>Value of Your Product</a:t>
            </a:r>
          </a:p>
          <a:p>
            <a:endParaRPr lang="en-IN" dirty="0"/>
          </a:p>
        </p:txBody>
      </p:sp>
      <p:pic>
        <p:nvPicPr>
          <p:cNvPr id="5" name="Picture 4">
            <a:extLst>
              <a:ext uri="{FF2B5EF4-FFF2-40B4-BE49-F238E27FC236}">
                <a16:creationId xmlns:a16="http://schemas.microsoft.com/office/drawing/2014/main" id="{6755F400-6881-F085-36A2-4299868F7649}"/>
              </a:ext>
            </a:extLst>
          </p:cNvPr>
          <p:cNvPicPr>
            <a:picLocks noChangeAspect="1"/>
          </p:cNvPicPr>
          <p:nvPr/>
        </p:nvPicPr>
        <p:blipFill>
          <a:blip r:embed="rId4"/>
          <a:stretch>
            <a:fillRect/>
          </a:stretch>
        </p:blipFill>
        <p:spPr>
          <a:xfrm>
            <a:off x="5373369" y="1806497"/>
            <a:ext cx="3114915" cy="2025921"/>
          </a:xfrm>
          <a:prstGeom prst="rect">
            <a:avLst/>
          </a:prstGeom>
        </p:spPr>
      </p:pic>
    </p:spTree>
    <p:extLst>
      <p:ext uri="{BB962C8B-B14F-4D97-AF65-F5344CB8AC3E}">
        <p14:creationId xmlns:p14="http://schemas.microsoft.com/office/powerpoint/2010/main" val="502076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0E3734EE-425A-3993-5277-CD3CA37E466C}"/>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F9A41F60-B331-679A-A566-991EA8F27D20}"/>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US" sz="2000" dirty="0"/>
              <a:t>Challenges in Modern Markets</a:t>
            </a:r>
            <a:endParaRPr sz="2600" b="1" dirty="0"/>
          </a:p>
        </p:txBody>
      </p:sp>
      <p:sp>
        <p:nvSpPr>
          <p:cNvPr id="143" name="Google Shape;143;p26">
            <a:extLst>
              <a:ext uri="{FF2B5EF4-FFF2-40B4-BE49-F238E27FC236}">
                <a16:creationId xmlns:a16="http://schemas.microsoft.com/office/drawing/2014/main" id="{6853712B-3AF9-16FD-651B-AD1F4696CD66}"/>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4</a:t>
            </a:fld>
            <a:endParaRPr/>
          </a:p>
        </p:txBody>
      </p:sp>
      <p:pic>
        <p:nvPicPr>
          <p:cNvPr id="144" name="Google Shape;144;p26">
            <a:extLst>
              <a:ext uri="{FF2B5EF4-FFF2-40B4-BE49-F238E27FC236}">
                <a16:creationId xmlns:a16="http://schemas.microsoft.com/office/drawing/2014/main" id="{C5DA0AA0-86A7-0F1A-9B55-319AF4CFA15A}"/>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359202AD-A75F-C326-3E97-670FBA67C9F7}"/>
              </a:ext>
            </a:extLst>
          </p:cNvPr>
          <p:cNvSpPr>
            <a:spLocks noGrp="1"/>
          </p:cNvSpPr>
          <p:nvPr>
            <p:ph type="body" idx="1"/>
          </p:nvPr>
        </p:nvSpPr>
        <p:spPr/>
        <p:txBody>
          <a:bodyPr>
            <a:normAutofit/>
          </a:bodyPr>
          <a:lstStyle/>
          <a:p>
            <a:pPr marL="114300" indent="0">
              <a:buNone/>
            </a:pPr>
            <a:endParaRPr lang="en-US" dirty="0"/>
          </a:p>
        </p:txBody>
      </p:sp>
      <p:pic>
        <p:nvPicPr>
          <p:cNvPr id="6" name="Picture 5">
            <a:extLst>
              <a:ext uri="{FF2B5EF4-FFF2-40B4-BE49-F238E27FC236}">
                <a16:creationId xmlns:a16="http://schemas.microsoft.com/office/drawing/2014/main" id="{C9CA1079-0CB2-E1A9-C3C7-117B7BD3D812}"/>
              </a:ext>
            </a:extLst>
          </p:cNvPr>
          <p:cNvPicPr>
            <a:picLocks noChangeAspect="1"/>
          </p:cNvPicPr>
          <p:nvPr/>
        </p:nvPicPr>
        <p:blipFill>
          <a:blip r:embed="rId4"/>
          <a:stretch>
            <a:fillRect/>
          </a:stretch>
        </p:blipFill>
        <p:spPr>
          <a:xfrm>
            <a:off x="5538439" y="1566862"/>
            <a:ext cx="3300761" cy="2009775"/>
          </a:xfrm>
          <a:prstGeom prst="rect">
            <a:avLst/>
          </a:prstGeom>
        </p:spPr>
      </p:pic>
      <p:sp>
        <p:nvSpPr>
          <p:cNvPr id="7" name="Rectangle 4">
            <a:extLst>
              <a:ext uri="{FF2B5EF4-FFF2-40B4-BE49-F238E27FC236}">
                <a16:creationId xmlns:a16="http://schemas.microsoft.com/office/drawing/2014/main" id="{6975098C-6D9E-A373-7CAC-94918651E280}"/>
              </a:ext>
            </a:extLst>
          </p:cNvPr>
          <p:cNvSpPr>
            <a:spLocks noChangeArrowheads="1"/>
          </p:cNvSpPr>
          <p:nvPr/>
        </p:nvSpPr>
        <p:spPr bwMode="auto">
          <a:xfrm>
            <a:off x="304800" y="1318379"/>
            <a:ext cx="483962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New Products</a:t>
            </a:r>
            <a:r>
              <a:rPr kumimoji="0" lang="en-US" altLang="en-US" sz="1800" b="0" i="0" u="none" strike="noStrike" cap="none" normalizeH="0" baseline="0" dirty="0">
                <a:ln>
                  <a:noFill/>
                </a:ln>
                <a:solidFill>
                  <a:schemeClr val="tx1"/>
                </a:solidFill>
                <a:effectLst/>
                <a:latin typeface="Arial" panose="020B0604020202020204" pitchFamily="34" charset="0"/>
              </a:rPr>
              <a:t>: Priced low initially to attract buyers, with demand often less sensitive to price.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Established Brands</a:t>
            </a:r>
            <a:r>
              <a:rPr kumimoji="0" lang="en-US" altLang="en-US" sz="1800" b="0" i="0" u="none" strike="noStrike" cap="none" normalizeH="0" baseline="0" dirty="0">
                <a:ln>
                  <a:noFill/>
                </a:ln>
                <a:solidFill>
                  <a:schemeClr val="tx1"/>
                </a:solidFill>
                <a:effectLst/>
                <a:latin typeface="Arial" panose="020B0604020202020204" pitchFamily="34" charset="0"/>
              </a:rPr>
              <a:t>: Keep high prices with steady demand due to strong trust and loyalty.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Luxury Goods</a:t>
            </a:r>
            <a:r>
              <a:rPr kumimoji="0" lang="en-US" altLang="en-US" sz="1800" b="0" i="0" u="none" strike="noStrike" cap="none" normalizeH="0" baseline="0" dirty="0">
                <a:ln>
                  <a:noFill/>
                </a:ln>
                <a:solidFill>
                  <a:schemeClr val="tx1"/>
                </a:solidFill>
                <a:effectLst/>
                <a:latin typeface="Arial" panose="020B0604020202020204" pitchFamily="34" charset="0"/>
              </a:rPr>
              <a:t>: Higher prices can increase demand due to their exclusivity.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ü"/>
              <a:tabLst/>
            </a:pPr>
            <a:r>
              <a:rPr kumimoji="0" lang="en-US" altLang="en-US" sz="1800" b="1" i="0" u="none" strike="noStrike" cap="none" normalizeH="0" baseline="0" dirty="0">
                <a:ln>
                  <a:noFill/>
                </a:ln>
                <a:solidFill>
                  <a:schemeClr val="tx1"/>
                </a:solidFill>
                <a:effectLst/>
                <a:latin typeface="Arial" panose="020B0604020202020204" pitchFamily="34" charset="0"/>
              </a:rPr>
              <a:t>Smaller Brands</a:t>
            </a:r>
            <a:r>
              <a:rPr kumimoji="0" lang="en-US" altLang="en-US" sz="1800" b="0" i="0" u="none" strike="noStrike" cap="none" normalizeH="0" baseline="0" dirty="0">
                <a:ln>
                  <a:noFill/>
                </a:ln>
                <a:solidFill>
                  <a:schemeClr val="tx1"/>
                </a:solidFill>
                <a:effectLst/>
                <a:latin typeface="Arial" panose="020B0604020202020204" pitchFamily="34" charset="0"/>
              </a:rPr>
              <a:t>: Price increases can disrupt demand due to weaker loyalty and value perception </a:t>
            </a:r>
          </a:p>
        </p:txBody>
      </p:sp>
    </p:spTree>
    <p:extLst>
      <p:ext uri="{BB962C8B-B14F-4D97-AF65-F5344CB8AC3E}">
        <p14:creationId xmlns:p14="http://schemas.microsoft.com/office/powerpoint/2010/main" val="36205125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6EA02C9E-6D08-698F-DD0E-F1E57564FE9A}"/>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93E23681-155A-7A80-AEAB-A1A8D15C9F7F}"/>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kumimoji="0" lang="en-US" altLang="en-US" sz="2800" b="1" i="0" u="none" strike="noStrike" cap="none" normalizeH="0" baseline="0" dirty="0">
                <a:ln>
                  <a:noFill/>
                </a:ln>
                <a:solidFill>
                  <a:schemeClr val="tx1"/>
                </a:solidFill>
                <a:effectLst/>
                <a:latin typeface="Arial" panose="020B0604020202020204" pitchFamily="34" charset="0"/>
              </a:rPr>
              <a:t>Proposed Solution</a:t>
            </a:r>
            <a:endParaRPr sz="2600" b="1" dirty="0"/>
          </a:p>
        </p:txBody>
      </p:sp>
      <p:sp>
        <p:nvSpPr>
          <p:cNvPr id="143" name="Google Shape;143;p26">
            <a:extLst>
              <a:ext uri="{FF2B5EF4-FFF2-40B4-BE49-F238E27FC236}">
                <a16:creationId xmlns:a16="http://schemas.microsoft.com/office/drawing/2014/main" id="{6BBD6CBA-961D-FC48-D130-85A7E95E8EE1}"/>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5</a:t>
            </a:fld>
            <a:endParaRPr/>
          </a:p>
        </p:txBody>
      </p:sp>
      <p:pic>
        <p:nvPicPr>
          <p:cNvPr id="144" name="Google Shape;144;p26">
            <a:extLst>
              <a:ext uri="{FF2B5EF4-FFF2-40B4-BE49-F238E27FC236}">
                <a16:creationId xmlns:a16="http://schemas.microsoft.com/office/drawing/2014/main" id="{F8B81D4D-E5C2-8802-DB9F-6F2C9E995050}"/>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2" name="Text Placeholder 1">
            <a:extLst>
              <a:ext uri="{FF2B5EF4-FFF2-40B4-BE49-F238E27FC236}">
                <a16:creationId xmlns:a16="http://schemas.microsoft.com/office/drawing/2014/main" id="{E85292C7-B00E-FFBD-3FCF-185A0436B4BB}"/>
              </a:ext>
            </a:extLst>
          </p:cNvPr>
          <p:cNvSpPr>
            <a:spLocks noGrp="1" noChangeArrowheads="1"/>
          </p:cNvSpPr>
          <p:nvPr>
            <p:ph type="body" idx="1"/>
          </p:nvPr>
        </p:nvSpPr>
        <p:spPr bwMode="auto">
          <a:xfrm>
            <a:off x="304801" y="758041"/>
            <a:ext cx="600455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 a </a:t>
            </a:r>
            <a:r>
              <a:rPr kumimoji="0" lang="en-US" altLang="en-US" sz="1800" b="1" i="0" u="none" strike="noStrike" cap="none" normalizeH="0" baseline="0" dirty="0">
                <a:ln>
                  <a:noFill/>
                </a:ln>
                <a:solidFill>
                  <a:schemeClr val="tx1"/>
                </a:solidFill>
                <a:effectLst/>
                <a:latin typeface="Arial" panose="020B0604020202020204" pitchFamily="34" charset="0"/>
              </a:rPr>
              <a:t>non-linear regression model</a:t>
            </a:r>
            <a:r>
              <a:rPr kumimoji="0" lang="en-US" altLang="en-US" sz="1800" b="0" i="0" u="none" strike="noStrike" cap="none" normalizeH="0" baseline="0" dirty="0">
                <a:ln>
                  <a:noFill/>
                </a:ln>
                <a:solidFill>
                  <a:schemeClr val="tx1"/>
                </a:solidFill>
                <a:effectLst/>
                <a:latin typeface="Arial" panose="020B0604020202020204" pitchFamily="34" charset="0"/>
              </a:rPr>
              <a:t> that incorporates: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Weighted variables</a:t>
            </a:r>
            <a:r>
              <a:rPr kumimoji="0" lang="en-US" altLang="en-US" sz="1800" b="0" i="0" u="none" strike="noStrike" cap="none" normalizeH="0" baseline="0" dirty="0">
                <a:ln>
                  <a:noFill/>
                </a:ln>
                <a:solidFill>
                  <a:schemeClr val="tx1"/>
                </a:solidFill>
                <a:effectLst/>
                <a:latin typeface="Arial" panose="020B0604020202020204" pitchFamily="34" charset="0"/>
              </a:rPr>
              <a:t> for price and non-price factors.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Behavioral indicators such as brand strength and exclusivity perception.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Constraints</a:t>
            </a:r>
            <a:r>
              <a:rPr kumimoji="0" lang="en-US" altLang="en-US" sz="1800" b="0" i="0" u="none" strike="noStrike" cap="none" normalizeH="0" baseline="0" dirty="0">
                <a:ln>
                  <a:noFill/>
                </a:ln>
                <a:solidFill>
                  <a:schemeClr val="tx1"/>
                </a:solidFill>
                <a:effectLst/>
                <a:latin typeface="Arial" panose="020B0604020202020204" pitchFamily="34" charset="0"/>
              </a:rPr>
              <a:t> to align with traditional economic principles (e.g., negative slope for primary price variables).</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Key Insights: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indent="-285750" eaLnBrk="0" fontAlgn="base" hangingPunct="0">
              <a:spcBef>
                <a:spcPct val="0"/>
              </a:spcBef>
              <a:spcAft>
                <a:spcPct val="0"/>
              </a:spcAft>
              <a:buClrTx/>
              <a:buSzTx/>
              <a:buFont typeface="Courier New" panose="02070309020205020404" pitchFamily="49" charset="0"/>
              <a:buChar char="o"/>
            </a:pPr>
            <a:r>
              <a:rPr kumimoji="0" lang="en-US" altLang="en-US" sz="1800" b="0" i="0" u="none" strike="noStrike" cap="none" normalizeH="0" baseline="0" dirty="0">
                <a:ln>
                  <a:noFill/>
                </a:ln>
                <a:solidFill>
                  <a:schemeClr val="tx1"/>
                </a:solidFill>
                <a:effectLst/>
                <a:latin typeface="Arial" panose="020B0604020202020204" pitchFamily="34" charset="0"/>
              </a:rPr>
              <a:t>Captures real-world deviations in consumer behavior.</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800" b="0" i="0" u="none" strike="noStrike" cap="none" normalizeH="0" baseline="0" dirty="0">
                <a:ln>
                  <a:noFill/>
                </a:ln>
                <a:solidFill>
                  <a:schemeClr val="tx1"/>
                </a:solidFill>
                <a:effectLst/>
                <a:latin typeface="Arial" panose="020B0604020202020204" pitchFamily="34" charset="0"/>
              </a:rPr>
              <a:t>Offers insights for How market behaves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6FC5287C-3991-7470-2A09-1DE5072EF365}"/>
              </a:ext>
            </a:extLst>
          </p:cNvPr>
          <p:cNvPicPr>
            <a:picLocks noChangeAspect="1"/>
          </p:cNvPicPr>
          <p:nvPr/>
        </p:nvPicPr>
        <p:blipFill>
          <a:blip r:embed="rId4"/>
          <a:stretch>
            <a:fillRect/>
          </a:stretch>
        </p:blipFill>
        <p:spPr>
          <a:xfrm>
            <a:off x="6195060" y="1900507"/>
            <a:ext cx="2880360" cy="2064949"/>
          </a:xfrm>
          <a:prstGeom prst="rect">
            <a:avLst/>
          </a:prstGeom>
        </p:spPr>
      </p:pic>
    </p:spTree>
    <p:extLst>
      <p:ext uri="{BB962C8B-B14F-4D97-AF65-F5344CB8AC3E}">
        <p14:creationId xmlns:p14="http://schemas.microsoft.com/office/powerpoint/2010/main" val="2268781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7A63C7DA-18EA-C734-9C7A-E13980767297}"/>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D350F1C1-7B05-EF9B-7DF8-51825F433F1F}"/>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Problem Description</a:t>
            </a:r>
            <a:endParaRPr sz="2600" b="1" dirty="0"/>
          </a:p>
        </p:txBody>
      </p:sp>
      <p:sp>
        <p:nvSpPr>
          <p:cNvPr id="143" name="Google Shape;143;p26">
            <a:extLst>
              <a:ext uri="{FF2B5EF4-FFF2-40B4-BE49-F238E27FC236}">
                <a16:creationId xmlns:a16="http://schemas.microsoft.com/office/drawing/2014/main" id="{15D5D938-F8EC-7B32-FE97-392C5F80ECE6}"/>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6</a:t>
            </a:fld>
            <a:endParaRPr/>
          </a:p>
        </p:txBody>
      </p:sp>
      <p:pic>
        <p:nvPicPr>
          <p:cNvPr id="144" name="Google Shape;144;p26">
            <a:extLst>
              <a:ext uri="{FF2B5EF4-FFF2-40B4-BE49-F238E27FC236}">
                <a16:creationId xmlns:a16="http://schemas.microsoft.com/office/drawing/2014/main" id="{5D1E73EE-049E-E3C4-ABB8-0C12F8B1D115}"/>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10" name="Rectangle 7">
            <a:extLst>
              <a:ext uri="{FF2B5EF4-FFF2-40B4-BE49-F238E27FC236}">
                <a16:creationId xmlns:a16="http://schemas.microsoft.com/office/drawing/2014/main" id="{32643FEB-12F1-570F-6B19-43A34C1925E0}"/>
              </a:ext>
            </a:extLst>
          </p:cNvPr>
          <p:cNvSpPr>
            <a:spLocks noGrp="1" noChangeArrowheads="1"/>
          </p:cNvSpPr>
          <p:nvPr>
            <p:ph type="body" idx="1"/>
          </p:nvPr>
        </p:nvSpPr>
        <p:spPr bwMode="auto">
          <a:xfrm>
            <a:off x="304800" y="758043"/>
            <a:ext cx="851953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Traditional models assume an </a:t>
            </a:r>
            <a:r>
              <a:rPr kumimoji="0" lang="en-US" altLang="en-US" sz="1800" b="1" i="0" u="none" strike="noStrike" cap="none" normalizeH="0" baseline="0" dirty="0">
                <a:ln>
                  <a:noFill/>
                </a:ln>
                <a:solidFill>
                  <a:schemeClr val="tx1"/>
                </a:solidFill>
                <a:effectLst/>
                <a:latin typeface="Arial" panose="020B0604020202020204" pitchFamily="34" charset="0"/>
              </a:rPr>
              <a:t>inverse price-demand relationship</a:t>
            </a:r>
            <a:r>
              <a:rPr kumimoji="0" lang="en-US" altLang="en-US" sz="1800" b="0" i="0" u="none" strike="noStrike" cap="none" normalizeH="0" baseline="0" dirty="0">
                <a:ln>
                  <a:noFill/>
                </a:ln>
                <a:solidFill>
                  <a:schemeClr val="tx1"/>
                </a:solidFill>
                <a:effectLst/>
                <a:latin typeface="Arial" panose="020B0604020202020204" pitchFamily="34" charset="0"/>
              </a:rPr>
              <a:t>, often oversimplifying market dynamics and not always fit as they are actually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Modern challenges: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ClrTx/>
              <a:buSzTx/>
              <a:buFont typeface="Courier New" panose="02070309020205020404" pitchFamily="49" charset="0"/>
              <a:buChar char="o"/>
            </a:pPr>
            <a:r>
              <a:rPr kumimoji="0" lang="en-US" altLang="en-US" b="0" i="0" u="none" strike="noStrike" cap="none" normalizeH="0" baseline="0" dirty="0">
                <a:ln>
                  <a:noFill/>
                </a:ln>
                <a:solidFill>
                  <a:schemeClr val="tx1"/>
                </a:solidFill>
                <a:effectLst/>
                <a:latin typeface="Arial" panose="020B0604020202020204" pitchFamily="34" charset="0"/>
              </a:rPr>
              <a:t>Non-linear demand patterns (e.g., luxury goods, stable brands, new launches).</a:t>
            </a:r>
          </a:p>
          <a:p>
            <a:pPr marL="742950" lvl="1" indent="-285750" eaLnBrk="0" fontAlgn="base" hangingPunct="0">
              <a:spcBef>
                <a:spcPct val="0"/>
              </a:spcBef>
              <a:spcAft>
                <a:spcPct val="0"/>
              </a:spcAft>
              <a:buClrTx/>
              <a:buSzTx/>
              <a:buFont typeface="Courier New" panose="02070309020205020404" pitchFamily="49" charset="0"/>
              <a:buChar char="o"/>
            </a:pPr>
            <a:r>
              <a:rPr kumimoji="0" lang="en-US" altLang="en-US" b="0" i="0" u="none" strike="noStrike" cap="none" normalizeH="0" baseline="0" dirty="0">
                <a:ln>
                  <a:noFill/>
                </a:ln>
                <a:solidFill>
                  <a:schemeClr val="tx1"/>
                </a:solidFill>
                <a:effectLst/>
                <a:latin typeface="Arial" panose="020B0604020202020204" pitchFamily="34" charset="0"/>
              </a:rPr>
              <a:t>Behavioral factors like </a:t>
            </a:r>
            <a:r>
              <a:rPr kumimoji="0" lang="en-US" altLang="en-US" b="1" i="0" u="none" strike="noStrike" cap="none" normalizeH="0" baseline="0" dirty="0">
                <a:ln>
                  <a:noFill/>
                </a:ln>
                <a:solidFill>
                  <a:schemeClr val="tx1"/>
                </a:solidFill>
                <a:effectLst/>
                <a:latin typeface="Arial" panose="020B0604020202020204" pitchFamily="34" charset="0"/>
              </a:rPr>
              <a:t>brand loyalty</a:t>
            </a:r>
            <a:r>
              <a:rPr kumimoji="0" lang="en-US" altLang="en-US" b="0" i="0" u="none" strike="noStrike" cap="none" normalizeH="0" baseline="0" dirty="0">
                <a:ln>
                  <a:noFill/>
                </a:ln>
                <a:solidFill>
                  <a:schemeClr val="tx1"/>
                </a:solidFill>
                <a:effectLst/>
                <a:latin typeface="Arial" panose="020B0604020202020204" pitchFamily="34" charset="0"/>
              </a:rPr>
              <a:t> and </a:t>
            </a:r>
            <a:r>
              <a:rPr lang="en-US" altLang="en-US" b="1" dirty="0">
                <a:solidFill>
                  <a:schemeClr val="tx1"/>
                </a:solidFill>
                <a:latin typeface="Arial" panose="020B0604020202020204" pitchFamily="34" charset="0"/>
              </a:rPr>
              <a:t>Competition impact</a:t>
            </a:r>
            <a:r>
              <a:rPr kumimoji="0" lang="en-US" altLang="en-US" b="0" i="0" u="none" strike="noStrike" cap="none" normalizeH="0" baseline="0" dirty="0">
                <a:ln>
                  <a:noFill/>
                </a:ln>
                <a:solidFill>
                  <a:schemeClr val="tx1"/>
                </a:solidFill>
                <a:effectLst/>
                <a:latin typeface="Arial" panose="020B0604020202020204" pitchFamily="34" charset="0"/>
              </a:rPr>
              <a:t>.</a:t>
            </a:r>
          </a:p>
          <a:p>
            <a:pPr marL="742950" lvl="1" indent="-285750" eaLnBrk="0" fontAlgn="base" hangingPunct="0">
              <a:spcBef>
                <a:spcPct val="0"/>
              </a:spcBef>
              <a:spcAft>
                <a:spcPct val="0"/>
              </a:spcAft>
              <a:buClrTx/>
              <a:buSzTx/>
              <a:buFont typeface="Courier New" panose="02070309020205020404" pitchFamily="49" charset="0"/>
              <a:buChar char="o"/>
            </a:pPr>
            <a:r>
              <a:rPr kumimoji="0" lang="en-US" altLang="en-US" b="0" i="0" u="none" strike="noStrike" cap="none" normalizeH="0" baseline="0" dirty="0">
                <a:ln>
                  <a:noFill/>
                </a:ln>
                <a:solidFill>
                  <a:schemeClr val="tx1"/>
                </a:solidFill>
                <a:effectLst/>
                <a:latin typeface="Arial" panose="020B0604020202020204" pitchFamily="34" charset="0"/>
              </a:rPr>
              <a:t>Linear approaches fail to predict demand accurately in </a:t>
            </a:r>
            <a:r>
              <a:rPr kumimoji="0" lang="en-US" altLang="en-US" b="1" i="0" u="none" strike="noStrike" cap="none" normalizeH="0" baseline="0" dirty="0">
                <a:ln>
                  <a:noFill/>
                </a:ln>
                <a:solidFill>
                  <a:schemeClr val="tx1"/>
                </a:solidFill>
                <a:effectLst/>
                <a:latin typeface="Arial" panose="020B0604020202020204" pitchFamily="34" charset="0"/>
              </a:rPr>
              <a:t>complex, dynamic markets </a:t>
            </a:r>
            <a:r>
              <a:rPr kumimoji="0" lang="en-US" altLang="en-US" i="0" u="none" strike="noStrike" cap="none" normalizeH="0" baseline="0" dirty="0">
                <a:ln>
                  <a:noFill/>
                </a:ln>
                <a:solidFill>
                  <a:schemeClr val="tx1"/>
                </a:solidFill>
                <a:effectLst/>
                <a:latin typeface="Arial" panose="020B0604020202020204" pitchFamily="34" charset="0"/>
              </a:rPr>
              <a:t>as of reasons </a:t>
            </a:r>
            <a:r>
              <a:rPr lang="en-US" altLang="en-US" dirty="0">
                <a:solidFill>
                  <a:schemeClr val="tx1"/>
                </a:solidFill>
                <a:latin typeface="Arial" panose="020B0604020202020204" pitchFamily="34" charset="0"/>
              </a:rPr>
              <a:t>it sometimes give positive relationship of price</a:t>
            </a:r>
            <a:r>
              <a:rPr kumimoji="0" lang="en-US" altLang="en-US" i="0" u="none" strike="noStrike" cap="none" normalizeH="0" baseline="0" dirty="0">
                <a:ln>
                  <a:noFill/>
                </a:ln>
                <a:solidFill>
                  <a:schemeClr val="tx1"/>
                </a:solidFill>
                <a:effectLst/>
                <a:latin typeface="Arial" panose="020B060402020202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1" i="0" u="none" strike="noStrike" cap="none" normalizeH="0" baseline="0" dirty="0">
                <a:ln>
                  <a:noFill/>
                </a:ln>
                <a:solidFill>
                  <a:schemeClr val="tx1"/>
                </a:solidFill>
                <a:effectLst/>
                <a:latin typeface="Arial" panose="020B0604020202020204" pitchFamily="34" charset="0"/>
              </a:rPr>
              <a:t>Key Requirement:</a:t>
            </a:r>
          </a:p>
          <a:p>
            <a:pPr marL="742950" lvl="1" indent="-285750" eaLnBrk="0" fontAlgn="base" hangingPunct="0">
              <a:spcBef>
                <a:spcPct val="0"/>
              </a:spcBef>
              <a:spcAft>
                <a:spcPct val="0"/>
              </a:spcAft>
              <a:buClrTx/>
              <a:buSzTx/>
              <a:buFont typeface="Courier New" panose="02070309020205020404" pitchFamily="49" charset="0"/>
              <a:buChar char="o"/>
            </a:pPr>
            <a:r>
              <a:rPr kumimoji="0" lang="en-US" altLang="en-US" b="0" i="0" u="none" strike="noStrike" cap="none" normalizeH="0" baseline="0" dirty="0">
                <a:ln>
                  <a:noFill/>
                </a:ln>
                <a:solidFill>
                  <a:schemeClr val="tx1"/>
                </a:solidFill>
                <a:effectLst/>
                <a:latin typeface="Arial" panose="020B0604020202020204" pitchFamily="34" charset="0"/>
              </a:rPr>
              <a:t>A flexible model integrating price, non-price factors, and non-linear behaviors. </a:t>
            </a:r>
          </a:p>
        </p:txBody>
      </p:sp>
    </p:spTree>
    <p:extLst>
      <p:ext uri="{BB962C8B-B14F-4D97-AF65-F5344CB8AC3E}">
        <p14:creationId xmlns:p14="http://schemas.microsoft.com/office/powerpoint/2010/main" val="4153738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116CF4C3-21BC-5846-6CAA-4DB554DF8F3D}"/>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AD9BF3D4-E720-F506-9DA5-206945616E07}"/>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Features</a:t>
            </a:r>
            <a:endParaRPr sz="2600" b="1" dirty="0"/>
          </a:p>
        </p:txBody>
      </p:sp>
      <p:sp>
        <p:nvSpPr>
          <p:cNvPr id="143" name="Google Shape;143;p26">
            <a:extLst>
              <a:ext uri="{FF2B5EF4-FFF2-40B4-BE49-F238E27FC236}">
                <a16:creationId xmlns:a16="http://schemas.microsoft.com/office/drawing/2014/main" id="{10EB0291-A362-13F6-939E-9BC30D357455}"/>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7</a:t>
            </a:fld>
            <a:endParaRPr/>
          </a:p>
        </p:txBody>
      </p:sp>
      <p:pic>
        <p:nvPicPr>
          <p:cNvPr id="144" name="Google Shape;144;p26">
            <a:extLst>
              <a:ext uri="{FF2B5EF4-FFF2-40B4-BE49-F238E27FC236}">
                <a16:creationId xmlns:a16="http://schemas.microsoft.com/office/drawing/2014/main" id="{F7DCA6A8-42DE-FC4F-0C11-E3D6FDDAE998}"/>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471FBF0D-95AF-702F-9431-1DBDF525B150}"/>
              </a:ext>
            </a:extLst>
          </p:cNvPr>
          <p:cNvSpPr>
            <a:spLocks noGrp="1"/>
          </p:cNvSpPr>
          <p:nvPr>
            <p:ph type="body" idx="1"/>
          </p:nvPr>
        </p:nvSpPr>
        <p:spPr/>
        <p:txBody>
          <a:bodyPr/>
          <a:lstStyle/>
          <a:p>
            <a:pPr marL="114300" indent="0">
              <a:buNone/>
            </a:pPr>
            <a:r>
              <a:rPr lang="en-US" b="1" dirty="0"/>
              <a:t>1. Price (PPL)</a:t>
            </a:r>
            <a:endParaRPr lang="en-US" dirty="0"/>
          </a:p>
          <a:p>
            <a:pPr>
              <a:buFont typeface="Arial" panose="020B0604020202020204" pitchFamily="34" charset="0"/>
              <a:buChar char="•"/>
            </a:pPr>
            <a:r>
              <a:rPr lang="en-US" dirty="0"/>
              <a:t>Price per Liter (PPL) is a key factor in measuring brand or pack performance.</a:t>
            </a:r>
          </a:p>
          <a:p>
            <a:pPr>
              <a:buFont typeface="Arial" panose="020B0604020202020204" pitchFamily="34" charset="0"/>
              <a:buChar char="•"/>
            </a:pPr>
            <a:r>
              <a:rPr lang="en-US" dirty="0"/>
              <a:t>Higher prices typically lead to lower volume, reflecting price sensitivity.</a:t>
            </a:r>
          </a:p>
          <a:p>
            <a:pPr>
              <a:buFont typeface="Arial" panose="020B0604020202020204" pitchFamily="34" charset="0"/>
              <a:buChar char="•"/>
            </a:pPr>
            <a:r>
              <a:rPr lang="en-US" dirty="0"/>
              <a:t>Models the non-linear relationship between price and volume.</a:t>
            </a:r>
          </a:p>
          <a:p>
            <a:pPr marL="114300" indent="0">
              <a:buNone/>
            </a:pPr>
            <a:endParaRPr lang="en-US" dirty="0"/>
          </a:p>
          <a:p>
            <a:pPr marL="114300" indent="0">
              <a:buNone/>
            </a:pPr>
            <a:r>
              <a:rPr lang="en-US" b="1" dirty="0"/>
              <a:t>2. Competitive Pricing</a:t>
            </a:r>
            <a:endParaRPr lang="en-US" dirty="0"/>
          </a:p>
          <a:p>
            <a:pPr>
              <a:buFont typeface="Arial" panose="020B0604020202020204" pitchFamily="34" charset="0"/>
              <a:buChar char="•"/>
            </a:pPr>
            <a:r>
              <a:rPr lang="en-US" b="1" dirty="0"/>
              <a:t>Cannibalization Price</a:t>
            </a:r>
            <a:r>
              <a:rPr lang="en-US" dirty="0"/>
              <a:t>: Examines how the price of one product affects the volume of another within the same Pack/Brand/Variant.</a:t>
            </a:r>
          </a:p>
          <a:p>
            <a:pPr>
              <a:buFont typeface="Arial" panose="020B0604020202020204" pitchFamily="34" charset="0"/>
              <a:buChar char="•"/>
            </a:pPr>
            <a:r>
              <a:rPr lang="en-US" b="1" dirty="0"/>
              <a:t>Direct Competition Price</a:t>
            </a:r>
            <a:r>
              <a:rPr lang="en-US" dirty="0"/>
              <a:t>: Measures the impact of competitor prices on demand in same channel .</a:t>
            </a:r>
          </a:p>
          <a:p>
            <a:pPr>
              <a:buFont typeface="Arial" panose="020B0604020202020204" pitchFamily="34" charset="0"/>
              <a:buChar char="•"/>
            </a:pPr>
            <a:r>
              <a:rPr lang="en-US" b="1" dirty="0"/>
              <a:t>Indirect Competition Price</a:t>
            </a:r>
            <a:r>
              <a:rPr lang="en-US" dirty="0"/>
              <a:t>: Analyzes the effect of prices from competitors in different channels/markets.</a:t>
            </a:r>
          </a:p>
          <a:p>
            <a:pPr marL="114300" indent="0">
              <a:buNone/>
            </a:pPr>
            <a:endParaRPr lang="en-IN" dirty="0"/>
          </a:p>
        </p:txBody>
      </p:sp>
    </p:spTree>
    <p:extLst>
      <p:ext uri="{BB962C8B-B14F-4D97-AF65-F5344CB8AC3E}">
        <p14:creationId xmlns:p14="http://schemas.microsoft.com/office/powerpoint/2010/main" val="4264089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60F9AB31-28A3-45BA-6550-B01187DD22CB}"/>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CC59DC21-619F-1F12-1FD5-8E9C1C34FB9A}"/>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Features</a:t>
            </a:r>
            <a:endParaRPr sz="2600" b="1" dirty="0"/>
          </a:p>
        </p:txBody>
      </p:sp>
      <p:sp>
        <p:nvSpPr>
          <p:cNvPr id="143" name="Google Shape;143;p26">
            <a:extLst>
              <a:ext uri="{FF2B5EF4-FFF2-40B4-BE49-F238E27FC236}">
                <a16:creationId xmlns:a16="http://schemas.microsoft.com/office/drawing/2014/main" id="{2A3FB771-7641-F4CD-B7D6-874D348C72C0}"/>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8</a:t>
            </a:fld>
            <a:endParaRPr/>
          </a:p>
        </p:txBody>
      </p:sp>
      <p:pic>
        <p:nvPicPr>
          <p:cNvPr id="144" name="Google Shape;144;p26">
            <a:extLst>
              <a:ext uri="{FF2B5EF4-FFF2-40B4-BE49-F238E27FC236}">
                <a16:creationId xmlns:a16="http://schemas.microsoft.com/office/drawing/2014/main" id="{BDE661A3-65DD-D4B6-A922-A318A0743B92}"/>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491267E7-110C-5C03-63C0-D050B3692997}"/>
              </a:ext>
            </a:extLst>
          </p:cNvPr>
          <p:cNvSpPr>
            <a:spLocks noGrp="1"/>
          </p:cNvSpPr>
          <p:nvPr>
            <p:ph type="body" idx="1"/>
          </p:nvPr>
        </p:nvSpPr>
        <p:spPr/>
        <p:txBody>
          <a:bodyPr>
            <a:normAutofit lnSpcReduction="10000"/>
          </a:bodyPr>
          <a:lstStyle/>
          <a:p>
            <a:pPr marL="114300" indent="0">
              <a:buNone/>
            </a:pPr>
            <a:r>
              <a:rPr lang="en-US" b="1" dirty="0"/>
              <a:t>3. Seasonality, Trend, and Category Volume</a:t>
            </a:r>
            <a:endParaRPr lang="en-US" dirty="0"/>
          </a:p>
          <a:p>
            <a:pPr>
              <a:buFont typeface="Arial" panose="020B0604020202020204" pitchFamily="34" charset="0"/>
              <a:buChar char="•"/>
            </a:pPr>
            <a:r>
              <a:rPr lang="en-US" b="1" dirty="0"/>
              <a:t>Seasonality</a:t>
            </a:r>
            <a:r>
              <a:rPr lang="en-US" dirty="0"/>
              <a:t>: Captures demand fluctuations over specific periods (e.g., yearly, monthly) over markets/channels.</a:t>
            </a:r>
          </a:p>
          <a:p>
            <a:pPr>
              <a:buFont typeface="Arial" panose="020B0604020202020204" pitchFamily="34" charset="0"/>
              <a:buChar char="•"/>
            </a:pPr>
            <a:r>
              <a:rPr lang="en-US" b="1" dirty="0"/>
              <a:t>Trend</a:t>
            </a:r>
            <a:r>
              <a:rPr lang="en-US" dirty="0"/>
              <a:t>: Represents long-term changes in demand.</a:t>
            </a:r>
          </a:p>
          <a:p>
            <a:pPr>
              <a:buFont typeface="Arial" panose="020B0604020202020204" pitchFamily="34" charset="0"/>
              <a:buChar char="•"/>
            </a:pPr>
            <a:r>
              <a:rPr lang="en-US" b="1" dirty="0"/>
              <a:t>Category Volume</a:t>
            </a:r>
            <a:r>
              <a:rPr lang="en-US" dirty="0"/>
              <a:t>: Represents the total demand in a category over time particularly weekly for all packs in channel </a:t>
            </a:r>
          </a:p>
          <a:p>
            <a:pPr marL="114300" indent="0">
              <a:buNone/>
            </a:pPr>
            <a:endParaRPr lang="en-IN" dirty="0"/>
          </a:p>
          <a:p>
            <a:pPr marL="114300" indent="0">
              <a:buNone/>
            </a:pPr>
            <a:r>
              <a:rPr lang="en-US" b="1" dirty="0"/>
              <a:t>4. Distribution</a:t>
            </a:r>
            <a:endParaRPr lang="en-US" dirty="0"/>
          </a:p>
          <a:p>
            <a:pPr>
              <a:buFont typeface="Arial" panose="020B0604020202020204" pitchFamily="34" charset="0"/>
              <a:buChar char="•"/>
            </a:pPr>
            <a:r>
              <a:rPr lang="en-US" b="1" dirty="0"/>
              <a:t>Cannibalization Distribution</a:t>
            </a:r>
            <a:r>
              <a:rPr lang="en-US" dirty="0"/>
              <a:t>: Measures the overlap in sales within the same brand.</a:t>
            </a:r>
          </a:p>
          <a:p>
            <a:pPr>
              <a:buFont typeface="Arial" panose="020B0604020202020204" pitchFamily="34" charset="0"/>
              <a:buChar char="•"/>
            </a:pPr>
            <a:r>
              <a:rPr lang="en-US" b="1" dirty="0"/>
              <a:t>Direct Competition Distribution</a:t>
            </a:r>
            <a:r>
              <a:rPr lang="en-US" dirty="0"/>
              <a:t>: Assesses the availability of competing brands in the market.</a:t>
            </a:r>
          </a:p>
          <a:p>
            <a:pPr>
              <a:buFont typeface="Arial" panose="020B0604020202020204" pitchFamily="34" charset="0"/>
              <a:buChar char="•"/>
            </a:pPr>
            <a:r>
              <a:rPr lang="en-US" b="1" dirty="0"/>
              <a:t>Indirect Competition Distribution</a:t>
            </a:r>
            <a:r>
              <a:rPr lang="en-US" dirty="0"/>
              <a:t>: Evaluates market overlap across different categories.</a:t>
            </a:r>
          </a:p>
          <a:p>
            <a:pPr marL="114300" indent="0">
              <a:buNone/>
            </a:pPr>
            <a:endParaRPr lang="en-IN" dirty="0"/>
          </a:p>
        </p:txBody>
      </p:sp>
    </p:spTree>
    <p:extLst>
      <p:ext uri="{BB962C8B-B14F-4D97-AF65-F5344CB8AC3E}">
        <p14:creationId xmlns:p14="http://schemas.microsoft.com/office/powerpoint/2010/main" val="2256628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AA7B99AC-204F-C3EB-B75B-57A80BDDACDE}"/>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C371AF08-931B-6DB3-37EB-25D18EB914B3}"/>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Features</a:t>
            </a:r>
            <a:endParaRPr sz="2600" b="1" dirty="0"/>
          </a:p>
        </p:txBody>
      </p:sp>
      <p:sp>
        <p:nvSpPr>
          <p:cNvPr id="143" name="Google Shape;143;p26">
            <a:extLst>
              <a:ext uri="{FF2B5EF4-FFF2-40B4-BE49-F238E27FC236}">
                <a16:creationId xmlns:a16="http://schemas.microsoft.com/office/drawing/2014/main" id="{860680CC-EAE3-A81C-0E1B-D5099B5ACA53}"/>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9</a:t>
            </a:fld>
            <a:endParaRPr/>
          </a:p>
        </p:txBody>
      </p:sp>
      <p:pic>
        <p:nvPicPr>
          <p:cNvPr id="144" name="Google Shape;144;p26">
            <a:extLst>
              <a:ext uri="{FF2B5EF4-FFF2-40B4-BE49-F238E27FC236}">
                <a16:creationId xmlns:a16="http://schemas.microsoft.com/office/drawing/2014/main" id="{8F91C64C-C252-4A21-3DA1-A675D2CB5146}"/>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B00DD7D2-F552-BEFF-B5C4-43FA536B48DD}"/>
              </a:ext>
            </a:extLst>
          </p:cNvPr>
          <p:cNvSpPr>
            <a:spLocks noGrp="1"/>
          </p:cNvSpPr>
          <p:nvPr>
            <p:ph type="body" idx="1"/>
          </p:nvPr>
        </p:nvSpPr>
        <p:spPr/>
        <p:txBody>
          <a:bodyPr/>
          <a:lstStyle/>
          <a:p>
            <a:pPr marL="114300" indent="0">
              <a:buNone/>
            </a:pPr>
            <a:r>
              <a:rPr lang="en-US" b="1" dirty="0"/>
              <a:t>5. Up-Down Index &amp; Category Price Index</a:t>
            </a:r>
            <a:endParaRPr lang="en-US" dirty="0"/>
          </a:p>
          <a:p>
            <a:pPr>
              <a:buFont typeface="Arial" panose="020B0604020202020204" pitchFamily="34" charset="0"/>
              <a:buChar char="•"/>
            </a:pPr>
            <a:r>
              <a:rPr lang="en-US" b="1" dirty="0"/>
              <a:t>Up-Down Index (UDI)</a:t>
            </a:r>
            <a:r>
              <a:rPr lang="en-US" dirty="0"/>
              <a:t>: Tracks shifts in consumer preferences towards higher or lower-priced products.</a:t>
            </a:r>
          </a:p>
          <a:p>
            <a:pPr>
              <a:buFont typeface="Arial" panose="020B0604020202020204" pitchFamily="34" charset="0"/>
              <a:buChar char="•"/>
            </a:pPr>
            <a:r>
              <a:rPr lang="en-US" b="1" dirty="0"/>
              <a:t>Category Price Index (CPI)</a:t>
            </a:r>
            <a:r>
              <a:rPr lang="en-US" dirty="0"/>
              <a:t>: Monitors the price levels in a category over time.</a:t>
            </a:r>
          </a:p>
          <a:p>
            <a:pPr marL="114300" indent="0">
              <a:buNone/>
            </a:pPr>
            <a:endParaRPr lang="en-IN" dirty="0"/>
          </a:p>
          <a:p>
            <a:pPr marL="114300" indent="0">
              <a:buNone/>
            </a:pPr>
            <a:r>
              <a:rPr lang="en-US" b="1" dirty="0"/>
              <a:t>6. Brand Value and Interaction Terms</a:t>
            </a:r>
            <a:endParaRPr lang="en-US" dirty="0"/>
          </a:p>
          <a:p>
            <a:pPr>
              <a:buFont typeface="Arial" panose="020B0604020202020204" pitchFamily="34" charset="0"/>
              <a:buChar char="•"/>
            </a:pPr>
            <a:r>
              <a:rPr lang="en-US" b="1" dirty="0"/>
              <a:t>Brand Value</a:t>
            </a:r>
            <a:r>
              <a:rPr lang="en-US" dirty="0"/>
              <a:t>: Identifies brand-specific effects using binary variables.</a:t>
            </a:r>
          </a:p>
          <a:p>
            <a:pPr>
              <a:buFont typeface="Arial" panose="020B0604020202020204" pitchFamily="34" charset="0"/>
              <a:buChar char="•"/>
            </a:pPr>
            <a:r>
              <a:rPr lang="en-US" b="1" dirty="0"/>
              <a:t>Interaction Terms</a:t>
            </a:r>
            <a:r>
              <a:rPr lang="en-US" dirty="0"/>
              <a:t>: Captures the unique impact of price on different brands.</a:t>
            </a:r>
          </a:p>
          <a:p>
            <a:pPr marL="114300" indent="0">
              <a:buNone/>
            </a:pPr>
            <a:endParaRPr lang="en-IN" dirty="0"/>
          </a:p>
        </p:txBody>
      </p:sp>
    </p:spTree>
    <p:extLst>
      <p:ext uri="{BB962C8B-B14F-4D97-AF65-F5344CB8AC3E}">
        <p14:creationId xmlns:p14="http://schemas.microsoft.com/office/powerpoint/2010/main" val="2338538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817E808C-D836-2E18-4F61-B70A4552718A}"/>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172CA918-9CA2-DB6D-B3DA-B052CCF01C92}"/>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Weighted Metrics</a:t>
            </a:r>
            <a:endParaRPr sz="2600" b="1" dirty="0"/>
          </a:p>
        </p:txBody>
      </p:sp>
      <p:sp>
        <p:nvSpPr>
          <p:cNvPr id="143" name="Google Shape;143;p26">
            <a:extLst>
              <a:ext uri="{FF2B5EF4-FFF2-40B4-BE49-F238E27FC236}">
                <a16:creationId xmlns:a16="http://schemas.microsoft.com/office/drawing/2014/main" id="{1C354559-9E2A-58C4-8C4B-654A65B1340D}"/>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10</a:t>
            </a:fld>
            <a:endParaRPr/>
          </a:p>
        </p:txBody>
      </p:sp>
      <p:pic>
        <p:nvPicPr>
          <p:cNvPr id="144" name="Google Shape;144;p26">
            <a:extLst>
              <a:ext uri="{FF2B5EF4-FFF2-40B4-BE49-F238E27FC236}">
                <a16:creationId xmlns:a16="http://schemas.microsoft.com/office/drawing/2014/main" id="{D202610D-1DCC-4880-7AA6-9C0887E7B3DF}"/>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2550DE11-294B-6D99-E1CA-094DF09F24C5}"/>
              </a:ext>
            </a:extLst>
          </p:cNvPr>
          <p:cNvSpPr>
            <a:spLocks noGrp="1"/>
          </p:cNvSpPr>
          <p:nvPr>
            <p:ph type="body" idx="1"/>
          </p:nvPr>
        </p:nvSpPr>
        <p:spPr/>
        <p:txBody>
          <a:bodyPr/>
          <a:lstStyle/>
          <a:p>
            <a:pPr marL="114300" indent="0">
              <a:buNone/>
            </a:pPr>
            <a:endParaRPr lang="en-IN" dirty="0"/>
          </a:p>
        </p:txBody>
      </p:sp>
      <p:pic>
        <p:nvPicPr>
          <p:cNvPr id="6" name="Picture 5">
            <a:extLst>
              <a:ext uri="{FF2B5EF4-FFF2-40B4-BE49-F238E27FC236}">
                <a16:creationId xmlns:a16="http://schemas.microsoft.com/office/drawing/2014/main" id="{CAC2007A-7902-1AFC-2CA3-51C96343B3BA}"/>
              </a:ext>
            </a:extLst>
          </p:cNvPr>
          <p:cNvPicPr>
            <a:picLocks noChangeAspect="1"/>
          </p:cNvPicPr>
          <p:nvPr/>
        </p:nvPicPr>
        <p:blipFill>
          <a:blip r:embed="rId4"/>
          <a:stretch>
            <a:fillRect/>
          </a:stretch>
        </p:blipFill>
        <p:spPr>
          <a:xfrm>
            <a:off x="304800" y="685800"/>
            <a:ext cx="4484120" cy="3847486"/>
          </a:xfrm>
          <a:prstGeom prst="rect">
            <a:avLst/>
          </a:prstGeom>
        </p:spPr>
      </p:pic>
      <p:pic>
        <p:nvPicPr>
          <p:cNvPr id="8" name="Picture 7">
            <a:extLst>
              <a:ext uri="{FF2B5EF4-FFF2-40B4-BE49-F238E27FC236}">
                <a16:creationId xmlns:a16="http://schemas.microsoft.com/office/drawing/2014/main" id="{7F6E4EA2-6730-8880-3C18-B3858DFC5E17}"/>
              </a:ext>
            </a:extLst>
          </p:cNvPr>
          <p:cNvPicPr>
            <a:picLocks noChangeAspect="1"/>
          </p:cNvPicPr>
          <p:nvPr/>
        </p:nvPicPr>
        <p:blipFill>
          <a:blip r:embed="rId5"/>
          <a:stretch>
            <a:fillRect/>
          </a:stretch>
        </p:blipFill>
        <p:spPr>
          <a:xfrm>
            <a:off x="5167867" y="1470550"/>
            <a:ext cx="3518933" cy="2277985"/>
          </a:xfrm>
          <a:prstGeom prst="rect">
            <a:avLst/>
          </a:prstGeom>
        </p:spPr>
      </p:pic>
    </p:spTree>
    <p:extLst>
      <p:ext uri="{BB962C8B-B14F-4D97-AF65-F5344CB8AC3E}">
        <p14:creationId xmlns:p14="http://schemas.microsoft.com/office/powerpoint/2010/main" val="1627956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9D2E3297-E2B1-58DA-9456-094C8C0F33C4}"/>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BC5562BA-ED5B-397C-9B9C-8394A4A1C59E}"/>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Competitive Features</a:t>
            </a:r>
          </a:p>
        </p:txBody>
      </p:sp>
      <p:sp>
        <p:nvSpPr>
          <p:cNvPr id="143" name="Google Shape;143;p26">
            <a:extLst>
              <a:ext uri="{FF2B5EF4-FFF2-40B4-BE49-F238E27FC236}">
                <a16:creationId xmlns:a16="http://schemas.microsoft.com/office/drawing/2014/main" id="{8615CC80-361B-3E64-3F74-EB61FAEDE2DB}"/>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11</a:t>
            </a:fld>
            <a:endParaRPr/>
          </a:p>
        </p:txBody>
      </p:sp>
      <p:pic>
        <p:nvPicPr>
          <p:cNvPr id="144" name="Google Shape;144;p26">
            <a:extLst>
              <a:ext uri="{FF2B5EF4-FFF2-40B4-BE49-F238E27FC236}">
                <a16:creationId xmlns:a16="http://schemas.microsoft.com/office/drawing/2014/main" id="{9E2554F7-A2B6-89B2-B7F4-28BA0AC1DACB}"/>
              </a:ext>
            </a:extLst>
          </p:cNvPr>
          <p:cNvPicPr preferRelativeResize="0"/>
          <p:nvPr/>
        </p:nvPicPr>
        <p:blipFill>
          <a:blip r:embed="rId3">
            <a:alphaModFix/>
          </a:blip>
          <a:stretch>
            <a:fillRect/>
          </a:stretch>
        </p:blipFill>
        <p:spPr>
          <a:xfrm>
            <a:off x="0" y="0"/>
            <a:ext cx="546501" cy="514350"/>
          </a:xfrm>
          <a:prstGeom prst="rect">
            <a:avLst/>
          </a:prstGeom>
          <a:noFill/>
          <a:ln>
            <a:noFill/>
          </a:ln>
        </p:spPr>
      </p:pic>
      <p:pic>
        <p:nvPicPr>
          <p:cNvPr id="4" name="Picture 3">
            <a:extLst>
              <a:ext uri="{FF2B5EF4-FFF2-40B4-BE49-F238E27FC236}">
                <a16:creationId xmlns:a16="http://schemas.microsoft.com/office/drawing/2014/main" id="{15592544-F754-89A7-FDEA-2ED340536297}"/>
              </a:ext>
            </a:extLst>
          </p:cNvPr>
          <p:cNvPicPr>
            <a:picLocks noChangeAspect="1"/>
          </p:cNvPicPr>
          <p:nvPr/>
        </p:nvPicPr>
        <p:blipFill>
          <a:blip r:embed="rId4"/>
          <a:stretch>
            <a:fillRect/>
          </a:stretch>
        </p:blipFill>
        <p:spPr>
          <a:xfrm>
            <a:off x="304800" y="685799"/>
            <a:ext cx="4289580" cy="4171951"/>
          </a:xfrm>
          <a:prstGeom prst="rect">
            <a:avLst/>
          </a:prstGeom>
        </p:spPr>
      </p:pic>
      <p:sp>
        <p:nvSpPr>
          <p:cNvPr id="6" name="Text Placeholder 5">
            <a:extLst>
              <a:ext uri="{FF2B5EF4-FFF2-40B4-BE49-F238E27FC236}">
                <a16:creationId xmlns:a16="http://schemas.microsoft.com/office/drawing/2014/main" id="{F8ED8BA0-EB15-E7A0-C2D7-D8AAEA0AD17F}"/>
              </a:ext>
            </a:extLst>
          </p:cNvPr>
          <p:cNvSpPr>
            <a:spLocks noGrp="1"/>
          </p:cNvSpPr>
          <p:nvPr>
            <p:ph type="body" idx="1"/>
          </p:nvPr>
        </p:nvSpPr>
        <p:spPr>
          <a:xfrm>
            <a:off x="5107257" y="1286673"/>
            <a:ext cx="3488473" cy="2824976"/>
          </a:xfrm>
        </p:spPr>
        <p:txBody>
          <a:bodyPr>
            <a:normAutofit lnSpcReduction="10000"/>
          </a:bodyPr>
          <a:lstStyle/>
          <a:p>
            <a:endParaRPr lang="en-US" dirty="0"/>
          </a:p>
          <a:p>
            <a:pPr marL="114300" indent="0">
              <a:buNone/>
            </a:pPr>
            <a:r>
              <a:rPr lang="en-US" dirty="0"/>
              <a:t>Cannibalization: </a:t>
            </a:r>
          </a:p>
          <a:p>
            <a:pPr marL="114300" indent="0">
              <a:buNone/>
            </a:pPr>
            <a:r>
              <a:rPr lang="en-US" dirty="0"/>
              <a:t>Measures the impact of one product's price on the volume of other products within the same brand. It shows how the price of one pack within a brand affects the sales volume of other packs of the same brand.</a:t>
            </a:r>
            <a:endParaRPr lang="en-IN" dirty="0"/>
          </a:p>
        </p:txBody>
      </p:sp>
    </p:spTree>
    <p:extLst>
      <p:ext uri="{BB962C8B-B14F-4D97-AF65-F5344CB8AC3E}">
        <p14:creationId xmlns:p14="http://schemas.microsoft.com/office/powerpoint/2010/main" val="354213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C300ED9B-2A2F-A2BE-9D20-44600CCED130}"/>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AA7C7061-1748-DE1C-B53C-E062E85F95B3}"/>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Competitive Features</a:t>
            </a:r>
            <a:endParaRPr sz="2600" b="1" dirty="0"/>
          </a:p>
        </p:txBody>
      </p:sp>
      <p:sp>
        <p:nvSpPr>
          <p:cNvPr id="143" name="Google Shape;143;p26">
            <a:extLst>
              <a:ext uri="{FF2B5EF4-FFF2-40B4-BE49-F238E27FC236}">
                <a16:creationId xmlns:a16="http://schemas.microsoft.com/office/drawing/2014/main" id="{DD788B8A-25F5-7721-6EFB-E04B1E7CE003}"/>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12</a:t>
            </a:fld>
            <a:endParaRPr/>
          </a:p>
        </p:txBody>
      </p:sp>
      <p:pic>
        <p:nvPicPr>
          <p:cNvPr id="144" name="Google Shape;144;p26">
            <a:extLst>
              <a:ext uri="{FF2B5EF4-FFF2-40B4-BE49-F238E27FC236}">
                <a16:creationId xmlns:a16="http://schemas.microsoft.com/office/drawing/2014/main" id="{1B08D29A-227B-FCB6-A500-D8FB8DFD4F86}"/>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6CC31007-8516-5F2B-53B2-C567F813ADDC}"/>
              </a:ext>
            </a:extLst>
          </p:cNvPr>
          <p:cNvSpPr>
            <a:spLocks noGrp="1"/>
          </p:cNvSpPr>
          <p:nvPr>
            <p:ph type="body" idx="1"/>
          </p:nvPr>
        </p:nvSpPr>
        <p:spPr>
          <a:xfrm>
            <a:off x="5369312" y="1390185"/>
            <a:ext cx="3317488" cy="2973660"/>
          </a:xfrm>
        </p:spPr>
        <p:txBody>
          <a:bodyPr/>
          <a:lstStyle/>
          <a:p>
            <a:pPr marL="114300" indent="0">
              <a:buNone/>
            </a:pPr>
            <a:r>
              <a:rPr lang="en-US" dirty="0"/>
              <a:t>Direct Competition:</a:t>
            </a:r>
          </a:p>
          <a:p>
            <a:pPr marL="114300" indent="0">
              <a:buNone/>
            </a:pPr>
            <a:r>
              <a:rPr lang="en-US" dirty="0"/>
              <a:t>Quantifies the effect of prices from similar products (competing packs) in the same category. This is the impact of competing products within the same category on the analyzed pack’s volume.</a:t>
            </a:r>
            <a:endParaRPr lang="en-IN" dirty="0"/>
          </a:p>
        </p:txBody>
      </p:sp>
      <p:pic>
        <p:nvPicPr>
          <p:cNvPr id="5" name="Picture 4">
            <a:extLst>
              <a:ext uri="{FF2B5EF4-FFF2-40B4-BE49-F238E27FC236}">
                <a16:creationId xmlns:a16="http://schemas.microsoft.com/office/drawing/2014/main" id="{2E50DC91-9809-DA91-1115-66F3B6801C41}"/>
              </a:ext>
            </a:extLst>
          </p:cNvPr>
          <p:cNvPicPr>
            <a:picLocks noChangeAspect="1"/>
          </p:cNvPicPr>
          <p:nvPr/>
        </p:nvPicPr>
        <p:blipFill>
          <a:blip r:embed="rId4"/>
          <a:stretch>
            <a:fillRect/>
          </a:stretch>
        </p:blipFill>
        <p:spPr>
          <a:xfrm>
            <a:off x="669931" y="699840"/>
            <a:ext cx="3726709" cy="3998641"/>
          </a:xfrm>
          <a:prstGeom prst="rect">
            <a:avLst/>
          </a:prstGeom>
        </p:spPr>
      </p:pic>
    </p:spTree>
    <p:extLst>
      <p:ext uri="{BB962C8B-B14F-4D97-AF65-F5344CB8AC3E}">
        <p14:creationId xmlns:p14="http://schemas.microsoft.com/office/powerpoint/2010/main" val="29725653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83D6EDEF-7766-9BEC-3D42-BFCF1BA1E111}"/>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94C6A1C4-508B-4FBD-89E3-59D7AB8F0A75}"/>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Competitive Features</a:t>
            </a:r>
            <a:endParaRPr sz="2600" b="1" dirty="0"/>
          </a:p>
        </p:txBody>
      </p:sp>
      <p:sp>
        <p:nvSpPr>
          <p:cNvPr id="143" name="Google Shape;143;p26">
            <a:extLst>
              <a:ext uri="{FF2B5EF4-FFF2-40B4-BE49-F238E27FC236}">
                <a16:creationId xmlns:a16="http://schemas.microsoft.com/office/drawing/2014/main" id="{A5139AD9-9B37-E773-8593-CF4735668A74}"/>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13</a:t>
            </a:fld>
            <a:endParaRPr/>
          </a:p>
        </p:txBody>
      </p:sp>
      <p:pic>
        <p:nvPicPr>
          <p:cNvPr id="144" name="Google Shape;144;p26">
            <a:extLst>
              <a:ext uri="{FF2B5EF4-FFF2-40B4-BE49-F238E27FC236}">
                <a16:creationId xmlns:a16="http://schemas.microsoft.com/office/drawing/2014/main" id="{FD56EF25-581D-C08A-9398-ECF1D5F1FED7}"/>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5" name="Text Placeholder 2">
            <a:extLst>
              <a:ext uri="{FF2B5EF4-FFF2-40B4-BE49-F238E27FC236}">
                <a16:creationId xmlns:a16="http://schemas.microsoft.com/office/drawing/2014/main" id="{5E13C836-5853-BA3F-B001-AF6CD54A4314}"/>
              </a:ext>
            </a:extLst>
          </p:cNvPr>
          <p:cNvSpPr>
            <a:spLocks noGrp="1"/>
          </p:cNvSpPr>
          <p:nvPr>
            <p:ph type="body" idx="1"/>
          </p:nvPr>
        </p:nvSpPr>
        <p:spPr>
          <a:xfrm>
            <a:off x="5163981" y="1375317"/>
            <a:ext cx="3694772" cy="3395546"/>
          </a:xfrm>
        </p:spPr>
        <p:txBody>
          <a:bodyPr/>
          <a:lstStyle/>
          <a:p>
            <a:pPr marL="114300" indent="0">
              <a:buNone/>
            </a:pPr>
            <a:r>
              <a:rPr lang="en-US" dirty="0"/>
              <a:t>Indirect Competition:</a:t>
            </a:r>
          </a:p>
          <a:p>
            <a:pPr marL="114300" indent="0">
              <a:buNone/>
            </a:pPr>
            <a:r>
              <a:rPr lang="en-US" dirty="0"/>
              <a:t>Measures the effect of prices from products in different categories that fulfill similar consumer needs. This shows the price influence of products that are not direct competitors but may still influence the analyzed pack’s demand.</a:t>
            </a:r>
            <a:endParaRPr lang="en-IN" dirty="0"/>
          </a:p>
        </p:txBody>
      </p:sp>
      <p:pic>
        <p:nvPicPr>
          <p:cNvPr id="3" name="Picture 2">
            <a:extLst>
              <a:ext uri="{FF2B5EF4-FFF2-40B4-BE49-F238E27FC236}">
                <a16:creationId xmlns:a16="http://schemas.microsoft.com/office/drawing/2014/main" id="{83B4930D-FDD7-ACBB-CF04-AD6794AF1062}"/>
              </a:ext>
            </a:extLst>
          </p:cNvPr>
          <p:cNvPicPr>
            <a:picLocks noChangeAspect="1"/>
          </p:cNvPicPr>
          <p:nvPr/>
        </p:nvPicPr>
        <p:blipFill>
          <a:blip r:embed="rId4"/>
          <a:stretch>
            <a:fillRect/>
          </a:stretch>
        </p:blipFill>
        <p:spPr>
          <a:xfrm>
            <a:off x="347184" y="639193"/>
            <a:ext cx="4224816" cy="4355480"/>
          </a:xfrm>
          <a:prstGeom prst="rect">
            <a:avLst/>
          </a:prstGeom>
        </p:spPr>
      </p:pic>
    </p:spTree>
    <p:extLst>
      <p:ext uri="{BB962C8B-B14F-4D97-AF65-F5344CB8AC3E}">
        <p14:creationId xmlns:p14="http://schemas.microsoft.com/office/powerpoint/2010/main" val="3762601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F5230822-99AB-25BB-B364-20E6006AF45E}"/>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E99BBF3B-F98D-56FF-049F-813D68EBCBE0}"/>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 Features</a:t>
            </a:r>
            <a:endParaRPr sz="2600" b="1" dirty="0"/>
          </a:p>
        </p:txBody>
      </p:sp>
      <p:sp>
        <p:nvSpPr>
          <p:cNvPr id="143" name="Google Shape;143;p26">
            <a:extLst>
              <a:ext uri="{FF2B5EF4-FFF2-40B4-BE49-F238E27FC236}">
                <a16:creationId xmlns:a16="http://schemas.microsoft.com/office/drawing/2014/main" id="{9C04BBD6-4A51-B5E1-7B3B-869F4431B28D}"/>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14</a:t>
            </a:fld>
            <a:endParaRPr/>
          </a:p>
        </p:txBody>
      </p:sp>
      <p:pic>
        <p:nvPicPr>
          <p:cNvPr id="144" name="Google Shape;144;p26">
            <a:extLst>
              <a:ext uri="{FF2B5EF4-FFF2-40B4-BE49-F238E27FC236}">
                <a16:creationId xmlns:a16="http://schemas.microsoft.com/office/drawing/2014/main" id="{54C9553F-EDAE-47DD-4002-5E4E0CA3195E}"/>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9847095B-7270-080B-CD41-E713D85FC7F9}"/>
              </a:ext>
            </a:extLst>
          </p:cNvPr>
          <p:cNvSpPr>
            <a:spLocks noGrp="1"/>
          </p:cNvSpPr>
          <p:nvPr>
            <p:ph type="body" idx="1"/>
          </p:nvPr>
        </p:nvSpPr>
        <p:spPr>
          <a:xfrm>
            <a:off x="104199" y="3443248"/>
            <a:ext cx="4068338" cy="1444009"/>
          </a:xfrm>
        </p:spPr>
        <p:txBody>
          <a:bodyPr>
            <a:normAutofit/>
          </a:bodyPr>
          <a:lstStyle/>
          <a:p>
            <a:pPr marL="114300" indent="0">
              <a:buNone/>
            </a:pPr>
            <a:r>
              <a:rPr lang="en-US" sz="1400" dirty="0"/>
              <a:t>The </a:t>
            </a:r>
            <a:r>
              <a:rPr lang="en-US" sz="1400" b="1" dirty="0"/>
              <a:t>Up down Index </a:t>
            </a:r>
            <a:r>
              <a:rPr lang="en-US" sz="1400" dirty="0"/>
              <a:t>monitors </a:t>
            </a:r>
            <a:r>
              <a:rPr lang="en-US" sz="1400" b="1" dirty="0"/>
              <a:t>average price </a:t>
            </a:r>
            <a:r>
              <a:rPr lang="en-US" sz="1400" dirty="0"/>
              <a:t>levels in a category over time, </a:t>
            </a:r>
            <a:r>
              <a:rPr lang="en-US" sz="1400" b="1" dirty="0"/>
              <a:t>weighted by volume</a:t>
            </a:r>
            <a:r>
              <a:rPr lang="en-US" sz="1400" dirty="0"/>
              <a:t>. However, in this calculation, </a:t>
            </a:r>
            <a:r>
              <a:rPr lang="en-US" sz="1400" b="1" dirty="0"/>
              <a:t>price remains constant</a:t>
            </a:r>
            <a:r>
              <a:rPr lang="en-US" sz="1400" dirty="0"/>
              <a:t>, and it primarily captures </a:t>
            </a:r>
            <a:r>
              <a:rPr lang="en-US" sz="1400" b="1" dirty="0"/>
              <a:t>volume variability</a:t>
            </a:r>
            <a:r>
              <a:rPr lang="en-US" sz="1400" dirty="0"/>
              <a:t> across time periods which gives idea how consumers move.</a:t>
            </a:r>
            <a:endParaRPr lang="en-IN" sz="1400" dirty="0"/>
          </a:p>
        </p:txBody>
      </p:sp>
      <p:sp>
        <p:nvSpPr>
          <p:cNvPr id="9" name="TextBox 8">
            <a:extLst>
              <a:ext uri="{FF2B5EF4-FFF2-40B4-BE49-F238E27FC236}">
                <a16:creationId xmlns:a16="http://schemas.microsoft.com/office/drawing/2014/main" id="{2361C8F3-AE34-6095-0678-0BF0537439E8}"/>
              </a:ext>
            </a:extLst>
          </p:cNvPr>
          <p:cNvSpPr txBox="1"/>
          <p:nvPr/>
        </p:nvSpPr>
        <p:spPr>
          <a:xfrm>
            <a:off x="4572000" y="3472756"/>
            <a:ext cx="4357301" cy="1384995"/>
          </a:xfrm>
          <a:prstGeom prst="rect">
            <a:avLst/>
          </a:prstGeom>
          <a:noFill/>
        </p:spPr>
        <p:txBody>
          <a:bodyPr wrap="square" rtlCol="0">
            <a:spAutoFit/>
          </a:bodyPr>
          <a:lstStyle/>
          <a:p>
            <a:r>
              <a:rPr lang="en-US" dirty="0">
                <a:latin typeface="Century" panose="02040604050505020304" pitchFamily="18" charset="0"/>
              </a:rPr>
              <a:t>The </a:t>
            </a:r>
            <a:r>
              <a:rPr lang="en-US" sz="1400" b="1" dirty="0"/>
              <a:t>Category Price Index (CPI)</a:t>
            </a:r>
            <a:r>
              <a:rPr lang="en-US" sz="1400" dirty="0"/>
              <a:t> </a:t>
            </a:r>
            <a:r>
              <a:rPr lang="en-US" dirty="0">
                <a:latin typeface="Century" panose="02040604050505020304" pitchFamily="18" charset="0"/>
              </a:rPr>
              <a:t>tracks shifts in consumer behavior towards higher or lower-priced products by incorporating both </a:t>
            </a:r>
            <a:r>
              <a:rPr lang="en-US" b="1" dirty="0">
                <a:latin typeface="Century" panose="02040604050505020304" pitchFamily="18" charset="0"/>
              </a:rPr>
              <a:t>price</a:t>
            </a:r>
            <a:r>
              <a:rPr lang="en-US" dirty="0">
                <a:latin typeface="Century" panose="02040604050505020304" pitchFamily="18" charset="0"/>
              </a:rPr>
              <a:t> and </a:t>
            </a:r>
            <a:r>
              <a:rPr lang="en-US" b="1" dirty="0">
                <a:latin typeface="Century" panose="02040604050505020304" pitchFamily="18" charset="0"/>
              </a:rPr>
              <a:t>volume</a:t>
            </a:r>
            <a:r>
              <a:rPr lang="en-US" dirty="0">
                <a:latin typeface="Century" panose="02040604050505020304" pitchFamily="18" charset="0"/>
              </a:rPr>
              <a:t> effects. It calculates the weighted average price, considering how the volume of each product influences the overall index.</a:t>
            </a:r>
            <a:endParaRPr lang="en-IN" dirty="0">
              <a:latin typeface="Century" panose="02040604050505020304" pitchFamily="18" charset="0"/>
            </a:endParaRPr>
          </a:p>
        </p:txBody>
      </p:sp>
      <p:pic>
        <p:nvPicPr>
          <p:cNvPr id="12" name="Picture 11">
            <a:extLst>
              <a:ext uri="{FF2B5EF4-FFF2-40B4-BE49-F238E27FC236}">
                <a16:creationId xmlns:a16="http://schemas.microsoft.com/office/drawing/2014/main" id="{E21820C5-50DE-ADA2-FFC5-999542BB523F}"/>
              </a:ext>
            </a:extLst>
          </p:cNvPr>
          <p:cNvPicPr>
            <a:picLocks noChangeAspect="1"/>
          </p:cNvPicPr>
          <p:nvPr/>
        </p:nvPicPr>
        <p:blipFill>
          <a:blip r:embed="rId4"/>
          <a:stretch>
            <a:fillRect/>
          </a:stretch>
        </p:blipFill>
        <p:spPr>
          <a:xfrm>
            <a:off x="341927" y="738053"/>
            <a:ext cx="3785426" cy="2280825"/>
          </a:xfrm>
          <a:prstGeom prst="rect">
            <a:avLst/>
          </a:prstGeom>
        </p:spPr>
      </p:pic>
      <p:pic>
        <p:nvPicPr>
          <p:cNvPr id="14" name="Picture 13">
            <a:extLst>
              <a:ext uri="{FF2B5EF4-FFF2-40B4-BE49-F238E27FC236}">
                <a16:creationId xmlns:a16="http://schemas.microsoft.com/office/drawing/2014/main" id="{FFAC04C8-8710-2B4B-7D1C-5B95E29A2140}"/>
              </a:ext>
            </a:extLst>
          </p:cNvPr>
          <p:cNvPicPr>
            <a:picLocks noChangeAspect="1"/>
          </p:cNvPicPr>
          <p:nvPr/>
        </p:nvPicPr>
        <p:blipFill>
          <a:blip r:embed="rId5"/>
          <a:stretch>
            <a:fillRect/>
          </a:stretch>
        </p:blipFill>
        <p:spPr>
          <a:xfrm>
            <a:off x="5091913" y="738053"/>
            <a:ext cx="3785425" cy="2356234"/>
          </a:xfrm>
          <a:prstGeom prst="rect">
            <a:avLst/>
          </a:prstGeom>
        </p:spPr>
      </p:pic>
    </p:spTree>
    <p:extLst>
      <p:ext uri="{BB962C8B-B14F-4D97-AF65-F5344CB8AC3E}">
        <p14:creationId xmlns:p14="http://schemas.microsoft.com/office/powerpoint/2010/main" val="2198299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003D8E14-1281-5B77-83D3-932CB7F96541}"/>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DD40E1C8-8B18-0286-387E-5901970CD892}"/>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Up Down Index</a:t>
            </a:r>
            <a:endParaRPr sz="2600" b="1" dirty="0"/>
          </a:p>
        </p:txBody>
      </p:sp>
      <p:sp>
        <p:nvSpPr>
          <p:cNvPr id="143" name="Google Shape;143;p26">
            <a:extLst>
              <a:ext uri="{FF2B5EF4-FFF2-40B4-BE49-F238E27FC236}">
                <a16:creationId xmlns:a16="http://schemas.microsoft.com/office/drawing/2014/main" id="{0CA99C6C-1436-8FE0-B1AC-39BC3491F53A}"/>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15</a:t>
            </a:fld>
            <a:endParaRPr/>
          </a:p>
        </p:txBody>
      </p:sp>
      <p:pic>
        <p:nvPicPr>
          <p:cNvPr id="144" name="Google Shape;144;p26">
            <a:extLst>
              <a:ext uri="{FF2B5EF4-FFF2-40B4-BE49-F238E27FC236}">
                <a16:creationId xmlns:a16="http://schemas.microsoft.com/office/drawing/2014/main" id="{1B74DA0D-BAB2-261A-00C5-0BFF89831B90}"/>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AB8D4960-AE65-D799-5255-96EBE28E9962}"/>
              </a:ext>
            </a:extLst>
          </p:cNvPr>
          <p:cNvSpPr>
            <a:spLocks noGrp="1"/>
          </p:cNvSpPr>
          <p:nvPr>
            <p:ph type="body" idx="1"/>
          </p:nvPr>
        </p:nvSpPr>
        <p:spPr>
          <a:xfrm>
            <a:off x="5813502" y="1144858"/>
            <a:ext cx="3101898" cy="3655741"/>
          </a:xfrm>
        </p:spPr>
        <p:txBody>
          <a:bodyPr/>
          <a:lstStyle/>
          <a:p>
            <a:pPr marL="114300" indent="0">
              <a:buNone/>
            </a:pPr>
            <a:r>
              <a:rPr lang="en-IN" dirty="0">
                <a:solidFill>
                  <a:schemeClr val="tx1"/>
                </a:solidFill>
              </a:rPr>
              <a:t>This curve is for a specific combination of PPG and Brand , here it shows that over the time people are moving towards the cheaper prices and originally over the time price is increases which we see as category price index</a:t>
            </a:r>
          </a:p>
        </p:txBody>
      </p:sp>
      <p:pic>
        <p:nvPicPr>
          <p:cNvPr id="4" name="Picture 3">
            <a:extLst>
              <a:ext uri="{FF2B5EF4-FFF2-40B4-BE49-F238E27FC236}">
                <a16:creationId xmlns:a16="http://schemas.microsoft.com/office/drawing/2014/main" id="{41E4A48D-45CD-ABD9-C1AC-7F8CEBA63FFB}"/>
              </a:ext>
            </a:extLst>
          </p:cNvPr>
          <p:cNvPicPr>
            <a:picLocks noChangeAspect="1"/>
          </p:cNvPicPr>
          <p:nvPr/>
        </p:nvPicPr>
        <p:blipFill>
          <a:blip r:embed="rId4"/>
          <a:stretch>
            <a:fillRect/>
          </a:stretch>
        </p:blipFill>
        <p:spPr>
          <a:xfrm>
            <a:off x="304800" y="753982"/>
            <a:ext cx="5408689" cy="4046618"/>
          </a:xfrm>
          <a:prstGeom prst="rect">
            <a:avLst/>
          </a:prstGeom>
        </p:spPr>
      </p:pic>
    </p:spTree>
    <p:extLst>
      <p:ext uri="{BB962C8B-B14F-4D97-AF65-F5344CB8AC3E}">
        <p14:creationId xmlns:p14="http://schemas.microsoft.com/office/powerpoint/2010/main" val="811135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14DE2A4D-16FA-3DA3-7835-E2DBAE92C81E}"/>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70AE9BD7-C680-B30B-7A62-DB8E7F76B634}"/>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Data Set </a:t>
            </a:r>
            <a:endParaRPr sz="2600" b="1" dirty="0"/>
          </a:p>
        </p:txBody>
      </p:sp>
      <p:sp>
        <p:nvSpPr>
          <p:cNvPr id="143" name="Google Shape;143;p26">
            <a:extLst>
              <a:ext uri="{FF2B5EF4-FFF2-40B4-BE49-F238E27FC236}">
                <a16:creationId xmlns:a16="http://schemas.microsoft.com/office/drawing/2014/main" id="{CCD8C077-43FA-4502-0CB7-2E116B78B745}"/>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16</a:t>
            </a:fld>
            <a:endParaRPr/>
          </a:p>
        </p:txBody>
      </p:sp>
      <p:pic>
        <p:nvPicPr>
          <p:cNvPr id="144" name="Google Shape;144;p26">
            <a:extLst>
              <a:ext uri="{FF2B5EF4-FFF2-40B4-BE49-F238E27FC236}">
                <a16:creationId xmlns:a16="http://schemas.microsoft.com/office/drawing/2014/main" id="{98E6D315-A5A0-D342-A926-65353F673717}"/>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2" name="Text Placeholder 1">
            <a:extLst>
              <a:ext uri="{FF2B5EF4-FFF2-40B4-BE49-F238E27FC236}">
                <a16:creationId xmlns:a16="http://schemas.microsoft.com/office/drawing/2014/main" id="{1A2913C9-9E86-095D-E8E7-82863ACECD34}"/>
              </a:ext>
            </a:extLst>
          </p:cNvPr>
          <p:cNvSpPr>
            <a:spLocks noGrp="1" noChangeArrowheads="1"/>
          </p:cNvSpPr>
          <p:nvPr>
            <p:ph type="body" idx="1"/>
          </p:nvPr>
        </p:nvSpPr>
        <p:spPr bwMode="auto">
          <a:xfrm>
            <a:off x="546502" y="685279"/>
            <a:ext cx="8330836"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It contains numeric columns such as sales value, price, and volume, alongside categorical columns like channel, market, PPG/pack type/variant, and brand.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data includes entries for 3 or more brands and multiple pack types, representing a comprehensive view of market performance.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spans over three years, with weekly data providing more than 150 entries per combination, and monthly data offering more than 36 entries per combination.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dataset is anonymized for privacy protection, originating from the UK ,</a:t>
            </a:r>
            <a:r>
              <a:rPr lang="en-US" altLang="en-US" dirty="0">
                <a:solidFill>
                  <a:schemeClr val="tx1"/>
                </a:solidFill>
                <a:latin typeface="Arial" panose="020B0604020202020204" pitchFamily="34" charset="0"/>
              </a:rPr>
              <a:t>India, China </a:t>
            </a:r>
            <a:r>
              <a:rPr kumimoji="0" lang="en-US" altLang="en-US" sz="1800" b="0" i="0" u="none" strike="noStrike" cap="none" normalizeH="0" baseline="0" dirty="0">
                <a:ln>
                  <a:noFill/>
                </a:ln>
                <a:solidFill>
                  <a:schemeClr val="tx1"/>
                </a:solidFill>
                <a:effectLst/>
                <a:latin typeface="Arial" panose="020B0604020202020204" pitchFamily="34" charset="0"/>
              </a:rPr>
              <a:t>market but not directly usable due to confidentiality concerns.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206881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DEB38C0C-3EED-EB2D-3EE3-EF1EFD51AA91}"/>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1D5BBF40-8885-3583-30DD-B5B96ED40527}"/>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Methods and Approach </a:t>
            </a:r>
            <a:endParaRPr sz="2600" b="1" dirty="0"/>
          </a:p>
        </p:txBody>
      </p:sp>
      <p:sp>
        <p:nvSpPr>
          <p:cNvPr id="143" name="Google Shape;143;p26">
            <a:extLst>
              <a:ext uri="{FF2B5EF4-FFF2-40B4-BE49-F238E27FC236}">
                <a16:creationId xmlns:a16="http://schemas.microsoft.com/office/drawing/2014/main" id="{1751F6A7-4895-DE72-200B-53F77E0CB01E}"/>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17</a:t>
            </a:fld>
            <a:endParaRPr/>
          </a:p>
        </p:txBody>
      </p:sp>
      <p:pic>
        <p:nvPicPr>
          <p:cNvPr id="144" name="Google Shape;144;p26">
            <a:extLst>
              <a:ext uri="{FF2B5EF4-FFF2-40B4-BE49-F238E27FC236}">
                <a16:creationId xmlns:a16="http://schemas.microsoft.com/office/drawing/2014/main" id="{63F0C30A-B8FE-4991-CBE4-AB093BD4A523}"/>
              </a:ext>
            </a:extLst>
          </p:cNvPr>
          <p:cNvPicPr preferRelativeResize="0"/>
          <p:nvPr/>
        </p:nvPicPr>
        <p:blipFill>
          <a:blip r:embed="rId3">
            <a:alphaModFix/>
          </a:blip>
          <a:stretch>
            <a:fillRect/>
          </a:stretch>
        </p:blipFill>
        <p:spPr>
          <a:xfrm>
            <a:off x="0" y="0"/>
            <a:ext cx="546501" cy="514350"/>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E9DB6FB-AD02-AEA8-ACDB-B52055E64A2C}"/>
                  </a:ext>
                </a:extLst>
              </p:cNvPr>
              <p:cNvSpPr>
                <a:spLocks noGrp="1"/>
              </p:cNvSpPr>
              <p:nvPr>
                <p:ph type="body" idx="1"/>
              </p:nvPr>
            </p:nvSpPr>
            <p:spPr/>
            <p:txBody>
              <a:bodyPr>
                <a:normAutofit/>
              </a:bodyPr>
              <a:lstStyle/>
              <a:p>
                <a:pPr marL="114300" indent="0">
                  <a:buNone/>
                </a:pPr>
                <a:r>
                  <a:rPr lang="en-IN" b="1" dirty="0"/>
                  <a:t>General Regression Model</a:t>
                </a:r>
              </a:p>
              <a:p>
                <a:r>
                  <a:rPr lang="en-IN" dirty="0"/>
                  <a:t>Equation </a:t>
                </a:r>
                <a:br>
                  <a:rPr lang="en-IN" dirty="0"/>
                </a:br>
                <a:r>
                  <a:rPr lang="en-IN" dirty="0"/>
                  <a:t>Y=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𝛽</m:t>
                        </m:r>
                      </m:e>
                      <m:sub>
                        <m:r>
                          <a:rPr lang="en-IN" b="0" i="1" smtClean="0">
                            <a:latin typeface="Cambria Math" panose="02040503050406030204" pitchFamily="18" charset="0"/>
                          </a:rPr>
                          <m:t>0</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𝛽</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1</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𝛽</m:t>
                        </m:r>
                      </m:e>
                      <m:sub>
                        <m:r>
                          <a:rPr lang="en-IN" b="0" i="1" smtClean="0">
                            <a:latin typeface="Cambria Math" panose="02040503050406030204" pitchFamily="18" charset="0"/>
                          </a:rPr>
                          <m:t>𝑛</m:t>
                        </m:r>
                      </m:sub>
                    </m:sSub>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𝑛</m:t>
                        </m:r>
                      </m:sub>
                    </m:sSub>
                    <m:r>
                      <a:rPr lang="en-IN" b="0" i="1" smtClean="0">
                        <a:latin typeface="Cambria Math" panose="02040503050406030204" pitchFamily="18" charset="0"/>
                      </a:rPr>
                      <m:t> </m:t>
                    </m:r>
                  </m:oMath>
                </a14:m>
                <a:endParaRPr lang="en-IN" b="0" dirty="0"/>
              </a:p>
              <a:p>
                <a:r>
                  <a:rPr lang="en-IN" b="1" dirty="0"/>
                  <a:t>Y </a:t>
                </a:r>
                <a:r>
                  <a:rPr lang="en-IN" dirty="0"/>
                  <a:t>: Dependent variable (e.g., sales volume)</a:t>
                </a:r>
              </a:p>
              <a:p>
                <a:pPr>
                  <a:buFont typeface="Arial" panose="020B0604020202020204" pitchFamily="34" charset="0"/>
                  <a:buChar char="•"/>
                </a:pP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𝑥</m:t>
                        </m:r>
                      </m:e>
                      <m:sub>
                        <m:r>
                          <a:rPr lang="en-IN" b="0" i="1" smtClean="0">
                            <a:latin typeface="Cambria Math" panose="02040503050406030204" pitchFamily="18" charset="0"/>
                          </a:rPr>
                          <m:t>𝑖</m:t>
                        </m:r>
                      </m:sub>
                    </m:sSub>
                  </m:oMath>
                </a14:m>
                <a:r>
                  <a:rPr lang="en-IN" dirty="0"/>
                  <a:t>: Independent variables (e.g., price, competition, seasonality)</a:t>
                </a:r>
              </a:p>
              <a:p>
                <a:pPr>
                  <a:buFont typeface="Arial" panose="020B0604020202020204" pitchFamily="34" charset="0"/>
                  <a:buChar char="•"/>
                </a:pP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𝛽</m:t>
                        </m:r>
                      </m:e>
                      <m:sub>
                        <m:r>
                          <a:rPr lang="en-IN" b="0" i="1" smtClean="0">
                            <a:latin typeface="Cambria Math" panose="02040503050406030204" pitchFamily="18" charset="0"/>
                          </a:rPr>
                          <m:t>𝑖</m:t>
                        </m:r>
                      </m:sub>
                    </m:sSub>
                  </m:oMath>
                </a14:m>
                <a:r>
                  <a:rPr lang="en-IN" dirty="0"/>
                  <a:t>: Coefficients representing the impact of each feature</a:t>
                </a:r>
              </a:p>
              <a:p>
                <a:pPr marL="114300" indent="0">
                  <a:buNone/>
                </a:pPr>
                <a:endParaRPr lang="en-IN" dirty="0"/>
              </a:p>
              <a:p>
                <a:pPr marL="114300" indent="0">
                  <a:buNone/>
                </a:pPr>
                <a:r>
                  <a:rPr lang="en-IN" b="1" dirty="0"/>
                  <a:t>Objective</a:t>
                </a:r>
                <a:endParaRPr lang="en-IN" dirty="0"/>
              </a:p>
              <a:p>
                <a:pPr>
                  <a:buFont typeface="Arial" panose="020B0604020202020204" pitchFamily="34" charset="0"/>
                  <a:buChar char="•"/>
                </a:pPr>
                <a:r>
                  <a:rPr lang="en-IN" dirty="0"/>
                  <a:t>Predict the sales volume based on independent variables</a:t>
                </a:r>
              </a:p>
              <a:p>
                <a:pPr>
                  <a:buFont typeface="Arial" panose="020B0604020202020204" pitchFamily="34" charset="0"/>
                  <a:buChar char="•"/>
                </a:pPr>
                <a:r>
                  <a:rPr lang="en-IN" dirty="0"/>
                  <a:t>We setup model to PPG level as we are going to predict the demand of particular pack type / ppg based on different brands.</a:t>
                </a:r>
              </a:p>
              <a:p>
                <a:pPr>
                  <a:buFont typeface="Arial" panose="020B0604020202020204" pitchFamily="34" charset="0"/>
                  <a:buChar char="•"/>
                </a:pPr>
                <a:r>
                  <a:rPr lang="en-IN" dirty="0"/>
                  <a:t>Estimate the strength of each feature’s effect using coefficients (</a:t>
                </a:r>
                <a:r>
                  <a:rPr lang="el-GR" b="1" dirty="0"/>
                  <a:t>β</a:t>
                </a:r>
                <a:r>
                  <a:rPr lang="el-GR" dirty="0"/>
                  <a:t>)</a:t>
                </a:r>
                <a:r>
                  <a:rPr lang="en-IN" dirty="0"/>
                  <a:t> </a:t>
                </a:r>
                <a:endParaRPr lang="el-GR" dirty="0"/>
              </a:p>
            </p:txBody>
          </p:sp>
        </mc:Choice>
        <mc:Fallback xmlns="">
          <p:sp>
            <p:nvSpPr>
              <p:cNvPr id="3" name="Text Placeholder 2">
                <a:extLst>
                  <a:ext uri="{FF2B5EF4-FFF2-40B4-BE49-F238E27FC236}">
                    <a16:creationId xmlns:a16="http://schemas.microsoft.com/office/drawing/2014/main" id="{5E9DB6FB-AD02-AEA8-ACDB-B52055E64A2C}"/>
                  </a:ext>
                </a:extLst>
              </p:cNvPr>
              <p:cNvSpPr>
                <a:spLocks noGrp="1" noRot="1" noChangeAspect="1" noMove="1" noResize="1" noEditPoints="1" noAdjustHandles="1" noChangeArrowheads="1" noChangeShapeType="1" noTextEdit="1"/>
              </p:cNvSpPr>
              <p:nvPr>
                <p:ph type="body" idx="1"/>
              </p:nvPr>
            </p:nvSpPr>
            <p:spPr>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737135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C6865BE5-B1F3-13C7-F1F9-F7F700473BC0}"/>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F2B834D0-CE34-EF8F-954D-8B42804EC314}"/>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Approaches</a:t>
            </a:r>
            <a:endParaRPr sz="2600" b="1" dirty="0"/>
          </a:p>
        </p:txBody>
      </p:sp>
      <p:sp>
        <p:nvSpPr>
          <p:cNvPr id="143" name="Google Shape;143;p26">
            <a:extLst>
              <a:ext uri="{FF2B5EF4-FFF2-40B4-BE49-F238E27FC236}">
                <a16:creationId xmlns:a16="http://schemas.microsoft.com/office/drawing/2014/main" id="{0A5E8B5B-8838-3F85-761F-B4E231AEB49C}"/>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18</a:t>
            </a:fld>
            <a:endParaRPr/>
          </a:p>
        </p:txBody>
      </p:sp>
      <p:pic>
        <p:nvPicPr>
          <p:cNvPr id="144" name="Google Shape;144;p26">
            <a:extLst>
              <a:ext uri="{FF2B5EF4-FFF2-40B4-BE49-F238E27FC236}">
                <a16:creationId xmlns:a16="http://schemas.microsoft.com/office/drawing/2014/main" id="{F94BB143-9693-8A17-8AF5-251EA7151B69}"/>
              </a:ext>
            </a:extLst>
          </p:cNvPr>
          <p:cNvPicPr preferRelativeResize="0"/>
          <p:nvPr/>
        </p:nvPicPr>
        <p:blipFill>
          <a:blip r:embed="rId3">
            <a:alphaModFix/>
          </a:blip>
          <a:stretch>
            <a:fillRect/>
          </a:stretch>
        </p:blipFill>
        <p:spPr>
          <a:xfrm>
            <a:off x="0" y="0"/>
            <a:ext cx="546501" cy="514350"/>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A57AAC6-C80B-729D-F5E2-E64BA47C9E4F}"/>
                  </a:ext>
                </a:extLst>
              </p:cNvPr>
              <p:cNvSpPr>
                <a:spLocks noGrp="1"/>
              </p:cNvSpPr>
              <p:nvPr>
                <p:ph type="body" idx="1"/>
              </p:nvPr>
            </p:nvSpPr>
            <p:spPr/>
            <p:txBody>
              <a:bodyPr/>
              <a:lstStyle/>
              <a:p>
                <a:pPr marL="114300" indent="0">
                  <a:buNone/>
                </a:pPr>
                <a:r>
                  <a:rPr lang="en-IN" b="1" dirty="0"/>
                  <a:t>Updating  Linear regression</a:t>
                </a:r>
              </a:p>
              <a:p>
                <a:pPr marL="114300" indent="0">
                  <a:buNone/>
                </a:pPr>
                <a:endParaRPr lang="en-IN" b="1" dirty="0"/>
              </a:p>
              <a:p>
                <a:pPr marL="114300" indent="0">
                  <a:buNone/>
                </a:pPr>
                <a:r>
                  <a:rPr lang="en-IN" b="1" dirty="0"/>
                  <a:t>Constraints</a:t>
                </a:r>
                <a:r>
                  <a:rPr lang="en-IN" dirty="0"/>
                  <a:t>:</a:t>
                </a:r>
              </a:p>
              <a:p>
                <a:pPr marL="742950" lvl="1" indent="-285750">
                  <a:buFont typeface="Wingdings" panose="05000000000000000000" pitchFamily="2" charset="2"/>
                  <a:buChar char="q"/>
                </a:pPr>
                <a:r>
                  <a:rPr lang="en-IN" b="1" dirty="0"/>
                  <a:t>Price (PPL)</a:t>
                </a:r>
                <a:r>
                  <a:rPr lang="en-IN" dirty="0"/>
                  <a:t>: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𝛽</m:t>
                        </m:r>
                      </m:e>
                      <m:sub>
                        <m:r>
                          <a:rPr lang="en-IN" b="0" i="1" smtClean="0">
                            <a:latin typeface="Cambria Math" panose="02040503050406030204" pitchFamily="18" charset="0"/>
                          </a:rPr>
                          <m:t>1</m:t>
                        </m:r>
                      </m:sub>
                    </m:sSub>
                  </m:oMath>
                </a14:m>
                <a:r>
                  <a:rPr lang="el-GR" dirty="0"/>
                  <a:t> ≤ 0 (</a:t>
                </a:r>
                <a:r>
                  <a:rPr lang="en-IN" dirty="0"/>
                  <a:t>price increase reduces sales).</a:t>
                </a:r>
              </a:p>
              <a:p>
                <a:pPr marL="742950" lvl="1" indent="-285750">
                  <a:buFont typeface="Wingdings" panose="05000000000000000000" pitchFamily="2" charset="2"/>
                  <a:buChar char="q"/>
                </a:pPr>
                <a:r>
                  <a:rPr lang="en-IN" b="1" dirty="0"/>
                  <a:t>Competition prices</a:t>
                </a:r>
                <a:r>
                  <a:rPr lang="en-IN" dirty="0"/>
                  <a:t>: </a:t>
                </a:r>
                <a:r>
                  <a:rPr lang="el-GR" dirty="0"/>
                  <a:t>β2, β3, β4 ≥ 0 (</a:t>
                </a:r>
                <a:r>
                  <a:rPr lang="en-IN" dirty="0"/>
                  <a:t>competitor price increase boosts sales).</a:t>
                </a:r>
              </a:p>
              <a:p>
                <a:pPr lvl="1">
                  <a:buFont typeface="Wingdings" panose="05000000000000000000" pitchFamily="2" charset="2"/>
                  <a:buChar char="q"/>
                </a:pPr>
                <a:r>
                  <a:rPr lang="en-IN" b="1" dirty="0"/>
                  <a:t>Optimization</a:t>
                </a:r>
                <a:r>
                  <a:rPr lang="en-IN" dirty="0"/>
                  <a:t>: Constrained optimization using SLSQP</a:t>
                </a:r>
              </a:p>
              <a:p>
                <a:pPr>
                  <a:buFont typeface="Arial" panose="020B0604020202020204" pitchFamily="34" charset="0"/>
                  <a:buChar char="•"/>
                </a:pPr>
                <a:endParaRPr lang="en-IN" dirty="0"/>
              </a:p>
              <a:p>
                <a:pPr marL="114300" indent="0">
                  <a:buNone/>
                </a:pPr>
                <a:r>
                  <a:rPr lang="en-IN" b="1" dirty="0"/>
                  <a:t>Updating Linear price to Non linear Price</a:t>
                </a:r>
              </a:p>
              <a:p>
                <a:pPr marL="114300" indent="0">
                  <a:buNone/>
                </a:pPr>
                <a:endParaRPr lang="en-IN" b="1" dirty="0"/>
              </a:p>
              <a:p>
                <a:pPr>
                  <a:buFont typeface="Wingdings" panose="05000000000000000000" pitchFamily="2" charset="2"/>
                  <a:buChar char="q"/>
                </a:pPr>
                <a:r>
                  <a:rPr lang="en-IN" b="1" dirty="0"/>
                  <a:t> </a:t>
                </a:r>
                <a:r>
                  <a:rPr lang="en-IN" dirty="0"/>
                  <a:t>Transform the price into cubic function so we added new features </a:t>
                </a:r>
                <a14:m>
                  <m:oMath xmlns:m="http://schemas.openxmlformats.org/officeDocument/2006/math">
                    <m:sSup>
                      <m:sSupPr>
                        <m:ctrlPr>
                          <a:rPr lang="en-IN" i="1" smtClean="0">
                            <a:latin typeface="Cambria Math" panose="02040503050406030204" pitchFamily="18" charset="0"/>
                          </a:rPr>
                        </m:ctrlPr>
                      </m:sSupPr>
                      <m:e>
                        <m:r>
                          <a:rPr lang="en-IN" b="0" i="1" smtClean="0">
                            <a:latin typeface="Cambria Math" panose="02040503050406030204" pitchFamily="18" charset="0"/>
                          </a:rPr>
                          <m:t>𝑝</m:t>
                        </m:r>
                      </m:e>
                      <m:sup>
                        <m:r>
                          <a:rPr lang="en-IN" b="0" i="1" smtClean="0">
                            <a:latin typeface="Cambria Math" panose="02040503050406030204" pitchFamily="18" charset="0"/>
                          </a:rPr>
                          <m:t>2</m:t>
                        </m:r>
                      </m:sup>
                    </m:sSup>
                    <m:r>
                      <a:rPr lang="en-IN" b="0" i="1" smtClean="0">
                        <a:latin typeface="Cambria Math" panose="02040503050406030204" pitchFamily="18" charset="0"/>
                      </a:rPr>
                      <m:t>,</m:t>
                    </m:r>
                    <m:sSup>
                      <m:sSupPr>
                        <m:ctrlPr>
                          <a:rPr lang="en-IN" i="1" smtClean="0">
                            <a:latin typeface="Cambria Math" panose="02040503050406030204" pitchFamily="18" charset="0"/>
                          </a:rPr>
                        </m:ctrlPr>
                      </m:sSupPr>
                      <m:e>
                        <m:r>
                          <a:rPr lang="en-IN" b="0" i="1" smtClean="0">
                            <a:latin typeface="Cambria Math" panose="02040503050406030204" pitchFamily="18" charset="0"/>
                          </a:rPr>
                          <m:t>𝑝</m:t>
                        </m:r>
                      </m:e>
                      <m:sup>
                        <m:r>
                          <a:rPr lang="en-IN" b="0" i="1" smtClean="0">
                            <a:latin typeface="Cambria Math" panose="02040503050406030204" pitchFamily="18" charset="0"/>
                          </a:rPr>
                          <m:t>3</m:t>
                        </m:r>
                      </m:sup>
                    </m:sSup>
                  </m:oMath>
                </a14:m>
                <a:r>
                  <a:rPr lang="en-IN" dirty="0"/>
                  <a:t> and then apply our regression model with same constraints.</a:t>
                </a:r>
              </a:p>
            </p:txBody>
          </p:sp>
        </mc:Choice>
        <mc:Fallback xmlns="">
          <p:sp>
            <p:nvSpPr>
              <p:cNvPr id="3" name="Text Placeholder 2">
                <a:extLst>
                  <a:ext uri="{FF2B5EF4-FFF2-40B4-BE49-F238E27FC236}">
                    <a16:creationId xmlns:a16="http://schemas.microsoft.com/office/drawing/2014/main" id="{7A57AAC6-C80B-729D-F5E2-E64BA47C9E4F}"/>
                  </a:ext>
                </a:extLst>
              </p:cNvPr>
              <p:cNvSpPr>
                <a:spLocks noGrp="1" noRot="1" noChangeAspect="1" noMove="1" noResize="1" noEditPoints="1" noAdjustHandles="1" noChangeArrowheads="1" noChangeShapeType="1" noTextEdit="1"/>
              </p:cNvSpPr>
              <p:nvPr>
                <p:ph type="body" idx="1"/>
              </p:nvPr>
            </p:nvSpPr>
            <p:spPr>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71656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50002F8B-FFA3-5C71-4F32-A134FA4C18C3}"/>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AEDEF9EA-6A0D-A1A9-CE8F-AF0057AB3F15}"/>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Approach: Ridge regression</a:t>
            </a:r>
            <a:endParaRPr sz="2600" b="1" dirty="0"/>
          </a:p>
        </p:txBody>
      </p:sp>
      <p:sp>
        <p:nvSpPr>
          <p:cNvPr id="143" name="Google Shape;143;p26">
            <a:extLst>
              <a:ext uri="{FF2B5EF4-FFF2-40B4-BE49-F238E27FC236}">
                <a16:creationId xmlns:a16="http://schemas.microsoft.com/office/drawing/2014/main" id="{44CDCEC0-D603-1C50-1EB3-0AD0B883DC44}"/>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19</a:t>
            </a:fld>
            <a:endParaRPr/>
          </a:p>
        </p:txBody>
      </p:sp>
      <p:pic>
        <p:nvPicPr>
          <p:cNvPr id="144" name="Google Shape;144;p26">
            <a:extLst>
              <a:ext uri="{FF2B5EF4-FFF2-40B4-BE49-F238E27FC236}">
                <a16:creationId xmlns:a16="http://schemas.microsoft.com/office/drawing/2014/main" id="{B2039BA9-87AD-1385-BAF5-11E9EE18C6B2}"/>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2" name="Text Placeholder 1">
            <a:extLst>
              <a:ext uri="{FF2B5EF4-FFF2-40B4-BE49-F238E27FC236}">
                <a16:creationId xmlns:a16="http://schemas.microsoft.com/office/drawing/2014/main" id="{A33200B5-E779-9C34-EA71-F2FA7F56DE56}"/>
              </a:ext>
            </a:extLst>
          </p:cNvPr>
          <p:cNvSpPr>
            <a:spLocks noGrp="1" noChangeArrowheads="1"/>
          </p:cNvSpPr>
          <p:nvPr>
            <p:ph type="body" idx="1"/>
          </p:nvPr>
        </p:nvSpPr>
        <p:spPr bwMode="auto">
          <a:xfrm>
            <a:off x="193288" y="714003"/>
            <a:ext cx="868405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Price Variable Transformation (PPL):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Applied various transformations (reciprocal, exponential, and linear) to enhance flexibility and capture non-linear relationships.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The transformation yielding the lowest Mean Absolute Percentage Error (MAPE) is selected.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Constraints &amp; Regularization: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Implemented </a:t>
            </a:r>
            <a:r>
              <a:rPr kumimoji="0" lang="en-US" altLang="en-US" sz="1800" b="1" i="0" u="none" strike="noStrike" cap="none" normalizeH="0" baseline="0" dirty="0">
                <a:ln>
                  <a:noFill/>
                </a:ln>
                <a:solidFill>
                  <a:schemeClr val="tx1"/>
                </a:solidFill>
                <a:effectLst/>
                <a:latin typeface="Arial" panose="020B0604020202020204" pitchFamily="34" charset="0"/>
              </a:rPr>
              <a:t>L2 regularization (Ridge)</a:t>
            </a:r>
            <a:r>
              <a:rPr kumimoji="0" lang="en-US" altLang="en-US" sz="1800" b="0" i="0" u="none" strike="noStrike" cap="none" normalizeH="0" baseline="0" dirty="0">
                <a:ln>
                  <a:noFill/>
                </a:ln>
                <a:solidFill>
                  <a:schemeClr val="tx1"/>
                </a:solidFill>
                <a:effectLst/>
                <a:latin typeface="Arial" panose="020B0604020202020204" pitchFamily="34" charset="0"/>
              </a:rPr>
              <a:t> to prevent overfitting and improve model stability.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Introduced constraints on feature weights to enhance model robustness and preserving  economic behavior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44863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54299BB2-5EC4-7729-5D80-F58E19D189C4}"/>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9FC90C1F-AA92-72E8-5AF7-A395A35B6EC2}"/>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Workflow</a:t>
            </a:r>
            <a:endParaRPr sz="2600" b="1" dirty="0"/>
          </a:p>
        </p:txBody>
      </p:sp>
      <p:sp>
        <p:nvSpPr>
          <p:cNvPr id="143" name="Google Shape;143;p26">
            <a:extLst>
              <a:ext uri="{FF2B5EF4-FFF2-40B4-BE49-F238E27FC236}">
                <a16:creationId xmlns:a16="http://schemas.microsoft.com/office/drawing/2014/main" id="{DDC19EBE-7E56-5C19-0591-39EFA7CF7364}"/>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20</a:t>
            </a:fld>
            <a:endParaRPr/>
          </a:p>
        </p:txBody>
      </p:sp>
      <p:pic>
        <p:nvPicPr>
          <p:cNvPr id="144" name="Google Shape;144;p26">
            <a:extLst>
              <a:ext uri="{FF2B5EF4-FFF2-40B4-BE49-F238E27FC236}">
                <a16:creationId xmlns:a16="http://schemas.microsoft.com/office/drawing/2014/main" id="{4BFF16E3-2F12-967F-8948-78AEB5096310}"/>
              </a:ext>
            </a:extLst>
          </p:cNvPr>
          <p:cNvPicPr preferRelativeResize="0"/>
          <p:nvPr/>
        </p:nvPicPr>
        <p:blipFill>
          <a:blip r:embed="rId3">
            <a:alphaModFix/>
          </a:blip>
          <a:stretch>
            <a:fillRect/>
          </a:stretch>
        </p:blipFill>
        <p:spPr>
          <a:xfrm>
            <a:off x="0" y="0"/>
            <a:ext cx="546501" cy="514350"/>
          </a:xfrm>
          <a:prstGeom prst="rect">
            <a:avLst/>
          </a:prstGeom>
          <a:noFill/>
          <a:ln>
            <a:noFill/>
          </a:ln>
        </p:spPr>
      </p:pic>
      <p:pic>
        <p:nvPicPr>
          <p:cNvPr id="4" name="Picture 3">
            <a:extLst>
              <a:ext uri="{FF2B5EF4-FFF2-40B4-BE49-F238E27FC236}">
                <a16:creationId xmlns:a16="http://schemas.microsoft.com/office/drawing/2014/main" id="{A06B6B33-5022-E3E2-CD01-8A43CA854612}"/>
              </a:ext>
            </a:extLst>
          </p:cNvPr>
          <p:cNvPicPr>
            <a:picLocks noChangeAspect="1"/>
          </p:cNvPicPr>
          <p:nvPr/>
        </p:nvPicPr>
        <p:blipFill>
          <a:blip r:embed="rId4"/>
          <a:stretch>
            <a:fillRect/>
          </a:stretch>
        </p:blipFill>
        <p:spPr>
          <a:xfrm>
            <a:off x="273250" y="646348"/>
            <a:ext cx="5642517" cy="4105625"/>
          </a:xfrm>
          <a:prstGeom prst="rect">
            <a:avLst/>
          </a:prstGeom>
        </p:spPr>
      </p:pic>
      <p:sp>
        <p:nvSpPr>
          <p:cNvPr id="5" name="TextBox 4">
            <a:extLst>
              <a:ext uri="{FF2B5EF4-FFF2-40B4-BE49-F238E27FC236}">
                <a16:creationId xmlns:a16="http://schemas.microsoft.com/office/drawing/2014/main" id="{16ED13BE-486E-2A67-2FCD-D379B07E1E1D}"/>
              </a:ext>
            </a:extLst>
          </p:cNvPr>
          <p:cNvSpPr txBox="1"/>
          <p:nvPr/>
        </p:nvSpPr>
        <p:spPr>
          <a:xfrm>
            <a:off x="6200078" y="1918009"/>
            <a:ext cx="2670672" cy="1815882"/>
          </a:xfrm>
          <a:prstGeom prst="rect">
            <a:avLst/>
          </a:prstGeom>
          <a:noFill/>
        </p:spPr>
        <p:txBody>
          <a:bodyPr wrap="square" rtlCol="0">
            <a:spAutoFit/>
          </a:bodyPr>
          <a:lstStyle/>
          <a:p>
            <a:pPr marL="285750" indent="-285750">
              <a:buFont typeface="Wingdings" panose="05000000000000000000" pitchFamily="2" charset="2"/>
              <a:buChar char="ü"/>
            </a:pPr>
            <a:r>
              <a:rPr lang="en-IN" sz="1600" dirty="0"/>
              <a:t>We used the results of this approach to find the final results and after that we use the result to determine the demand curve for various transformations.</a:t>
            </a:r>
          </a:p>
        </p:txBody>
      </p:sp>
    </p:spTree>
    <p:extLst>
      <p:ext uri="{BB962C8B-B14F-4D97-AF65-F5344CB8AC3E}">
        <p14:creationId xmlns:p14="http://schemas.microsoft.com/office/powerpoint/2010/main" val="11518899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20DCF22E-89BC-458D-C4C7-525997A7F25A}"/>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031D7070-A781-93AE-BD62-284E6D9A2755}"/>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Transformations</a:t>
            </a:r>
            <a:endParaRPr sz="2600" b="1" dirty="0"/>
          </a:p>
        </p:txBody>
      </p:sp>
      <p:sp>
        <p:nvSpPr>
          <p:cNvPr id="143" name="Google Shape;143;p26">
            <a:extLst>
              <a:ext uri="{FF2B5EF4-FFF2-40B4-BE49-F238E27FC236}">
                <a16:creationId xmlns:a16="http://schemas.microsoft.com/office/drawing/2014/main" id="{F324FC45-B328-F0AD-DE6B-24C04529F92A}"/>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21</a:t>
            </a:fld>
            <a:endParaRPr/>
          </a:p>
        </p:txBody>
      </p:sp>
      <p:pic>
        <p:nvPicPr>
          <p:cNvPr id="144" name="Google Shape;144;p26">
            <a:extLst>
              <a:ext uri="{FF2B5EF4-FFF2-40B4-BE49-F238E27FC236}">
                <a16:creationId xmlns:a16="http://schemas.microsoft.com/office/drawing/2014/main" id="{F2ACD500-0DC2-E8EB-31E1-8E49E1E079AF}"/>
              </a:ext>
            </a:extLst>
          </p:cNvPr>
          <p:cNvPicPr preferRelativeResize="0"/>
          <p:nvPr/>
        </p:nvPicPr>
        <p:blipFill>
          <a:blip r:embed="rId3">
            <a:alphaModFix/>
          </a:blip>
          <a:stretch>
            <a:fillRect/>
          </a:stretch>
        </p:blipFill>
        <p:spPr>
          <a:xfrm>
            <a:off x="0" y="0"/>
            <a:ext cx="546501" cy="514350"/>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A6F47A3-8E5D-7AFA-ADD8-DCD940D043E9}"/>
                  </a:ext>
                </a:extLst>
              </p:cNvPr>
              <p:cNvSpPr>
                <a:spLocks noGrp="1"/>
              </p:cNvSpPr>
              <p:nvPr>
                <p:ph type="body" idx="1"/>
              </p:nvPr>
            </p:nvSpPr>
            <p:spPr>
              <a:xfrm>
                <a:off x="304800" y="685800"/>
                <a:ext cx="4029307" cy="4114800"/>
              </a:xfrm>
            </p:spPr>
            <p:txBody>
              <a:bodyPr/>
              <a:lstStyle/>
              <a:p>
                <a:pPr marL="114300" indent="0">
                  <a:buNone/>
                </a:pPr>
                <a:r>
                  <a:rPr lang="en-IN" b="1" dirty="0"/>
                  <a:t>Reciprocal Transformation</a:t>
                </a:r>
              </a:p>
              <a:p>
                <a:r>
                  <a:rPr lang="en-IN" dirty="0"/>
                  <a:t>Change Price to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m:rPr>
                            <m:sty m:val="p"/>
                          </m:rPr>
                          <a:rPr lang="en-IN" b="0" i="0" smtClean="0">
                            <a:latin typeface="Cambria Math" panose="02040503050406030204" pitchFamily="18" charset="0"/>
                          </a:rPr>
                          <m:t>reciprocal</m:t>
                        </m:r>
                      </m:sub>
                    </m:sSub>
                    <m:r>
                      <a:rPr lang="en-IN" b="0" i="0" smtClean="0">
                        <a:latin typeface="Cambria Math" panose="02040503050406030204" pitchFamily="18" charset="0"/>
                      </a:rPr>
                      <m:t>=</m:t>
                    </m:r>
                    <m:f>
                      <m:fPr>
                        <m:ctrlPr>
                          <a:rPr lang="en-IN" b="0" i="1" smtClean="0">
                            <a:latin typeface="Cambria Math" panose="02040503050406030204" pitchFamily="18" charset="0"/>
                          </a:rPr>
                        </m:ctrlPr>
                      </m:fPr>
                      <m:num>
                        <m:r>
                          <a:rPr lang="en-IN" b="0" i="0" smtClean="0">
                            <a:latin typeface="Cambria Math" panose="02040503050406030204" pitchFamily="18" charset="0"/>
                          </a:rPr>
                          <m:t>1 </m:t>
                        </m:r>
                      </m:num>
                      <m:den>
                        <m:r>
                          <m:rPr>
                            <m:sty m:val="p"/>
                          </m:rPr>
                          <a:rPr lang="en-IN" b="0" i="0" smtClean="0">
                            <a:latin typeface="Cambria Math" panose="02040503050406030204" pitchFamily="18" charset="0"/>
                          </a:rPr>
                          <m:t>ppl</m:t>
                        </m:r>
                      </m:den>
                    </m:f>
                    <m:r>
                      <a:rPr lang="en-IN" b="0" i="0" smtClean="0">
                        <a:latin typeface="Cambria Math" panose="02040503050406030204" pitchFamily="18" charset="0"/>
                      </a:rPr>
                      <m:t> </m:t>
                    </m:r>
                  </m:oMath>
                </a14:m>
                <a:endParaRPr lang="en-IN" b="0" dirty="0"/>
              </a:p>
              <a:p>
                <a:pPr marL="114300" indent="0">
                  <a:buNone/>
                </a:pPr>
                <a:endParaRPr lang="en-IN" b="0" dirty="0"/>
              </a:p>
              <a:p>
                <a:pPr marL="114300" indent="0">
                  <a:buNone/>
                </a:pPr>
                <a:r>
                  <a:rPr lang="en-IN" b="1" dirty="0"/>
                  <a:t>Exponential Transformation</a:t>
                </a:r>
              </a:p>
              <a:p>
                <a:r>
                  <a:rPr lang="en-IN" dirty="0"/>
                  <a:t>Change Price to </a:t>
                </a:r>
                <a14:m>
                  <m:oMath xmlns:m="http://schemas.openxmlformats.org/officeDocument/2006/math">
                    <m:sSup>
                      <m:sSupPr>
                        <m:ctrlPr>
                          <a:rPr lang="en-IN" i="1" smtClean="0">
                            <a:latin typeface="Cambria Math" panose="02040503050406030204" pitchFamily="18" charset="0"/>
                          </a:rPr>
                        </m:ctrlPr>
                      </m:sSupPr>
                      <m:e>
                        <m:sSub>
                          <m:sSubPr>
                            <m:ctrlPr>
                              <a:rPr lang="en-IN" b="0" i="1" smtClean="0">
                                <a:latin typeface="Cambria Math" panose="02040503050406030204" pitchFamily="18" charset="0"/>
                              </a:rPr>
                            </m:ctrlPr>
                          </m:sSubPr>
                          <m:e>
                            <m:r>
                              <a:rPr lang="en-IN" b="0" i="1" smtClean="0">
                                <a:latin typeface="Cambria Math" panose="02040503050406030204" pitchFamily="18" charset="0"/>
                              </a:rPr>
                              <m:t>𝑝</m:t>
                            </m:r>
                          </m:e>
                          <m:sub>
                            <m:r>
                              <a:rPr lang="en-IN" b="0" i="1" smtClean="0">
                                <a:latin typeface="Cambria Math" panose="02040503050406030204" pitchFamily="18" charset="0"/>
                              </a:rPr>
                              <m:t>𝑛𝑒𝑔</m:t>
                            </m:r>
                            <m:r>
                              <a:rPr lang="en-IN" b="0" i="1" smtClean="0">
                                <a:latin typeface="Cambria Math" panose="02040503050406030204" pitchFamily="18" charset="0"/>
                              </a:rPr>
                              <m:t> </m:t>
                            </m:r>
                            <m:r>
                              <a:rPr lang="en-IN" b="0" i="1" smtClean="0">
                                <a:latin typeface="Cambria Math" panose="02040503050406030204" pitchFamily="18" charset="0"/>
                              </a:rPr>
                              <m:t>𝑒𝑥𝑝</m:t>
                            </m:r>
                          </m:sub>
                        </m:sSub>
                        <m:r>
                          <a:rPr lang="en-IN" b="0" i="1" smtClean="0">
                            <a:latin typeface="Cambria Math" panose="02040503050406030204" pitchFamily="18" charset="0"/>
                          </a:rPr>
                          <m:t>=</m:t>
                        </m:r>
                        <m:r>
                          <a:rPr lang="en-IN" i="1" smtClean="0">
                            <a:latin typeface="Cambria Math" panose="02040503050406030204" pitchFamily="18" charset="0"/>
                          </a:rPr>
                          <m:t>𝑒</m:t>
                        </m:r>
                      </m:e>
                      <m:sup>
                        <m:r>
                          <a:rPr lang="en-IN" i="1" smtClean="0">
                            <a:latin typeface="Cambria Math" panose="02040503050406030204" pitchFamily="18" charset="0"/>
                          </a:rPr>
                          <m:t>−</m:t>
                        </m:r>
                        <m:r>
                          <a:rPr lang="en-IN" b="0" i="1" smtClean="0">
                            <a:latin typeface="Cambria Math" panose="02040503050406030204" pitchFamily="18" charset="0"/>
                          </a:rPr>
                          <m:t>𝑝𝑝𝑙</m:t>
                        </m:r>
                      </m:sup>
                    </m:sSup>
                    <m:r>
                      <a:rPr lang="en-IN" b="0" i="1" smtClean="0">
                        <a:latin typeface="Cambria Math" panose="02040503050406030204" pitchFamily="18" charset="0"/>
                      </a:rPr>
                      <m:t> </m:t>
                    </m:r>
                  </m:oMath>
                </a14:m>
                <a:endParaRPr lang="en-IN" b="0" dirty="0"/>
              </a:p>
              <a:p>
                <a:pPr marL="114300" indent="0">
                  <a:buNone/>
                </a:pPr>
                <a:endParaRPr lang="en-IN" b="1" dirty="0"/>
              </a:p>
              <a:p>
                <a:pPr marL="114300" indent="0">
                  <a:buNone/>
                </a:pPr>
                <a:r>
                  <a:rPr lang="en-IN" b="1" dirty="0"/>
                  <a:t>Linear Transformation </a:t>
                </a:r>
              </a:p>
              <a:p>
                <a:r>
                  <a:rPr lang="en-IN" dirty="0"/>
                  <a:t>No change in price </a:t>
                </a:r>
                <a14:m>
                  <m:oMath xmlns:m="http://schemas.openxmlformats.org/officeDocument/2006/math">
                    <m:r>
                      <a:rPr lang="en-IN" b="0" i="1" smtClean="0">
                        <a:latin typeface="Cambria Math" panose="02040503050406030204" pitchFamily="18" charset="0"/>
                      </a:rPr>
                      <m:t>𝑝</m:t>
                    </m:r>
                    <m:r>
                      <a:rPr lang="en-IN" b="0" i="1" smtClean="0">
                        <a:latin typeface="Cambria Math" panose="02040503050406030204" pitchFamily="18" charset="0"/>
                      </a:rPr>
                      <m:t>=</m:t>
                    </m:r>
                    <m:r>
                      <a:rPr lang="en-IN" b="0" i="1" smtClean="0">
                        <a:latin typeface="Cambria Math" panose="02040503050406030204" pitchFamily="18" charset="0"/>
                      </a:rPr>
                      <m:t>𝑝𝑝𝑙</m:t>
                    </m:r>
                    <m:r>
                      <a:rPr lang="en-IN" b="0" i="1" smtClean="0">
                        <a:latin typeface="Cambria Math" panose="02040503050406030204" pitchFamily="18" charset="0"/>
                      </a:rPr>
                      <m:t> </m:t>
                    </m:r>
                  </m:oMath>
                </a14:m>
                <a:endParaRPr lang="en-IN" b="0" dirty="0"/>
              </a:p>
              <a:p>
                <a:r>
                  <a:rPr lang="en-IN" b="0" dirty="0"/>
                  <a:t>Used constraint in this to satisfy underline assumption of negative slope</a:t>
                </a:r>
              </a:p>
              <a:p>
                <a:pPr marL="114300" indent="0">
                  <a:buNone/>
                </a:pPr>
                <a:endParaRPr lang="en-IN" b="0" dirty="0"/>
              </a:p>
            </p:txBody>
          </p:sp>
        </mc:Choice>
        <mc:Fallback xmlns="">
          <p:sp>
            <p:nvSpPr>
              <p:cNvPr id="3" name="Text Placeholder 2">
                <a:extLst>
                  <a:ext uri="{FF2B5EF4-FFF2-40B4-BE49-F238E27FC236}">
                    <a16:creationId xmlns:a16="http://schemas.microsoft.com/office/drawing/2014/main" id="{CA6F47A3-8E5D-7AFA-ADD8-DCD940D043E9}"/>
                  </a:ext>
                </a:extLst>
              </p:cNvPr>
              <p:cNvSpPr>
                <a:spLocks noGrp="1" noRot="1" noChangeAspect="1" noMove="1" noResize="1" noEditPoints="1" noAdjustHandles="1" noChangeArrowheads="1" noChangeShapeType="1" noTextEdit="1"/>
              </p:cNvSpPr>
              <p:nvPr>
                <p:ph type="body" idx="1"/>
              </p:nvPr>
            </p:nvSpPr>
            <p:spPr>
              <a:xfrm>
                <a:off x="304800" y="685800"/>
                <a:ext cx="4029307" cy="4114800"/>
              </a:xfrm>
              <a:blipFill>
                <a:blip r:embed="rId4"/>
                <a:stretch>
                  <a:fillRect r="-908"/>
                </a:stretch>
              </a:blipFill>
            </p:spPr>
            <p:txBody>
              <a:bodyPr/>
              <a:lstStyle/>
              <a:p>
                <a:r>
                  <a:rPr lang="en-IN">
                    <a:noFill/>
                  </a:rPr>
                  <a:t> </a:t>
                </a:r>
              </a:p>
            </p:txBody>
          </p:sp>
        </mc:Fallback>
      </mc:AlternateContent>
    </p:spTree>
    <p:extLst>
      <p:ext uri="{BB962C8B-B14F-4D97-AF65-F5344CB8AC3E}">
        <p14:creationId xmlns:p14="http://schemas.microsoft.com/office/powerpoint/2010/main" val="1037248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C5CCA316-E55F-7946-7D41-73AE44932569}"/>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FAC89600-60D2-ABF6-D495-55E43F982421}"/>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Price Elasticity</a:t>
            </a:r>
            <a:endParaRPr sz="2600" b="1" dirty="0"/>
          </a:p>
        </p:txBody>
      </p:sp>
      <p:sp>
        <p:nvSpPr>
          <p:cNvPr id="143" name="Google Shape;143;p26">
            <a:extLst>
              <a:ext uri="{FF2B5EF4-FFF2-40B4-BE49-F238E27FC236}">
                <a16:creationId xmlns:a16="http://schemas.microsoft.com/office/drawing/2014/main" id="{528A7F1E-3E54-8C9D-E2C6-F9DCDBF5B40D}"/>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22</a:t>
            </a:fld>
            <a:endParaRPr/>
          </a:p>
        </p:txBody>
      </p:sp>
      <p:pic>
        <p:nvPicPr>
          <p:cNvPr id="144" name="Google Shape;144;p26">
            <a:extLst>
              <a:ext uri="{FF2B5EF4-FFF2-40B4-BE49-F238E27FC236}">
                <a16:creationId xmlns:a16="http://schemas.microsoft.com/office/drawing/2014/main" id="{183B0E83-6EE9-415D-41E7-D2CD69736612}"/>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1D75EDB8-213C-FB87-C1B9-1D9D77385657}"/>
              </a:ext>
            </a:extLst>
          </p:cNvPr>
          <p:cNvSpPr>
            <a:spLocks noGrp="1"/>
          </p:cNvSpPr>
          <p:nvPr>
            <p:ph type="body" idx="1"/>
          </p:nvPr>
        </p:nvSpPr>
        <p:spPr/>
        <p:txBody>
          <a:bodyPr/>
          <a:lstStyle/>
          <a:p>
            <a:endParaRPr lang="en-IN" b="1" dirty="0"/>
          </a:p>
          <a:p>
            <a:r>
              <a:rPr lang="en-IN" b="1" dirty="0"/>
              <a:t>Elasticity Formula:</a:t>
            </a:r>
          </a:p>
          <a:p>
            <a:pPr marL="114300" indent="0">
              <a:buNone/>
            </a:pPr>
            <a:endParaRPr lang="en-IN" dirty="0"/>
          </a:p>
          <a:p>
            <a:pPr marL="114300" indent="0">
              <a:buNone/>
            </a:pPr>
            <a:endParaRPr lang="en-IN" dirty="0"/>
          </a:p>
          <a:p>
            <a:pPr marL="114300" indent="0">
              <a:buNone/>
            </a:pPr>
            <a:r>
              <a:rPr lang="en-US" b="1" dirty="0"/>
              <a:t>Elastic vs. Inelastic Demand:</a:t>
            </a:r>
          </a:p>
          <a:p>
            <a:pPr>
              <a:buFont typeface="Wingdings" panose="05000000000000000000" pitchFamily="2" charset="2"/>
              <a:buChar char="q"/>
            </a:pPr>
            <a:r>
              <a:rPr lang="en-US" b="1" dirty="0"/>
              <a:t>Elastic (|ε| &gt; 1):</a:t>
            </a:r>
            <a:r>
              <a:rPr lang="en-US" dirty="0"/>
              <a:t> High responsiveness to price changes.</a:t>
            </a:r>
          </a:p>
          <a:p>
            <a:pPr marL="742950" lvl="1" indent="-285750">
              <a:buFont typeface="Arial" panose="020B0604020202020204" pitchFamily="34" charset="0"/>
              <a:buChar char="•"/>
            </a:pPr>
            <a:r>
              <a:rPr lang="en-US" dirty="0"/>
              <a:t>Small price changes → Larger demand changes.</a:t>
            </a:r>
          </a:p>
          <a:p>
            <a:pPr>
              <a:buFont typeface="Wingdings" panose="05000000000000000000" pitchFamily="2" charset="2"/>
              <a:buChar char="q"/>
            </a:pPr>
            <a:r>
              <a:rPr lang="en-US" b="1" dirty="0"/>
              <a:t>Inelastic (|ε| &lt; 1):</a:t>
            </a:r>
            <a:r>
              <a:rPr lang="en-US" dirty="0"/>
              <a:t> Low responsiveness to price changes.</a:t>
            </a:r>
          </a:p>
          <a:p>
            <a:pPr marL="742950" lvl="1" indent="-285750">
              <a:buFont typeface="Arial" panose="020B0604020202020204" pitchFamily="34" charset="0"/>
              <a:buChar char="•"/>
            </a:pPr>
            <a:r>
              <a:rPr lang="en-US" dirty="0"/>
              <a:t>Price increases → Potential revenue gains.</a:t>
            </a:r>
          </a:p>
          <a:p>
            <a:pPr>
              <a:buFont typeface="Wingdings" panose="05000000000000000000" pitchFamily="2" charset="2"/>
              <a:buChar char="q"/>
            </a:pPr>
            <a:r>
              <a:rPr lang="en-US" b="1" dirty="0"/>
              <a:t>Unit Elastic (|ε| = 1):</a:t>
            </a:r>
            <a:r>
              <a:rPr lang="en-US" dirty="0"/>
              <a:t> Proportional change in price and demand.</a:t>
            </a:r>
          </a:p>
          <a:p>
            <a:pPr marL="742950" lvl="1" indent="-285750">
              <a:buFont typeface="Arial" panose="020B0604020202020204" pitchFamily="34" charset="0"/>
              <a:buChar char="•"/>
            </a:pPr>
            <a:r>
              <a:rPr lang="en-US" dirty="0"/>
              <a:t>Revenue remains unchanged.</a:t>
            </a:r>
          </a:p>
          <a:p>
            <a:pPr marL="114300" indent="0">
              <a:buNone/>
            </a:pPr>
            <a:endParaRPr lang="en-IN" dirty="0"/>
          </a:p>
        </p:txBody>
      </p:sp>
      <p:pic>
        <p:nvPicPr>
          <p:cNvPr id="4" name="Picture 3">
            <a:extLst>
              <a:ext uri="{FF2B5EF4-FFF2-40B4-BE49-F238E27FC236}">
                <a16:creationId xmlns:a16="http://schemas.microsoft.com/office/drawing/2014/main" id="{8A45825B-CEDC-B812-00F1-3CA3CD1DF78A}"/>
              </a:ext>
            </a:extLst>
          </p:cNvPr>
          <p:cNvPicPr>
            <a:picLocks noChangeAspect="1"/>
          </p:cNvPicPr>
          <p:nvPr/>
        </p:nvPicPr>
        <p:blipFill>
          <a:blip r:embed="rId4"/>
          <a:stretch>
            <a:fillRect/>
          </a:stretch>
        </p:blipFill>
        <p:spPr>
          <a:xfrm>
            <a:off x="2887469" y="745273"/>
            <a:ext cx="2238375" cy="952500"/>
          </a:xfrm>
          <a:prstGeom prst="rect">
            <a:avLst/>
          </a:prstGeom>
        </p:spPr>
      </p:pic>
      <p:pic>
        <p:nvPicPr>
          <p:cNvPr id="2" name="Picture 1">
            <a:extLst>
              <a:ext uri="{FF2B5EF4-FFF2-40B4-BE49-F238E27FC236}">
                <a16:creationId xmlns:a16="http://schemas.microsoft.com/office/drawing/2014/main" id="{20DC7EEC-3F6A-52D1-191B-4E4C8A3F2E41}"/>
              </a:ext>
            </a:extLst>
          </p:cNvPr>
          <p:cNvPicPr>
            <a:picLocks noChangeAspect="1"/>
          </p:cNvPicPr>
          <p:nvPr/>
        </p:nvPicPr>
        <p:blipFill>
          <a:blip r:embed="rId5"/>
          <a:stretch>
            <a:fillRect/>
          </a:stretch>
        </p:blipFill>
        <p:spPr>
          <a:xfrm>
            <a:off x="6553200" y="895420"/>
            <a:ext cx="2238375" cy="1604706"/>
          </a:xfrm>
          <a:prstGeom prst="rect">
            <a:avLst/>
          </a:prstGeom>
        </p:spPr>
      </p:pic>
    </p:spTree>
    <p:extLst>
      <p:ext uri="{BB962C8B-B14F-4D97-AF65-F5344CB8AC3E}">
        <p14:creationId xmlns:p14="http://schemas.microsoft.com/office/powerpoint/2010/main" val="5135519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8630457C-F5C3-3A48-574C-F798349D9263}"/>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C2FD2FD9-6506-FAE7-19AB-0C8539D10C53}"/>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Demand Curve Formulation</a:t>
            </a:r>
            <a:endParaRPr sz="2600" b="1" dirty="0"/>
          </a:p>
        </p:txBody>
      </p:sp>
      <p:sp>
        <p:nvSpPr>
          <p:cNvPr id="143" name="Google Shape;143;p26">
            <a:extLst>
              <a:ext uri="{FF2B5EF4-FFF2-40B4-BE49-F238E27FC236}">
                <a16:creationId xmlns:a16="http://schemas.microsoft.com/office/drawing/2014/main" id="{02A41C26-4977-C9B5-5C8A-C028913CBE8A}"/>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23</a:t>
            </a:fld>
            <a:endParaRPr/>
          </a:p>
        </p:txBody>
      </p:sp>
      <p:pic>
        <p:nvPicPr>
          <p:cNvPr id="144" name="Google Shape;144;p26">
            <a:extLst>
              <a:ext uri="{FF2B5EF4-FFF2-40B4-BE49-F238E27FC236}">
                <a16:creationId xmlns:a16="http://schemas.microsoft.com/office/drawing/2014/main" id="{E0EC98E7-DDCA-0E28-4F28-0108D2833744}"/>
              </a:ext>
            </a:extLst>
          </p:cNvPr>
          <p:cNvPicPr preferRelativeResize="0"/>
          <p:nvPr/>
        </p:nvPicPr>
        <p:blipFill>
          <a:blip r:embed="rId3">
            <a:alphaModFix/>
          </a:blip>
          <a:stretch>
            <a:fillRect/>
          </a:stretch>
        </p:blipFill>
        <p:spPr>
          <a:xfrm>
            <a:off x="0" y="0"/>
            <a:ext cx="546501" cy="514350"/>
          </a:xfrm>
          <a:prstGeom prst="rect">
            <a:avLst/>
          </a:prstGeom>
          <a:noFill/>
          <a:ln>
            <a:noFill/>
          </a:ln>
        </p:spPr>
      </p:pic>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64E11685-5E6E-CE41-BA3E-5A73388C411C}"/>
                  </a:ext>
                </a:extLst>
              </p:cNvPr>
              <p:cNvSpPr>
                <a:spLocks noGrp="1"/>
              </p:cNvSpPr>
              <p:nvPr>
                <p:ph type="body" idx="1"/>
              </p:nvPr>
            </p:nvSpPr>
            <p:spPr/>
            <p:txBody>
              <a:bodyPr/>
              <a:lstStyle/>
              <a:p>
                <a:pPr>
                  <a:buFont typeface="Wingdings" panose="05000000000000000000" pitchFamily="2" charset="2"/>
                  <a:buChar char="ü"/>
                </a:pPr>
                <a:r>
                  <a:rPr lang="en-US" dirty="0"/>
                  <a:t>We form Demand Curve using the assumption that taking mean of other variable and multiply by their weights and we get a constant number then we add it to intercept term it gives one constant then we get</a:t>
                </a:r>
              </a:p>
              <a:p>
                <a:pPr marL="114300" indent="0">
                  <a:buNone/>
                </a:pPr>
                <a14:m>
                  <m:oMathPara xmlns:m="http://schemas.openxmlformats.org/officeDocument/2006/math">
                    <m:oMathParaPr>
                      <m:jc m:val="centerGroup"/>
                    </m:oMathParaPr>
                    <m:oMath xmlns:m="http://schemas.openxmlformats.org/officeDocument/2006/math">
                      <m:r>
                        <a:rPr lang="en-IN" b="0" i="1" smtClean="0">
                          <a:latin typeface="Cambria Math" panose="02040503050406030204" pitchFamily="18" charset="0"/>
                        </a:rPr>
                        <m:t>𝑦</m:t>
                      </m:r>
                      <m:r>
                        <a:rPr lang="en-IN" b="0" i="1" smtClean="0">
                          <a:latin typeface="Cambria Math" panose="02040503050406030204" pitchFamily="18" charset="0"/>
                        </a:rPr>
                        <m:t>=</m:t>
                      </m:r>
                      <m:r>
                        <a:rPr lang="en-IN" b="0" i="1" smtClean="0">
                          <a:latin typeface="Cambria Math" panose="02040503050406030204" pitchFamily="18" charset="0"/>
                        </a:rPr>
                        <m:t>𝑚𝑥</m:t>
                      </m:r>
                      <m:r>
                        <a:rPr lang="en-IN" b="0" i="1" smtClean="0">
                          <a:latin typeface="Cambria Math" panose="02040503050406030204" pitchFamily="18" charset="0"/>
                        </a:rPr>
                        <m:t>+</m:t>
                      </m:r>
                      <m:r>
                        <a:rPr lang="en-IN" b="0" i="1" smtClean="0">
                          <a:latin typeface="Cambria Math" panose="02040503050406030204" pitchFamily="18" charset="0"/>
                        </a:rPr>
                        <m:t>𝑏</m:t>
                      </m:r>
                      <m:r>
                        <a:rPr lang="en-IN" b="0" i="1" smtClean="0">
                          <a:latin typeface="Cambria Math" panose="02040503050406030204" pitchFamily="18" charset="0"/>
                        </a:rPr>
                        <m:t> </m:t>
                      </m:r>
                    </m:oMath>
                  </m:oMathPara>
                </a14:m>
                <a:endParaRPr lang="en-IN" dirty="0"/>
              </a:p>
              <a:p>
                <a:pPr marL="114300" indent="0">
                  <a:buNone/>
                </a:pPr>
                <a:r>
                  <a:rPr lang="en-IN" dirty="0"/>
                  <a:t>where </a:t>
                </a:r>
                <a14:m>
                  <m:oMath xmlns:m="http://schemas.openxmlformats.org/officeDocument/2006/math">
                    <m:r>
                      <a:rPr lang="en-IN" b="0" i="1" smtClean="0">
                        <a:latin typeface="Cambria Math" panose="02040503050406030204" pitchFamily="18" charset="0"/>
                      </a:rPr>
                      <m:t>𝑥</m:t>
                    </m:r>
                    <m:r>
                      <a:rPr lang="en-IN" b="0" i="1" smtClean="0">
                        <a:latin typeface="Cambria Math" panose="02040503050406030204" pitchFamily="18" charset="0"/>
                      </a:rPr>
                      <m:t>=</m:t>
                    </m:r>
                    <m:r>
                      <a:rPr lang="en-IN" b="0" i="1" smtClean="0">
                        <a:latin typeface="Cambria Math" panose="02040503050406030204" pitchFamily="18" charset="0"/>
                      </a:rPr>
                      <m:t>𝑡𝑟𝑎𝑛𝑠𝑓𝑜𝑟𝑚𝑒𝑑</m:t>
                    </m:r>
                    <m:r>
                      <a:rPr lang="en-IN" b="0" i="1" smtClean="0">
                        <a:latin typeface="Cambria Math" panose="02040503050406030204" pitchFamily="18" charset="0"/>
                      </a:rPr>
                      <m:t> </m:t>
                    </m:r>
                    <m:r>
                      <a:rPr lang="en-IN" b="0" i="1" smtClean="0">
                        <a:latin typeface="Cambria Math" panose="02040503050406030204" pitchFamily="18" charset="0"/>
                      </a:rPr>
                      <m:t>𝑝𝑟𝑖𝑐𝑒</m:t>
                    </m:r>
                    <m:r>
                      <a:rPr lang="en-IN" b="0" i="1" smtClean="0">
                        <a:latin typeface="Cambria Math" panose="02040503050406030204" pitchFamily="18" charset="0"/>
                      </a:rPr>
                      <m:t> </m:t>
                    </m:r>
                    <m:r>
                      <a:rPr lang="en-IN" b="0" i="1" smtClean="0">
                        <a:latin typeface="Cambria Math" panose="02040503050406030204" pitchFamily="18" charset="0"/>
                      </a:rPr>
                      <m:t>𝑣𝑎𝑙𝑢𝑒𝑠</m:t>
                    </m:r>
                  </m:oMath>
                </a14:m>
                <a:endParaRPr lang="en-IN" dirty="0"/>
              </a:p>
              <a:p>
                <a:pPr marL="114300" indent="0">
                  <a:buNone/>
                </a:pPr>
                <a:endParaRPr lang="en-IN" b="1" dirty="0"/>
              </a:p>
              <a:p>
                <a:pPr marL="114300" indent="0">
                  <a:buNone/>
                </a:pPr>
                <a:r>
                  <a:rPr lang="en-IN" b="1" dirty="0"/>
                  <a:t>For example-</a:t>
                </a:r>
              </a:p>
              <a:p>
                <a:pPr marL="114300" indent="0">
                  <a:buNone/>
                </a:pPr>
                <a:endParaRPr lang="en-US" b="1" dirty="0"/>
              </a:p>
            </p:txBody>
          </p:sp>
        </mc:Choice>
        <mc:Fallback xmlns="">
          <p:sp>
            <p:nvSpPr>
              <p:cNvPr id="3" name="Text Placeholder 2">
                <a:extLst>
                  <a:ext uri="{FF2B5EF4-FFF2-40B4-BE49-F238E27FC236}">
                    <a16:creationId xmlns:a16="http://schemas.microsoft.com/office/drawing/2014/main" id="{64E11685-5E6E-CE41-BA3E-5A73388C411C}"/>
                  </a:ext>
                </a:extLst>
              </p:cNvPr>
              <p:cNvSpPr>
                <a:spLocks noGrp="1" noRot="1" noChangeAspect="1" noMove="1" noResize="1" noEditPoints="1" noAdjustHandles="1" noChangeArrowheads="1" noChangeShapeType="1" noTextEdit="1"/>
              </p:cNvSpPr>
              <p:nvPr>
                <p:ph type="body" idx="1"/>
              </p:nvPr>
            </p:nvSpPr>
            <p:spPr>
              <a:blipFill>
                <a:blip r:embed="rId4"/>
                <a:stretch>
                  <a:fillRect/>
                </a:stretch>
              </a:blipFill>
            </p:spPr>
            <p:txBody>
              <a:bodyPr/>
              <a:lstStyle/>
              <a:p>
                <a:r>
                  <a:rPr lang="en-IN">
                    <a:noFill/>
                  </a:rPr>
                  <a:t> </a:t>
                </a:r>
              </a:p>
            </p:txBody>
          </p:sp>
        </mc:Fallback>
      </mc:AlternateContent>
      <p:pic>
        <p:nvPicPr>
          <p:cNvPr id="4" name="Picture 3">
            <a:extLst>
              <a:ext uri="{FF2B5EF4-FFF2-40B4-BE49-F238E27FC236}">
                <a16:creationId xmlns:a16="http://schemas.microsoft.com/office/drawing/2014/main" id="{12DF1A35-EE2B-E9A6-844C-E699E75D87F9}"/>
              </a:ext>
            </a:extLst>
          </p:cNvPr>
          <p:cNvPicPr>
            <a:picLocks noChangeAspect="1"/>
          </p:cNvPicPr>
          <p:nvPr/>
        </p:nvPicPr>
        <p:blipFill>
          <a:blip r:embed="rId5"/>
          <a:stretch>
            <a:fillRect/>
          </a:stretch>
        </p:blipFill>
        <p:spPr>
          <a:xfrm>
            <a:off x="2126166" y="2469318"/>
            <a:ext cx="6082874" cy="1855495"/>
          </a:xfrm>
          <a:prstGeom prst="rect">
            <a:avLst/>
          </a:prstGeom>
        </p:spPr>
      </p:pic>
    </p:spTree>
    <p:extLst>
      <p:ext uri="{BB962C8B-B14F-4D97-AF65-F5344CB8AC3E}">
        <p14:creationId xmlns:p14="http://schemas.microsoft.com/office/powerpoint/2010/main" val="21853518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1446C525-EABC-3E3C-2A20-7F9C7789050E}"/>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7BC1148C-2C43-C112-74C5-0B679CA0BEFE}"/>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Experiments</a:t>
            </a:r>
            <a:endParaRPr sz="2600" b="1" dirty="0"/>
          </a:p>
        </p:txBody>
      </p:sp>
      <p:sp>
        <p:nvSpPr>
          <p:cNvPr id="143" name="Google Shape;143;p26">
            <a:extLst>
              <a:ext uri="{FF2B5EF4-FFF2-40B4-BE49-F238E27FC236}">
                <a16:creationId xmlns:a16="http://schemas.microsoft.com/office/drawing/2014/main" id="{213ADF62-E160-8C63-B8C5-40620863805D}"/>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24</a:t>
            </a:fld>
            <a:endParaRPr/>
          </a:p>
        </p:txBody>
      </p:sp>
      <p:pic>
        <p:nvPicPr>
          <p:cNvPr id="144" name="Google Shape;144;p26">
            <a:extLst>
              <a:ext uri="{FF2B5EF4-FFF2-40B4-BE49-F238E27FC236}">
                <a16:creationId xmlns:a16="http://schemas.microsoft.com/office/drawing/2014/main" id="{12ABC537-4738-D0C4-ED4E-4FB84D1B3C04}"/>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38B8BBF6-0EDD-A867-9B58-C4C0B16740B1}"/>
              </a:ext>
            </a:extLst>
          </p:cNvPr>
          <p:cNvSpPr>
            <a:spLocks noGrp="1"/>
          </p:cNvSpPr>
          <p:nvPr>
            <p:ph type="body" idx="1"/>
          </p:nvPr>
        </p:nvSpPr>
        <p:spPr/>
        <p:txBody>
          <a:bodyPr/>
          <a:lstStyle/>
          <a:p>
            <a:pPr marL="114300" indent="0" algn="just">
              <a:buNone/>
            </a:pPr>
            <a:r>
              <a:rPr lang="en-IN" dirty="0"/>
              <a:t>Linear Transformation Results :</a:t>
            </a:r>
          </a:p>
        </p:txBody>
      </p:sp>
      <p:pic>
        <p:nvPicPr>
          <p:cNvPr id="4" name="Picture 3">
            <a:extLst>
              <a:ext uri="{FF2B5EF4-FFF2-40B4-BE49-F238E27FC236}">
                <a16:creationId xmlns:a16="http://schemas.microsoft.com/office/drawing/2014/main" id="{C13723B3-5594-FDB8-A3D0-1B7352292661}"/>
              </a:ext>
            </a:extLst>
          </p:cNvPr>
          <p:cNvPicPr>
            <a:picLocks noChangeAspect="1"/>
          </p:cNvPicPr>
          <p:nvPr/>
        </p:nvPicPr>
        <p:blipFill>
          <a:blip r:embed="rId4"/>
          <a:stretch>
            <a:fillRect/>
          </a:stretch>
        </p:blipFill>
        <p:spPr>
          <a:xfrm>
            <a:off x="228600" y="1165737"/>
            <a:ext cx="6705600" cy="2812026"/>
          </a:xfrm>
          <a:prstGeom prst="rect">
            <a:avLst/>
          </a:prstGeom>
        </p:spPr>
      </p:pic>
      <p:sp>
        <p:nvSpPr>
          <p:cNvPr id="2" name="TextBox 1">
            <a:extLst>
              <a:ext uri="{FF2B5EF4-FFF2-40B4-BE49-F238E27FC236}">
                <a16:creationId xmlns:a16="http://schemas.microsoft.com/office/drawing/2014/main" id="{7554601F-30A9-EA3D-EC7F-7AD60F07F291}"/>
              </a:ext>
            </a:extLst>
          </p:cNvPr>
          <p:cNvSpPr txBox="1"/>
          <p:nvPr/>
        </p:nvSpPr>
        <p:spPr>
          <a:xfrm>
            <a:off x="7441581" y="1598341"/>
            <a:ext cx="1315844" cy="1815882"/>
          </a:xfrm>
          <a:prstGeom prst="rect">
            <a:avLst/>
          </a:prstGeom>
          <a:noFill/>
        </p:spPr>
        <p:txBody>
          <a:bodyPr wrap="square" rtlCol="0">
            <a:spAutoFit/>
          </a:bodyPr>
          <a:lstStyle/>
          <a:p>
            <a:r>
              <a:rPr lang="en-IN" dirty="0"/>
              <a:t>This is for one pack containing three brands, using linear we get fits which are closely good </a:t>
            </a:r>
          </a:p>
        </p:txBody>
      </p:sp>
    </p:spTree>
    <p:extLst>
      <p:ext uri="{BB962C8B-B14F-4D97-AF65-F5344CB8AC3E}">
        <p14:creationId xmlns:p14="http://schemas.microsoft.com/office/powerpoint/2010/main" val="1516389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6C07AE1C-88C9-C024-2EB2-E7B9E83C9DAC}"/>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DD57958A-1F50-5ED0-E9A1-6275E57EB02C}"/>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Experiments</a:t>
            </a:r>
            <a:endParaRPr sz="2600" b="1" dirty="0"/>
          </a:p>
        </p:txBody>
      </p:sp>
      <p:sp>
        <p:nvSpPr>
          <p:cNvPr id="143" name="Google Shape;143;p26">
            <a:extLst>
              <a:ext uri="{FF2B5EF4-FFF2-40B4-BE49-F238E27FC236}">
                <a16:creationId xmlns:a16="http://schemas.microsoft.com/office/drawing/2014/main" id="{DFDA278B-BA42-A92A-8C35-9E7FC4CF1298}"/>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25</a:t>
            </a:fld>
            <a:endParaRPr/>
          </a:p>
        </p:txBody>
      </p:sp>
      <p:pic>
        <p:nvPicPr>
          <p:cNvPr id="144" name="Google Shape;144;p26">
            <a:extLst>
              <a:ext uri="{FF2B5EF4-FFF2-40B4-BE49-F238E27FC236}">
                <a16:creationId xmlns:a16="http://schemas.microsoft.com/office/drawing/2014/main" id="{D26273BA-08AD-196D-52D1-863445D3542D}"/>
              </a:ext>
            </a:extLst>
          </p:cNvPr>
          <p:cNvPicPr preferRelativeResize="0"/>
          <p:nvPr/>
        </p:nvPicPr>
        <p:blipFill>
          <a:blip r:embed="rId3">
            <a:alphaModFix/>
          </a:blip>
          <a:stretch>
            <a:fillRect/>
          </a:stretch>
        </p:blipFill>
        <p:spPr>
          <a:xfrm>
            <a:off x="0" y="0"/>
            <a:ext cx="546501" cy="514350"/>
          </a:xfrm>
          <a:prstGeom prst="rect">
            <a:avLst/>
          </a:prstGeom>
          <a:noFill/>
          <a:ln>
            <a:noFill/>
          </a:ln>
        </p:spPr>
      </p:pic>
      <p:pic>
        <p:nvPicPr>
          <p:cNvPr id="4" name="Picture 3">
            <a:extLst>
              <a:ext uri="{FF2B5EF4-FFF2-40B4-BE49-F238E27FC236}">
                <a16:creationId xmlns:a16="http://schemas.microsoft.com/office/drawing/2014/main" id="{752797B3-5728-0D9D-D884-9F9D7112F09F}"/>
              </a:ext>
            </a:extLst>
          </p:cNvPr>
          <p:cNvPicPr>
            <a:picLocks noChangeAspect="1"/>
          </p:cNvPicPr>
          <p:nvPr/>
        </p:nvPicPr>
        <p:blipFill>
          <a:blip r:embed="rId4"/>
          <a:stretch>
            <a:fillRect/>
          </a:stretch>
        </p:blipFill>
        <p:spPr>
          <a:xfrm>
            <a:off x="370814" y="645752"/>
            <a:ext cx="8318810" cy="4194895"/>
          </a:xfrm>
          <a:prstGeom prst="rect">
            <a:avLst/>
          </a:prstGeom>
        </p:spPr>
      </p:pic>
    </p:spTree>
    <p:extLst>
      <p:ext uri="{BB962C8B-B14F-4D97-AF65-F5344CB8AC3E}">
        <p14:creationId xmlns:p14="http://schemas.microsoft.com/office/powerpoint/2010/main" val="4245455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7535D38E-9A6F-9BFD-94CC-A23236CFF5FE}"/>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E97AA3A6-CAEC-4719-BDB9-EEE8793114BB}"/>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Experiments</a:t>
            </a:r>
            <a:endParaRPr sz="2600" b="1" dirty="0"/>
          </a:p>
        </p:txBody>
      </p:sp>
      <p:sp>
        <p:nvSpPr>
          <p:cNvPr id="143" name="Google Shape;143;p26">
            <a:extLst>
              <a:ext uri="{FF2B5EF4-FFF2-40B4-BE49-F238E27FC236}">
                <a16:creationId xmlns:a16="http://schemas.microsoft.com/office/drawing/2014/main" id="{70C11830-CF12-F841-427A-07FD8B8F9BDF}"/>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26</a:t>
            </a:fld>
            <a:endParaRPr/>
          </a:p>
        </p:txBody>
      </p:sp>
      <p:pic>
        <p:nvPicPr>
          <p:cNvPr id="144" name="Google Shape;144;p26">
            <a:extLst>
              <a:ext uri="{FF2B5EF4-FFF2-40B4-BE49-F238E27FC236}">
                <a16:creationId xmlns:a16="http://schemas.microsoft.com/office/drawing/2014/main" id="{04572C9A-9CAD-CBE0-1E4C-BB5E08D68853}"/>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F5A173B9-2B7A-E50B-EB78-6979FD939759}"/>
              </a:ext>
            </a:extLst>
          </p:cNvPr>
          <p:cNvSpPr>
            <a:spLocks noGrp="1"/>
          </p:cNvSpPr>
          <p:nvPr>
            <p:ph type="body" idx="1"/>
          </p:nvPr>
        </p:nvSpPr>
        <p:spPr/>
        <p:txBody>
          <a:bodyPr/>
          <a:lstStyle/>
          <a:p>
            <a:pPr marL="114300" indent="0">
              <a:buNone/>
            </a:pPr>
            <a:r>
              <a:rPr lang="en-IN" dirty="0"/>
              <a:t>Negative Exponential Transformation </a:t>
            </a:r>
          </a:p>
        </p:txBody>
      </p:sp>
      <p:pic>
        <p:nvPicPr>
          <p:cNvPr id="4" name="Picture 3">
            <a:extLst>
              <a:ext uri="{FF2B5EF4-FFF2-40B4-BE49-F238E27FC236}">
                <a16:creationId xmlns:a16="http://schemas.microsoft.com/office/drawing/2014/main" id="{C7DC61AB-489A-B1B7-60A5-FB9A4468F7E5}"/>
              </a:ext>
            </a:extLst>
          </p:cNvPr>
          <p:cNvPicPr>
            <a:picLocks noChangeAspect="1"/>
          </p:cNvPicPr>
          <p:nvPr/>
        </p:nvPicPr>
        <p:blipFill>
          <a:blip r:embed="rId4"/>
          <a:stretch>
            <a:fillRect/>
          </a:stretch>
        </p:blipFill>
        <p:spPr>
          <a:xfrm>
            <a:off x="144965" y="1175869"/>
            <a:ext cx="6657278" cy="2791762"/>
          </a:xfrm>
          <a:prstGeom prst="rect">
            <a:avLst/>
          </a:prstGeom>
        </p:spPr>
      </p:pic>
      <p:sp>
        <p:nvSpPr>
          <p:cNvPr id="2" name="TextBox 1">
            <a:extLst>
              <a:ext uri="{FF2B5EF4-FFF2-40B4-BE49-F238E27FC236}">
                <a16:creationId xmlns:a16="http://schemas.microsoft.com/office/drawing/2014/main" id="{563DC6AE-467A-7447-051D-35EB14DD0DF2}"/>
              </a:ext>
            </a:extLst>
          </p:cNvPr>
          <p:cNvSpPr txBox="1"/>
          <p:nvPr/>
        </p:nvSpPr>
        <p:spPr>
          <a:xfrm>
            <a:off x="7159083" y="1371337"/>
            <a:ext cx="1248936" cy="2462213"/>
          </a:xfrm>
          <a:prstGeom prst="rect">
            <a:avLst/>
          </a:prstGeom>
          <a:noFill/>
        </p:spPr>
        <p:txBody>
          <a:bodyPr wrap="square" rtlCol="0">
            <a:spAutoFit/>
          </a:bodyPr>
          <a:lstStyle/>
          <a:p>
            <a:r>
              <a:rPr lang="en-IN" dirty="0"/>
              <a:t>Similar to linear we have exponential results but now problem arises which one we have to take for the final interpretation</a:t>
            </a:r>
          </a:p>
        </p:txBody>
      </p:sp>
    </p:spTree>
    <p:extLst>
      <p:ext uri="{BB962C8B-B14F-4D97-AF65-F5344CB8AC3E}">
        <p14:creationId xmlns:p14="http://schemas.microsoft.com/office/powerpoint/2010/main" val="1560850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FE6A8B9E-0E89-3EEB-E1AD-02070A9AB5FC}"/>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8949D315-8FA7-0C1E-024A-C0BAB2B336C8}"/>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Experiments</a:t>
            </a:r>
            <a:endParaRPr sz="2600" b="1" dirty="0"/>
          </a:p>
        </p:txBody>
      </p:sp>
      <p:sp>
        <p:nvSpPr>
          <p:cNvPr id="143" name="Google Shape;143;p26">
            <a:extLst>
              <a:ext uri="{FF2B5EF4-FFF2-40B4-BE49-F238E27FC236}">
                <a16:creationId xmlns:a16="http://schemas.microsoft.com/office/drawing/2014/main" id="{E1D11356-FAEE-60A1-3BEB-90D6A9AAC069}"/>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27</a:t>
            </a:fld>
            <a:endParaRPr/>
          </a:p>
        </p:txBody>
      </p:sp>
      <p:pic>
        <p:nvPicPr>
          <p:cNvPr id="144" name="Google Shape;144;p26">
            <a:extLst>
              <a:ext uri="{FF2B5EF4-FFF2-40B4-BE49-F238E27FC236}">
                <a16:creationId xmlns:a16="http://schemas.microsoft.com/office/drawing/2014/main" id="{879AF3B3-23E2-9495-4AD3-759C3D87880D}"/>
              </a:ext>
            </a:extLst>
          </p:cNvPr>
          <p:cNvPicPr preferRelativeResize="0"/>
          <p:nvPr/>
        </p:nvPicPr>
        <p:blipFill>
          <a:blip r:embed="rId3">
            <a:alphaModFix/>
          </a:blip>
          <a:stretch>
            <a:fillRect/>
          </a:stretch>
        </p:blipFill>
        <p:spPr>
          <a:xfrm>
            <a:off x="0" y="0"/>
            <a:ext cx="546501" cy="514350"/>
          </a:xfrm>
          <a:prstGeom prst="rect">
            <a:avLst/>
          </a:prstGeom>
          <a:noFill/>
          <a:ln>
            <a:noFill/>
          </a:ln>
        </p:spPr>
      </p:pic>
      <p:pic>
        <p:nvPicPr>
          <p:cNvPr id="4" name="Picture 3">
            <a:extLst>
              <a:ext uri="{FF2B5EF4-FFF2-40B4-BE49-F238E27FC236}">
                <a16:creationId xmlns:a16="http://schemas.microsoft.com/office/drawing/2014/main" id="{2B2FA196-033B-8672-7235-894DD34CEA36}"/>
              </a:ext>
            </a:extLst>
          </p:cNvPr>
          <p:cNvPicPr>
            <a:picLocks noChangeAspect="1"/>
          </p:cNvPicPr>
          <p:nvPr/>
        </p:nvPicPr>
        <p:blipFill>
          <a:blip r:embed="rId4"/>
          <a:stretch>
            <a:fillRect/>
          </a:stretch>
        </p:blipFill>
        <p:spPr>
          <a:xfrm>
            <a:off x="609598" y="616685"/>
            <a:ext cx="7766329" cy="4164952"/>
          </a:xfrm>
          <a:prstGeom prst="rect">
            <a:avLst/>
          </a:prstGeom>
        </p:spPr>
      </p:pic>
    </p:spTree>
    <p:extLst>
      <p:ext uri="{BB962C8B-B14F-4D97-AF65-F5344CB8AC3E}">
        <p14:creationId xmlns:p14="http://schemas.microsoft.com/office/powerpoint/2010/main" val="4231043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B4D81019-5E11-FD0E-9915-9E34FBA20C46}"/>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2E39453E-0025-2C75-ADEB-ABDA9E793D29}"/>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Experiments</a:t>
            </a:r>
            <a:endParaRPr sz="2600" b="1" dirty="0"/>
          </a:p>
        </p:txBody>
      </p:sp>
      <p:sp>
        <p:nvSpPr>
          <p:cNvPr id="143" name="Google Shape;143;p26">
            <a:extLst>
              <a:ext uri="{FF2B5EF4-FFF2-40B4-BE49-F238E27FC236}">
                <a16:creationId xmlns:a16="http://schemas.microsoft.com/office/drawing/2014/main" id="{CA945AA0-39C2-DCBD-1F04-62E401691FC3}"/>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28</a:t>
            </a:fld>
            <a:endParaRPr/>
          </a:p>
        </p:txBody>
      </p:sp>
      <p:pic>
        <p:nvPicPr>
          <p:cNvPr id="144" name="Google Shape;144;p26">
            <a:extLst>
              <a:ext uri="{FF2B5EF4-FFF2-40B4-BE49-F238E27FC236}">
                <a16:creationId xmlns:a16="http://schemas.microsoft.com/office/drawing/2014/main" id="{81F59167-175A-3A18-05FE-F2D2227503FA}"/>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810E2706-F61C-99D8-2896-AE77062D9982}"/>
              </a:ext>
            </a:extLst>
          </p:cNvPr>
          <p:cNvSpPr>
            <a:spLocks noGrp="1"/>
          </p:cNvSpPr>
          <p:nvPr>
            <p:ph type="body" idx="1"/>
          </p:nvPr>
        </p:nvSpPr>
        <p:spPr/>
        <p:txBody>
          <a:bodyPr/>
          <a:lstStyle/>
          <a:p>
            <a:pPr marL="114300" indent="0">
              <a:buNone/>
            </a:pPr>
            <a:r>
              <a:rPr lang="en-IN" dirty="0"/>
              <a:t>Reciprocal Transformation</a:t>
            </a:r>
          </a:p>
        </p:txBody>
      </p:sp>
      <p:pic>
        <p:nvPicPr>
          <p:cNvPr id="5" name="Picture 4">
            <a:extLst>
              <a:ext uri="{FF2B5EF4-FFF2-40B4-BE49-F238E27FC236}">
                <a16:creationId xmlns:a16="http://schemas.microsoft.com/office/drawing/2014/main" id="{17037403-6A2B-2FAE-1AEC-9EAF2226F3D3}"/>
              </a:ext>
            </a:extLst>
          </p:cNvPr>
          <p:cNvPicPr>
            <a:picLocks noChangeAspect="1"/>
          </p:cNvPicPr>
          <p:nvPr/>
        </p:nvPicPr>
        <p:blipFill>
          <a:blip r:embed="rId4"/>
          <a:stretch>
            <a:fillRect/>
          </a:stretch>
        </p:blipFill>
        <p:spPr>
          <a:xfrm>
            <a:off x="266738" y="1182883"/>
            <a:ext cx="6623824" cy="2777733"/>
          </a:xfrm>
          <a:prstGeom prst="rect">
            <a:avLst/>
          </a:prstGeom>
        </p:spPr>
      </p:pic>
      <p:sp>
        <p:nvSpPr>
          <p:cNvPr id="2" name="TextBox 1">
            <a:extLst>
              <a:ext uri="{FF2B5EF4-FFF2-40B4-BE49-F238E27FC236}">
                <a16:creationId xmlns:a16="http://schemas.microsoft.com/office/drawing/2014/main" id="{D25FEA91-CF99-4C05-CB35-032193D43B7C}"/>
              </a:ext>
            </a:extLst>
          </p:cNvPr>
          <p:cNvSpPr txBox="1"/>
          <p:nvPr/>
        </p:nvSpPr>
        <p:spPr>
          <a:xfrm>
            <a:off x="7032702" y="1390185"/>
            <a:ext cx="1717288" cy="1815882"/>
          </a:xfrm>
          <a:prstGeom prst="rect">
            <a:avLst/>
          </a:prstGeom>
          <a:noFill/>
        </p:spPr>
        <p:txBody>
          <a:bodyPr wrap="square" rtlCol="0">
            <a:spAutoFit/>
          </a:bodyPr>
          <a:lstStyle/>
          <a:p>
            <a:r>
              <a:rPr lang="en-IN" dirty="0"/>
              <a:t>To choose one of these three we apply that model which have less train </a:t>
            </a:r>
            <a:r>
              <a:rPr lang="en-IN" dirty="0" err="1"/>
              <a:t>mape</a:t>
            </a:r>
            <a:r>
              <a:rPr lang="en-IN" dirty="0"/>
              <a:t> will be consider better, we can also go with test as well</a:t>
            </a:r>
          </a:p>
        </p:txBody>
      </p:sp>
    </p:spTree>
    <p:extLst>
      <p:ext uri="{BB962C8B-B14F-4D97-AF65-F5344CB8AC3E}">
        <p14:creationId xmlns:p14="http://schemas.microsoft.com/office/powerpoint/2010/main" val="19934506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F79BDB41-0E59-56AF-3886-7AA0F6D871DA}"/>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BAC3ECE9-C958-3C71-752E-517A1CA206DA}"/>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Experiments</a:t>
            </a:r>
            <a:endParaRPr sz="2600" b="1" dirty="0"/>
          </a:p>
        </p:txBody>
      </p:sp>
      <p:sp>
        <p:nvSpPr>
          <p:cNvPr id="143" name="Google Shape;143;p26">
            <a:extLst>
              <a:ext uri="{FF2B5EF4-FFF2-40B4-BE49-F238E27FC236}">
                <a16:creationId xmlns:a16="http://schemas.microsoft.com/office/drawing/2014/main" id="{9F68A376-6AB3-EA4C-F6F7-7D1C95A5D8DE}"/>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29</a:t>
            </a:fld>
            <a:endParaRPr/>
          </a:p>
        </p:txBody>
      </p:sp>
      <p:pic>
        <p:nvPicPr>
          <p:cNvPr id="144" name="Google Shape;144;p26">
            <a:extLst>
              <a:ext uri="{FF2B5EF4-FFF2-40B4-BE49-F238E27FC236}">
                <a16:creationId xmlns:a16="http://schemas.microsoft.com/office/drawing/2014/main" id="{7617E584-2EF8-557A-BD8A-79AEE65DA3FF}"/>
              </a:ext>
            </a:extLst>
          </p:cNvPr>
          <p:cNvPicPr preferRelativeResize="0"/>
          <p:nvPr/>
        </p:nvPicPr>
        <p:blipFill>
          <a:blip r:embed="rId3">
            <a:alphaModFix/>
          </a:blip>
          <a:stretch>
            <a:fillRect/>
          </a:stretch>
        </p:blipFill>
        <p:spPr>
          <a:xfrm>
            <a:off x="0" y="0"/>
            <a:ext cx="546501" cy="514350"/>
          </a:xfrm>
          <a:prstGeom prst="rect">
            <a:avLst/>
          </a:prstGeom>
          <a:noFill/>
          <a:ln>
            <a:noFill/>
          </a:ln>
        </p:spPr>
      </p:pic>
      <p:pic>
        <p:nvPicPr>
          <p:cNvPr id="4" name="Picture 3">
            <a:extLst>
              <a:ext uri="{FF2B5EF4-FFF2-40B4-BE49-F238E27FC236}">
                <a16:creationId xmlns:a16="http://schemas.microsoft.com/office/drawing/2014/main" id="{E5730ACF-2DFE-A20B-3F63-779EA9D76229}"/>
              </a:ext>
            </a:extLst>
          </p:cNvPr>
          <p:cNvPicPr>
            <a:picLocks noChangeAspect="1"/>
          </p:cNvPicPr>
          <p:nvPr/>
        </p:nvPicPr>
        <p:blipFill>
          <a:blip r:embed="rId4"/>
          <a:stretch>
            <a:fillRect/>
          </a:stretch>
        </p:blipFill>
        <p:spPr>
          <a:xfrm>
            <a:off x="817756" y="618154"/>
            <a:ext cx="7580971" cy="4199020"/>
          </a:xfrm>
          <a:prstGeom prst="rect">
            <a:avLst/>
          </a:prstGeom>
        </p:spPr>
      </p:pic>
    </p:spTree>
    <p:extLst>
      <p:ext uri="{BB962C8B-B14F-4D97-AF65-F5344CB8AC3E}">
        <p14:creationId xmlns:p14="http://schemas.microsoft.com/office/powerpoint/2010/main" val="25182394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6987EEC5-1E1F-2781-E080-F58D71F103B7}"/>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C3A1F49E-1235-7FBD-1431-C68C6614ED2F}"/>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Final Interpretation </a:t>
            </a:r>
            <a:endParaRPr sz="2600" b="1" dirty="0"/>
          </a:p>
        </p:txBody>
      </p:sp>
      <p:sp>
        <p:nvSpPr>
          <p:cNvPr id="143" name="Google Shape;143;p26">
            <a:extLst>
              <a:ext uri="{FF2B5EF4-FFF2-40B4-BE49-F238E27FC236}">
                <a16:creationId xmlns:a16="http://schemas.microsoft.com/office/drawing/2014/main" id="{A79F59D9-A648-7913-40D9-A5CD4FB76612}"/>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30</a:t>
            </a:fld>
            <a:endParaRPr/>
          </a:p>
        </p:txBody>
      </p:sp>
      <p:pic>
        <p:nvPicPr>
          <p:cNvPr id="144" name="Google Shape;144;p26">
            <a:extLst>
              <a:ext uri="{FF2B5EF4-FFF2-40B4-BE49-F238E27FC236}">
                <a16:creationId xmlns:a16="http://schemas.microsoft.com/office/drawing/2014/main" id="{4A0297D1-9FEE-9D2E-A986-A1EE889FE2DB}"/>
              </a:ext>
            </a:extLst>
          </p:cNvPr>
          <p:cNvPicPr preferRelativeResize="0"/>
          <p:nvPr/>
        </p:nvPicPr>
        <p:blipFill>
          <a:blip r:embed="rId3">
            <a:alphaModFix/>
          </a:blip>
          <a:stretch>
            <a:fillRect/>
          </a:stretch>
        </p:blipFill>
        <p:spPr>
          <a:xfrm>
            <a:off x="0" y="0"/>
            <a:ext cx="546501" cy="514350"/>
          </a:xfrm>
          <a:prstGeom prst="rect">
            <a:avLst/>
          </a:prstGeom>
          <a:noFill/>
          <a:ln>
            <a:noFill/>
          </a:ln>
        </p:spPr>
      </p:pic>
      <p:pic>
        <p:nvPicPr>
          <p:cNvPr id="4" name="Picture 3">
            <a:extLst>
              <a:ext uri="{FF2B5EF4-FFF2-40B4-BE49-F238E27FC236}">
                <a16:creationId xmlns:a16="http://schemas.microsoft.com/office/drawing/2014/main" id="{8645C282-17C6-B998-667F-1442D2810454}"/>
              </a:ext>
            </a:extLst>
          </p:cNvPr>
          <p:cNvPicPr>
            <a:picLocks noChangeAspect="1"/>
          </p:cNvPicPr>
          <p:nvPr/>
        </p:nvPicPr>
        <p:blipFill>
          <a:blip r:embed="rId4"/>
          <a:stretch>
            <a:fillRect/>
          </a:stretch>
        </p:blipFill>
        <p:spPr>
          <a:xfrm>
            <a:off x="620751" y="569068"/>
            <a:ext cx="7902498" cy="4288683"/>
          </a:xfrm>
          <a:prstGeom prst="rect">
            <a:avLst/>
          </a:prstGeom>
        </p:spPr>
      </p:pic>
    </p:spTree>
    <p:extLst>
      <p:ext uri="{BB962C8B-B14F-4D97-AF65-F5344CB8AC3E}">
        <p14:creationId xmlns:p14="http://schemas.microsoft.com/office/powerpoint/2010/main" val="27625178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4DA0E937-74D0-2A1C-F206-1D62877B1469}"/>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4799B72A-E78A-E181-1984-9220E9BB3AB3}"/>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Experiments</a:t>
            </a:r>
            <a:endParaRPr sz="2600" b="1" dirty="0"/>
          </a:p>
        </p:txBody>
      </p:sp>
      <p:sp>
        <p:nvSpPr>
          <p:cNvPr id="143" name="Google Shape;143;p26">
            <a:extLst>
              <a:ext uri="{FF2B5EF4-FFF2-40B4-BE49-F238E27FC236}">
                <a16:creationId xmlns:a16="http://schemas.microsoft.com/office/drawing/2014/main" id="{A0154441-0170-F162-0AAF-17EBEB53D791}"/>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31</a:t>
            </a:fld>
            <a:endParaRPr/>
          </a:p>
        </p:txBody>
      </p:sp>
      <p:pic>
        <p:nvPicPr>
          <p:cNvPr id="144" name="Google Shape;144;p26">
            <a:extLst>
              <a:ext uri="{FF2B5EF4-FFF2-40B4-BE49-F238E27FC236}">
                <a16:creationId xmlns:a16="http://schemas.microsoft.com/office/drawing/2014/main" id="{8F470F75-0E9F-0F7E-0D17-3711ECF0CAE1}"/>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EA8711E6-BC48-521E-C257-733DB59C400A}"/>
              </a:ext>
            </a:extLst>
          </p:cNvPr>
          <p:cNvSpPr>
            <a:spLocks noGrp="1"/>
          </p:cNvSpPr>
          <p:nvPr>
            <p:ph type="body" idx="1"/>
          </p:nvPr>
        </p:nvSpPr>
        <p:spPr>
          <a:xfrm>
            <a:off x="4995746" y="788020"/>
            <a:ext cx="3919654" cy="4012580"/>
          </a:xfrm>
        </p:spPr>
        <p:txBody>
          <a:bodyPr/>
          <a:lstStyle/>
          <a:p>
            <a:pPr marL="114300" indent="0">
              <a:buNone/>
            </a:pPr>
            <a:r>
              <a:rPr lang="en-IN" dirty="0"/>
              <a:t>We create the demand using our assumption of taking remaining variable as a constant, doing this we get the demand curve and we can interpret major results as in this at price 2.2 (approx.) the demand become zero, so we can check current price and check what’s the opportunity at different price and what could be happen for different scenario.</a:t>
            </a:r>
          </a:p>
        </p:txBody>
      </p:sp>
      <p:pic>
        <p:nvPicPr>
          <p:cNvPr id="8" name="Picture 7">
            <a:extLst>
              <a:ext uri="{FF2B5EF4-FFF2-40B4-BE49-F238E27FC236}">
                <a16:creationId xmlns:a16="http://schemas.microsoft.com/office/drawing/2014/main" id="{8D7193E8-4083-829C-EBF3-8DD4F9833C37}"/>
              </a:ext>
            </a:extLst>
          </p:cNvPr>
          <p:cNvPicPr>
            <a:picLocks noChangeAspect="1"/>
          </p:cNvPicPr>
          <p:nvPr/>
        </p:nvPicPr>
        <p:blipFill>
          <a:blip r:embed="rId4"/>
          <a:stretch>
            <a:fillRect/>
          </a:stretch>
        </p:blipFill>
        <p:spPr>
          <a:xfrm>
            <a:off x="379140" y="628649"/>
            <a:ext cx="4378945" cy="3545231"/>
          </a:xfrm>
          <a:prstGeom prst="rect">
            <a:avLst/>
          </a:prstGeom>
        </p:spPr>
      </p:pic>
    </p:spTree>
    <p:extLst>
      <p:ext uri="{BB962C8B-B14F-4D97-AF65-F5344CB8AC3E}">
        <p14:creationId xmlns:p14="http://schemas.microsoft.com/office/powerpoint/2010/main" val="40203001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40BD6F12-57FF-404D-DFE4-D54B2C0E5A80}"/>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A9BA6C69-BB2B-C347-274E-7FDFE820D145}"/>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Results</a:t>
            </a:r>
            <a:endParaRPr sz="2600" b="1" dirty="0"/>
          </a:p>
        </p:txBody>
      </p:sp>
      <p:sp>
        <p:nvSpPr>
          <p:cNvPr id="143" name="Google Shape;143;p26">
            <a:extLst>
              <a:ext uri="{FF2B5EF4-FFF2-40B4-BE49-F238E27FC236}">
                <a16:creationId xmlns:a16="http://schemas.microsoft.com/office/drawing/2014/main" id="{7070239B-D1FC-4068-FBF7-6E4D22C49FEF}"/>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32</a:t>
            </a:fld>
            <a:endParaRPr/>
          </a:p>
        </p:txBody>
      </p:sp>
      <p:pic>
        <p:nvPicPr>
          <p:cNvPr id="144" name="Google Shape;144;p26">
            <a:extLst>
              <a:ext uri="{FF2B5EF4-FFF2-40B4-BE49-F238E27FC236}">
                <a16:creationId xmlns:a16="http://schemas.microsoft.com/office/drawing/2014/main" id="{893035C1-6954-191D-2232-D4EF66D4C666}"/>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366F1CB3-2241-C6C1-5686-19C947ACFE8E}"/>
              </a:ext>
            </a:extLst>
          </p:cNvPr>
          <p:cNvSpPr>
            <a:spLocks noGrp="1"/>
          </p:cNvSpPr>
          <p:nvPr>
            <p:ph type="body" idx="1"/>
          </p:nvPr>
        </p:nvSpPr>
        <p:spPr>
          <a:xfrm>
            <a:off x="520274" y="3858322"/>
            <a:ext cx="8395126" cy="942278"/>
          </a:xfrm>
        </p:spPr>
        <p:txBody>
          <a:bodyPr>
            <a:normAutofit lnSpcReduction="10000"/>
          </a:bodyPr>
          <a:lstStyle/>
          <a:p>
            <a:pPr marL="114300" indent="0">
              <a:buNone/>
            </a:pPr>
            <a:r>
              <a:rPr lang="en-IN" dirty="0"/>
              <a:t>From these different transformation we find best train or test </a:t>
            </a:r>
            <a:r>
              <a:rPr lang="en-IN" dirty="0" err="1"/>
              <a:t>mape</a:t>
            </a:r>
            <a:r>
              <a:rPr lang="en-IN" dirty="0"/>
              <a:t> and take that curve for our analysis of future predictions and conclusion for that particular Pack.</a:t>
            </a:r>
          </a:p>
        </p:txBody>
      </p:sp>
      <p:pic>
        <p:nvPicPr>
          <p:cNvPr id="4" name="Picture 3">
            <a:extLst>
              <a:ext uri="{FF2B5EF4-FFF2-40B4-BE49-F238E27FC236}">
                <a16:creationId xmlns:a16="http://schemas.microsoft.com/office/drawing/2014/main" id="{F183E6A2-80BE-0D6B-0B16-24A746D6AFA0}"/>
              </a:ext>
            </a:extLst>
          </p:cNvPr>
          <p:cNvPicPr>
            <a:picLocks noChangeAspect="1"/>
          </p:cNvPicPr>
          <p:nvPr/>
        </p:nvPicPr>
        <p:blipFill>
          <a:blip r:embed="rId4"/>
          <a:stretch>
            <a:fillRect/>
          </a:stretch>
        </p:blipFill>
        <p:spPr>
          <a:xfrm>
            <a:off x="4512527" y="641196"/>
            <a:ext cx="3969834" cy="3042845"/>
          </a:xfrm>
          <a:prstGeom prst="rect">
            <a:avLst/>
          </a:prstGeom>
        </p:spPr>
      </p:pic>
      <p:pic>
        <p:nvPicPr>
          <p:cNvPr id="6" name="Picture 5">
            <a:extLst>
              <a:ext uri="{FF2B5EF4-FFF2-40B4-BE49-F238E27FC236}">
                <a16:creationId xmlns:a16="http://schemas.microsoft.com/office/drawing/2014/main" id="{45E443B0-53E8-0BF0-9ED5-097873977AB0}"/>
              </a:ext>
            </a:extLst>
          </p:cNvPr>
          <p:cNvPicPr>
            <a:picLocks noChangeAspect="1"/>
          </p:cNvPicPr>
          <p:nvPr/>
        </p:nvPicPr>
        <p:blipFill>
          <a:blip r:embed="rId5"/>
          <a:stretch>
            <a:fillRect/>
          </a:stretch>
        </p:blipFill>
        <p:spPr>
          <a:xfrm>
            <a:off x="520274" y="628649"/>
            <a:ext cx="3776779" cy="3057713"/>
          </a:xfrm>
          <a:prstGeom prst="rect">
            <a:avLst/>
          </a:prstGeom>
        </p:spPr>
      </p:pic>
    </p:spTree>
    <p:extLst>
      <p:ext uri="{BB962C8B-B14F-4D97-AF65-F5344CB8AC3E}">
        <p14:creationId xmlns:p14="http://schemas.microsoft.com/office/powerpoint/2010/main" val="19969847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5A198AA9-4FCB-E861-3F53-738B86429D06}"/>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D9B6C9F1-88CE-6080-5317-3647F9B86897}"/>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Final Interpretation </a:t>
            </a:r>
            <a:endParaRPr sz="2600" b="1" dirty="0"/>
          </a:p>
        </p:txBody>
      </p:sp>
      <p:sp>
        <p:nvSpPr>
          <p:cNvPr id="143" name="Google Shape;143;p26">
            <a:extLst>
              <a:ext uri="{FF2B5EF4-FFF2-40B4-BE49-F238E27FC236}">
                <a16:creationId xmlns:a16="http://schemas.microsoft.com/office/drawing/2014/main" id="{B8B7BF8E-D19A-9A29-0E31-5C51C4392136}"/>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33</a:t>
            </a:fld>
            <a:endParaRPr/>
          </a:p>
        </p:txBody>
      </p:sp>
      <p:pic>
        <p:nvPicPr>
          <p:cNvPr id="144" name="Google Shape;144;p26">
            <a:extLst>
              <a:ext uri="{FF2B5EF4-FFF2-40B4-BE49-F238E27FC236}">
                <a16:creationId xmlns:a16="http://schemas.microsoft.com/office/drawing/2014/main" id="{DA28203E-BA18-A10A-7BCD-774F0B8D4F9F}"/>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28472BEE-22B2-FD91-8FED-0E6CCCFFDC88}"/>
              </a:ext>
            </a:extLst>
          </p:cNvPr>
          <p:cNvSpPr>
            <a:spLocks noGrp="1"/>
          </p:cNvSpPr>
          <p:nvPr>
            <p:ph type="body" idx="1"/>
          </p:nvPr>
        </p:nvSpPr>
        <p:spPr>
          <a:xfrm>
            <a:off x="157975" y="627722"/>
            <a:ext cx="8837341" cy="4230029"/>
          </a:xfrm>
        </p:spPr>
        <p:txBody>
          <a:bodyPr>
            <a:normAutofit fontScale="85000" lnSpcReduction="10000"/>
          </a:bodyPr>
          <a:lstStyle/>
          <a:p>
            <a:pPr marL="114300" indent="0">
              <a:buNone/>
            </a:pPr>
            <a:r>
              <a:rPr lang="en-US" b="1" dirty="0"/>
              <a:t>Strategic Decision-Making:</a:t>
            </a:r>
          </a:p>
          <a:p>
            <a:pPr>
              <a:buFont typeface="Wingdings" panose="05000000000000000000" pitchFamily="2" charset="2"/>
              <a:buChar char="q"/>
            </a:pPr>
            <a:r>
              <a:rPr lang="en-US" b="1" dirty="0"/>
              <a:t>Targeted Analysis:</a:t>
            </a:r>
            <a:r>
              <a:rPr lang="en-US" dirty="0"/>
              <a:t> Enables a deeper analysis of </a:t>
            </a:r>
            <a:r>
              <a:rPr lang="en-US" b="1" dirty="0"/>
              <a:t>price sensitivity</a:t>
            </a:r>
            <a:r>
              <a:rPr lang="en-US" dirty="0"/>
              <a:t> and </a:t>
            </a:r>
            <a:r>
              <a:rPr lang="en-US" b="1" dirty="0"/>
              <a:t>revenue optimization</a:t>
            </a:r>
            <a:endParaRPr lang="en-US" dirty="0"/>
          </a:p>
          <a:p>
            <a:pPr>
              <a:buFont typeface="Wingdings" panose="05000000000000000000" pitchFamily="2" charset="2"/>
              <a:buChar char="q"/>
            </a:pPr>
            <a:r>
              <a:rPr lang="en-US" b="1" dirty="0"/>
              <a:t>Demand Modeling &amp; Elasticity Analysis:</a:t>
            </a:r>
            <a:r>
              <a:rPr lang="en-US" dirty="0"/>
              <a:t> Provides a framework for </a:t>
            </a:r>
            <a:r>
              <a:rPr lang="en-US" b="1" dirty="0"/>
              <a:t>strategic pricing</a:t>
            </a:r>
            <a:r>
              <a:rPr lang="en-US" dirty="0"/>
              <a:t> and </a:t>
            </a:r>
            <a:r>
              <a:rPr lang="en-US" b="1" dirty="0"/>
              <a:t>product positioning</a:t>
            </a:r>
            <a:r>
              <a:rPr lang="en-US" dirty="0"/>
              <a:t> across markets</a:t>
            </a:r>
          </a:p>
          <a:p>
            <a:pPr marL="114300" indent="0">
              <a:buNone/>
            </a:pPr>
            <a:endParaRPr lang="en-US" dirty="0"/>
          </a:p>
          <a:p>
            <a:pPr marL="114300" indent="0">
              <a:buNone/>
            </a:pPr>
            <a:r>
              <a:rPr lang="en-US" b="1" dirty="0"/>
              <a:t>Predicting Future Market Behavior:</a:t>
            </a:r>
          </a:p>
          <a:p>
            <a:pPr>
              <a:buFont typeface="Wingdings" panose="05000000000000000000" pitchFamily="2" charset="2"/>
              <a:buChar char="q"/>
            </a:pPr>
            <a:r>
              <a:rPr lang="en-US" b="1" dirty="0"/>
              <a:t>Reciprocal Transformation:</a:t>
            </a:r>
            <a:endParaRPr lang="en-US" dirty="0"/>
          </a:p>
          <a:p>
            <a:pPr marL="742950" lvl="1" indent="-285750">
              <a:buFont typeface="Courier New" panose="02070309020205020404" pitchFamily="49" charset="0"/>
              <a:buChar char="o"/>
            </a:pPr>
            <a:r>
              <a:rPr lang="en-US" b="1" dirty="0"/>
              <a:t>Price increases</a:t>
            </a:r>
            <a:r>
              <a:rPr lang="en-US" dirty="0"/>
              <a:t> have </a:t>
            </a:r>
            <a:r>
              <a:rPr lang="en-US" b="1" dirty="0"/>
              <a:t>reduced impact</a:t>
            </a:r>
            <a:r>
              <a:rPr lang="en-US" dirty="0"/>
              <a:t> on demand at higher price points.</a:t>
            </a:r>
          </a:p>
          <a:p>
            <a:pPr>
              <a:buFont typeface="Wingdings" panose="05000000000000000000" pitchFamily="2" charset="2"/>
              <a:buChar char="q"/>
            </a:pPr>
            <a:r>
              <a:rPr lang="en-US" b="1" dirty="0"/>
              <a:t>Negative Exponential Transformation:</a:t>
            </a:r>
            <a:endParaRPr lang="en-US" dirty="0"/>
          </a:p>
          <a:p>
            <a:pPr marL="742950" lvl="1" indent="-285750">
              <a:buFont typeface="Courier New" panose="02070309020205020404" pitchFamily="49" charset="0"/>
              <a:buChar char="o"/>
            </a:pPr>
            <a:r>
              <a:rPr lang="en-US" b="1" dirty="0"/>
              <a:t>Small price increases</a:t>
            </a:r>
            <a:r>
              <a:rPr lang="en-US" dirty="0"/>
              <a:t> lead to </a:t>
            </a:r>
            <a:r>
              <a:rPr lang="en-US" b="1" dirty="0"/>
              <a:t>significant drops</a:t>
            </a:r>
            <a:r>
              <a:rPr lang="en-US" dirty="0"/>
              <a:t> in demand at lower price points.</a:t>
            </a:r>
          </a:p>
          <a:p>
            <a:pPr marL="457200" lvl="1" indent="0">
              <a:buNone/>
            </a:pPr>
            <a:endParaRPr lang="en-US" dirty="0"/>
          </a:p>
          <a:p>
            <a:pPr marL="114300" indent="0">
              <a:buNone/>
            </a:pPr>
            <a:r>
              <a:rPr lang="en-US" b="1" dirty="0"/>
              <a:t>Practical Application</a:t>
            </a:r>
          </a:p>
          <a:p>
            <a:pPr>
              <a:buFont typeface="Wingdings" panose="05000000000000000000" pitchFamily="2" charset="2"/>
              <a:buChar char="q"/>
            </a:pPr>
            <a:r>
              <a:rPr lang="en-US" b="1" dirty="0"/>
              <a:t>Optimizing Pricing Strategies:</a:t>
            </a:r>
            <a:r>
              <a:rPr lang="en-US" dirty="0"/>
              <a:t> Use insights from </a:t>
            </a:r>
            <a:r>
              <a:rPr lang="en-US" b="1" dirty="0"/>
              <a:t>elasticity analysis</a:t>
            </a:r>
            <a:r>
              <a:rPr lang="en-US" dirty="0"/>
              <a:t> to predict consumer behavior under different pricing scenarios.</a:t>
            </a:r>
          </a:p>
          <a:p>
            <a:pPr>
              <a:buFont typeface="Wingdings" panose="05000000000000000000" pitchFamily="2" charset="2"/>
              <a:buChar char="q"/>
            </a:pPr>
            <a:r>
              <a:rPr lang="en-US" b="1" dirty="0"/>
              <a:t>Long-term Revenue &amp; Market Forecasting:</a:t>
            </a:r>
            <a:r>
              <a:rPr lang="en-US" dirty="0"/>
              <a:t> Make informed decisions about </a:t>
            </a:r>
            <a:r>
              <a:rPr lang="en-US" b="1" dirty="0"/>
              <a:t>price adjustments, promotions</a:t>
            </a:r>
            <a:r>
              <a:rPr lang="en-US" dirty="0"/>
              <a:t>, and </a:t>
            </a:r>
            <a:r>
              <a:rPr lang="en-US" b="1" dirty="0"/>
              <a:t>market trends</a:t>
            </a:r>
            <a:r>
              <a:rPr lang="en-US" dirty="0"/>
              <a:t>.</a:t>
            </a:r>
          </a:p>
          <a:p>
            <a:pPr marL="114300" indent="0">
              <a:buNone/>
            </a:pPr>
            <a:endParaRPr lang="en-IN" dirty="0"/>
          </a:p>
        </p:txBody>
      </p:sp>
    </p:spTree>
    <p:extLst>
      <p:ext uri="{BB962C8B-B14F-4D97-AF65-F5344CB8AC3E}">
        <p14:creationId xmlns:p14="http://schemas.microsoft.com/office/powerpoint/2010/main" val="40018735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9F9F7067-50E0-CF2A-8FA2-210F1DBB8D27}"/>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A25FA345-1E78-52F1-49A5-63571DB499BC}"/>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Why this is better than other……</a:t>
            </a:r>
            <a:endParaRPr sz="2600" b="1" dirty="0"/>
          </a:p>
        </p:txBody>
      </p:sp>
      <p:sp>
        <p:nvSpPr>
          <p:cNvPr id="143" name="Google Shape;143;p26">
            <a:extLst>
              <a:ext uri="{FF2B5EF4-FFF2-40B4-BE49-F238E27FC236}">
                <a16:creationId xmlns:a16="http://schemas.microsoft.com/office/drawing/2014/main" id="{F785ABF9-FA7A-CAB4-9601-EA3B1DEF4327}"/>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34</a:t>
            </a:fld>
            <a:endParaRPr/>
          </a:p>
        </p:txBody>
      </p:sp>
      <p:pic>
        <p:nvPicPr>
          <p:cNvPr id="144" name="Google Shape;144;p26">
            <a:extLst>
              <a:ext uri="{FF2B5EF4-FFF2-40B4-BE49-F238E27FC236}">
                <a16:creationId xmlns:a16="http://schemas.microsoft.com/office/drawing/2014/main" id="{1625DAA3-CB1A-9A28-6D24-78488B757B45}"/>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2" name="Text Placeholder 1">
            <a:extLst>
              <a:ext uri="{FF2B5EF4-FFF2-40B4-BE49-F238E27FC236}">
                <a16:creationId xmlns:a16="http://schemas.microsoft.com/office/drawing/2014/main" id="{6155B26C-234C-D133-5E75-6DB57353576B}"/>
              </a:ext>
            </a:extLst>
          </p:cNvPr>
          <p:cNvSpPr>
            <a:spLocks noGrp="1" noChangeArrowheads="1"/>
          </p:cNvSpPr>
          <p:nvPr>
            <p:ph type="body" idx="1"/>
          </p:nvPr>
        </p:nvSpPr>
        <p:spPr bwMode="auto">
          <a:xfrm>
            <a:off x="317901" y="714002"/>
            <a:ext cx="836889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Robustness Across Multiple Datasets</a:t>
            </a:r>
            <a:r>
              <a:rPr kumimoji="0" lang="en-US" altLang="en-US" sz="1800" b="0" i="0" u="none" strike="noStrike" cap="none" normalizeH="0" baseline="0" dirty="0">
                <a:ln>
                  <a:noFill/>
                </a:ln>
                <a:solidFill>
                  <a:schemeClr val="tx1"/>
                </a:solidFill>
                <a:effectLst/>
                <a:latin typeface="Arial" panose="020B0604020202020204" pitchFamily="34" charset="0"/>
              </a:rPr>
              <a:t>: The approach was validated on more than five real-world datasets, demonstrating its capability to capture price-quantity relationships across various market conditions, including different Price Groups (PPGs), pack types, and brand variants.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Generalized Methodology</a:t>
            </a:r>
            <a:r>
              <a:rPr kumimoji="0" lang="en-US" altLang="en-US" sz="1800" b="0" i="0" u="none" strike="noStrike" cap="none" normalizeH="0" baseline="0" dirty="0">
                <a:ln>
                  <a:noFill/>
                </a:ln>
                <a:solidFill>
                  <a:schemeClr val="tx1"/>
                </a:solidFill>
                <a:effectLst/>
                <a:latin typeface="Arial" panose="020B0604020202020204" pitchFamily="34" charset="0"/>
              </a:rPr>
              <a:t>: The methodology is not limited to a specific dataset; it is adaptable and can be applied to different PPGs, product variants, and channels, making it a versatile tool for analyzing consumer behavior across diverse market scenarios.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Optimal Demand Curve Identification</a:t>
            </a:r>
            <a:r>
              <a:rPr kumimoji="0" lang="en-US" altLang="en-US" sz="1800" b="0" i="0" u="none" strike="noStrike" cap="none" normalizeH="0" baseline="0" dirty="0">
                <a:ln>
                  <a:noFill/>
                </a:ln>
                <a:solidFill>
                  <a:schemeClr val="tx1"/>
                </a:solidFill>
                <a:effectLst/>
                <a:latin typeface="Arial" panose="020B0604020202020204" pitchFamily="34" charset="0"/>
              </a:rPr>
              <a:t>: For each dataset, the approach successfully identifies the optimal demand curve transformation, ensuring that the analysis remains accurate and relevant for the specific data and market conditions.</a:t>
            </a:r>
          </a:p>
        </p:txBody>
      </p:sp>
    </p:spTree>
    <p:extLst>
      <p:ext uri="{BB962C8B-B14F-4D97-AF65-F5344CB8AC3E}">
        <p14:creationId xmlns:p14="http://schemas.microsoft.com/office/powerpoint/2010/main" val="37915573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74585FDE-072C-52A5-86ED-03A364056222}"/>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47206712-D8FE-105A-2575-FAA0B4A2D1F2}"/>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Conclusion</a:t>
            </a:r>
            <a:endParaRPr sz="2600" b="1" dirty="0"/>
          </a:p>
        </p:txBody>
      </p:sp>
      <p:sp>
        <p:nvSpPr>
          <p:cNvPr id="143" name="Google Shape;143;p26">
            <a:extLst>
              <a:ext uri="{FF2B5EF4-FFF2-40B4-BE49-F238E27FC236}">
                <a16:creationId xmlns:a16="http://schemas.microsoft.com/office/drawing/2014/main" id="{E116B3FA-9E9C-0F8A-E934-04311F5AC0ED}"/>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35</a:t>
            </a:fld>
            <a:endParaRPr/>
          </a:p>
        </p:txBody>
      </p:sp>
      <p:pic>
        <p:nvPicPr>
          <p:cNvPr id="144" name="Google Shape;144;p26">
            <a:extLst>
              <a:ext uri="{FF2B5EF4-FFF2-40B4-BE49-F238E27FC236}">
                <a16:creationId xmlns:a16="http://schemas.microsoft.com/office/drawing/2014/main" id="{3FF0B398-BA0A-91E7-7B0A-F7D27F1395E2}"/>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5" name="Rectangle 3">
            <a:extLst>
              <a:ext uri="{FF2B5EF4-FFF2-40B4-BE49-F238E27FC236}">
                <a16:creationId xmlns:a16="http://schemas.microsoft.com/office/drawing/2014/main" id="{ADD1F0A6-FDDF-6166-4212-24FA08B06BD1}"/>
              </a:ext>
            </a:extLst>
          </p:cNvPr>
          <p:cNvSpPr>
            <a:spLocks noGrp="1" noChangeArrowheads="1"/>
          </p:cNvSpPr>
          <p:nvPr>
            <p:ph type="body" idx="1"/>
          </p:nvPr>
        </p:nvSpPr>
        <p:spPr bwMode="auto">
          <a:xfrm>
            <a:off x="394010" y="652087"/>
            <a:ext cx="852139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project aimed to identify the most accurate demand curve for different product categories, considering various pricing strategies and consumer behaviors.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By applying different transformations (linear, negative exponential, and reciprocal), we were able to capture the price-sensitivity dynamics of each product category.</a:t>
            </a:r>
            <a:endParaRPr lang="en-US" altLang="en-US" dirty="0">
              <a:solidFill>
                <a:schemeClr val="tx1"/>
              </a:solidFill>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The analysis provided actionable insights into pricing strategies, helping businesses optimize revenue through a better understanding of demand elasticity and consumer reactions to price changes.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Ultimately, the project demonstrates the importance of adapting demand models to real-world complexities, allowing for more informed and effective pricing decisions.</a:t>
            </a:r>
          </a:p>
        </p:txBody>
      </p:sp>
    </p:spTree>
    <p:extLst>
      <p:ext uri="{BB962C8B-B14F-4D97-AF65-F5344CB8AC3E}">
        <p14:creationId xmlns:p14="http://schemas.microsoft.com/office/powerpoint/2010/main" val="18788925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6B452ED4-AE7E-B74C-867B-9CE258EAAFC3}"/>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0BC3E146-448B-7964-3DBE-E59DF71B14AE}"/>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Future Work </a:t>
            </a:r>
            <a:endParaRPr sz="2600" b="1" dirty="0"/>
          </a:p>
        </p:txBody>
      </p:sp>
      <p:sp>
        <p:nvSpPr>
          <p:cNvPr id="143" name="Google Shape;143;p26">
            <a:extLst>
              <a:ext uri="{FF2B5EF4-FFF2-40B4-BE49-F238E27FC236}">
                <a16:creationId xmlns:a16="http://schemas.microsoft.com/office/drawing/2014/main" id="{9EEECC18-C488-237E-B165-0DE99B074DE8}"/>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36</a:t>
            </a:fld>
            <a:endParaRPr/>
          </a:p>
        </p:txBody>
      </p:sp>
      <p:pic>
        <p:nvPicPr>
          <p:cNvPr id="144" name="Google Shape;144;p26">
            <a:extLst>
              <a:ext uri="{FF2B5EF4-FFF2-40B4-BE49-F238E27FC236}">
                <a16:creationId xmlns:a16="http://schemas.microsoft.com/office/drawing/2014/main" id="{9CA3B53B-D1E4-0915-244B-4D84083A5F26}"/>
              </a:ext>
            </a:extLst>
          </p:cNvPr>
          <p:cNvPicPr preferRelativeResize="0"/>
          <p:nvPr/>
        </p:nvPicPr>
        <p:blipFill>
          <a:blip r:embed="rId3">
            <a:alphaModFix/>
          </a:blip>
          <a:stretch>
            <a:fillRect/>
          </a:stretch>
        </p:blipFill>
        <p:spPr>
          <a:xfrm>
            <a:off x="0" y="0"/>
            <a:ext cx="546501" cy="514350"/>
          </a:xfrm>
          <a:prstGeom prst="rect">
            <a:avLst/>
          </a:prstGeom>
          <a:noFill/>
          <a:ln>
            <a:noFill/>
          </a:ln>
        </p:spPr>
      </p:pic>
      <mc:AlternateContent xmlns:mc="http://schemas.openxmlformats.org/markup-compatibility/2006" xmlns:a14="http://schemas.microsoft.com/office/drawing/2010/main">
        <mc:Choice Requires="a14">
          <p:sp>
            <p:nvSpPr>
              <p:cNvPr id="2" name="Text Placeholder 1">
                <a:extLst>
                  <a:ext uri="{FF2B5EF4-FFF2-40B4-BE49-F238E27FC236}">
                    <a16:creationId xmlns:a16="http://schemas.microsoft.com/office/drawing/2014/main" id="{1AC9D1F3-FB4A-FEA4-98D3-E0D6617FCF6A}"/>
                  </a:ext>
                </a:extLst>
              </p:cNvPr>
              <p:cNvSpPr>
                <a:spLocks noGrp="1" noChangeArrowheads="1"/>
              </p:cNvSpPr>
              <p:nvPr>
                <p:ph type="body" idx="1"/>
              </p:nvPr>
            </p:nvSpPr>
            <p:spPr bwMode="auto">
              <a:xfrm>
                <a:off x="273250" y="816190"/>
                <a:ext cx="8692330" cy="395448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ClrTx/>
                  <a:buSzTx/>
                  <a:buFont typeface="Wingdings" panose="05000000000000000000" pitchFamily="2" charset="2"/>
                  <a:buChar char="v"/>
                </a:pPr>
                <a:r>
                  <a:rPr kumimoji="0" lang="en-US" altLang="en-US" sz="1600" b="1" i="0" u="none" strike="noStrike" cap="none" normalizeH="0" baseline="0" dirty="0">
                    <a:ln>
                      <a:noFill/>
                    </a:ln>
                    <a:solidFill>
                      <a:schemeClr val="tx1"/>
                    </a:solidFill>
                    <a:effectLst/>
                    <a:latin typeface="Arial" panose="020B0604020202020204" pitchFamily="34" charset="0"/>
                  </a:rPr>
                  <a:t>Competitive Pricing Dynamics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ClrTx/>
                  <a:buSzTx/>
                  <a:buFont typeface="Courier New" panose="02070309020205020404" pitchFamily="49" charset="0"/>
                  <a:buChar char="o"/>
                </a:pPr>
                <a:r>
                  <a:rPr kumimoji="0" lang="en-US" altLang="en-US" sz="1600" b="0" i="0" u="none" strike="noStrike" cap="none" normalizeH="0" baseline="0" dirty="0">
                    <a:ln>
                      <a:noFill/>
                    </a:ln>
                    <a:solidFill>
                      <a:schemeClr val="tx1"/>
                    </a:solidFill>
                    <a:effectLst/>
                    <a:latin typeface="Arial" panose="020B0604020202020204" pitchFamily="34" charset="0"/>
                  </a:rPr>
                  <a:t>Adjust product price relative to competitors to better capture market effects.</a:t>
                </a:r>
              </a:p>
              <a:p>
                <a:pPr marL="742950" lvl="1" indent="-285750" eaLnBrk="0" fontAlgn="base" hangingPunct="0">
                  <a:spcBef>
                    <a:spcPct val="0"/>
                  </a:spcBef>
                  <a:spcAft>
                    <a:spcPct val="0"/>
                  </a:spcAft>
                  <a:buClrTx/>
                  <a:buSzTx/>
                  <a:buFont typeface="Courier New" panose="02070309020205020404" pitchFamily="49" charset="0"/>
                  <a:buChar char="o"/>
                </a:pPr>
                <a:r>
                  <a:rPr kumimoji="0" lang="en-US" altLang="en-US" sz="1600" b="0" i="0" u="none" strike="noStrike" cap="none" normalizeH="0" baseline="0" dirty="0">
                    <a:ln>
                      <a:noFill/>
                    </a:ln>
                    <a:solidFill>
                      <a:schemeClr val="tx1"/>
                    </a:solidFill>
                    <a:effectLst/>
                    <a:latin typeface="Arial" panose="020B0604020202020204" pitchFamily="34" charset="0"/>
                  </a:rPr>
                  <a:t>Formula: </a:t>
                </a:r>
                <a14:m>
                  <m:oMath xmlns:m="http://schemas.openxmlformats.org/officeDocument/2006/math">
                    <m:sSub>
                      <m:sSubPr>
                        <m:ctrlPr>
                          <a:rPr kumimoji="0" lang="en-IN" altLang="en-US" sz="1600" b="0" i="1" u="none" strike="noStrike" cap="none" normalizeH="0" baseline="0" smtClean="0">
                            <a:ln>
                              <a:noFill/>
                            </a:ln>
                            <a:solidFill>
                              <a:schemeClr val="tx1"/>
                            </a:solidFill>
                            <a:effectLst/>
                            <a:latin typeface="Cambria Math" panose="02040503050406030204" pitchFamily="18" charset="0"/>
                          </a:rPr>
                        </m:ctrlPr>
                      </m:sSubPr>
                      <m:e>
                        <m:r>
                          <a:rPr kumimoji="0" lang="en-IN" altLang="en-US" sz="1600" b="0" i="1" u="none" strike="noStrike" cap="none" normalizeH="0" baseline="0" smtClean="0">
                            <a:ln>
                              <a:noFill/>
                            </a:ln>
                            <a:solidFill>
                              <a:schemeClr val="tx1"/>
                            </a:solidFill>
                            <a:effectLst/>
                            <a:latin typeface="Cambria Math" panose="02040503050406030204" pitchFamily="18" charset="0"/>
                          </a:rPr>
                          <m:t>𝑝</m:t>
                        </m:r>
                      </m:e>
                      <m:sub>
                        <m:r>
                          <a:rPr kumimoji="0" lang="en-IN" altLang="en-US" sz="1600" b="0" i="1" u="none" strike="noStrike" cap="none" normalizeH="0" baseline="0" smtClean="0">
                            <a:ln>
                              <a:noFill/>
                            </a:ln>
                            <a:solidFill>
                              <a:schemeClr val="tx1"/>
                            </a:solidFill>
                            <a:effectLst/>
                            <a:latin typeface="Cambria Math" panose="02040503050406030204" pitchFamily="18" charset="0"/>
                          </a:rPr>
                          <m:t>𝑎𝑑𝑗𝑢𝑠𝑡𝑒𝑑</m:t>
                        </m:r>
                      </m:sub>
                    </m:sSub>
                    <m:r>
                      <a:rPr kumimoji="0" lang="en-IN" altLang="en-US" sz="1600" b="0" i="1" u="none" strike="noStrike" cap="none" normalizeH="0" baseline="0" smtClean="0">
                        <a:ln>
                          <a:noFill/>
                        </a:ln>
                        <a:solidFill>
                          <a:schemeClr val="tx1"/>
                        </a:solidFill>
                        <a:effectLst/>
                        <a:latin typeface="Cambria Math" panose="02040503050406030204" pitchFamily="18" charset="0"/>
                      </a:rPr>
                      <m:t>=</m:t>
                    </m:r>
                    <m:r>
                      <a:rPr kumimoji="0" lang="en-IN" altLang="en-US" sz="1600" b="0" i="1" u="none" strike="noStrike" cap="none" normalizeH="0" baseline="0" smtClean="0">
                        <a:ln>
                          <a:noFill/>
                        </a:ln>
                        <a:solidFill>
                          <a:schemeClr val="tx1"/>
                        </a:solidFill>
                        <a:effectLst/>
                        <a:latin typeface="Cambria Math" panose="02040503050406030204" pitchFamily="18" charset="0"/>
                      </a:rPr>
                      <m:t>𝑝</m:t>
                    </m:r>
                    <m:r>
                      <a:rPr kumimoji="0" lang="en-IN" altLang="en-US" sz="1600" b="0" i="1" u="none" strike="noStrike" cap="none" normalizeH="0" baseline="0" smtClean="0">
                        <a:ln>
                          <a:noFill/>
                        </a:ln>
                        <a:solidFill>
                          <a:schemeClr val="tx1"/>
                        </a:solidFill>
                        <a:effectLst/>
                        <a:latin typeface="Cambria Math" panose="02040503050406030204" pitchFamily="18" charset="0"/>
                      </a:rPr>
                      <m:t>+</m:t>
                    </m:r>
                    <m:f>
                      <m:fPr>
                        <m:ctrlPr>
                          <a:rPr kumimoji="0" lang="en-IN" altLang="en-US" sz="1600" b="0" i="1" u="none" strike="noStrike" cap="none" normalizeH="0" baseline="0" smtClean="0">
                            <a:ln>
                              <a:noFill/>
                            </a:ln>
                            <a:solidFill>
                              <a:schemeClr val="tx1"/>
                            </a:solidFill>
                            <a:effectLst/>
                            <a:latin typeface="Cambria Math" panose="02040503050406030204" pitchFamily="18" charset="0"/>
                          </a:rPr>
                        </m:ctrlPr>
                      </m:fPr>
                      <m:num>
                        <m:r>
                          <a:rPr kumimoji="0" lang="en-IN" altLang="en-US" sz="1600" b="0" i="1" u="none" strike="noStrike" cap="none" normalizeH="0" baseline="0" smtClean="0">
                            <a:ln>
                              <a:noFill/>
                            </a:ln>
                            <a:solidFill>
                              <a:schemeClr val="tx1"/>
                            </a:solidFill>
                            <a:effectLst/>
                            <a:latin typeface="Cambria Math" panose="02040503050406030204" pitchFamily="18" charset="0"/>
                          </a:rPr>
                          <m:t>𝑝</m:t>
                        </m:r>
                      </m:num>
                      <m:den>
                        <m:sSub>
                          <m:sSubPr>
                            <m:ctrlPr>
                              <a:rPr kumimoji="0" lang="en-IN" altLang="en-US" sz="1600" b="0" i="1" u="none" strike="noStrike" cap="none" normalizeH="0" baseline="0" smtClean="0">
                                <a:ln>
                                  <a:noFill/>
                                </a:ln>
                                <a:solidFill>
                                  <a:schemeClr val="tx1"/>
                                </a:solidFill>
                                <a:effectLst/>
                                <a:latin typeface="Cambria Math" panose="02040503050406030204" pitchFamily="18" charset="0"/>
                              </a:rPr>
                            </m:ctrlPr>
                          </m:sSubPr>
                          <m:e>
                            <m:r>
                              <a:rPr kumimoji="0" lang="en-IN" altLang="en-US" sz="1600" b="0" i="1" u="none" strike="noStrike" cap="none" normalizeH="0" baseline="0" smtClean="0">
                                <a:ln>
                                  <a:noFill/>
                                </a:ln>
                                <a:solidFill>
                                  <a:schemeClr val="tx1"/>
                                </a:solidFill>
                                <a:effectLst/>
                                <a:latin typeface="Cambria Math" panose="02040503050406030204" pitchFamily="18" charset="0"/>
                              </a:rPr>
                              <m:t>𝑝</m:t>
                            </m:r>
                          </m:e>
                          <m:sub>
                            <m:r>
                              <a:rPr kumimoji="0" lang="en-IN" altLang="en-US" sz="1600" b="0" i="1" u="none" strike="noStrike" cap="none" normalizeH="0" baseline="0" smtClean="0">
                                <a:ln>
                                  <a:noFill/>
                                </a:ln>
                                <a:solidFill>
                                  <a:schemeClr val="tx1"/>
                                </a:solidFill>
                                <a:effectLst/>
                                <a:latin typeface="Cambria Math" panose="02040503050406030204" pitchFamily="18" charset="0"/>
                              </a:rPr>
                              <m:t>𝑐𝑜𝑚𝑝</m:t>
                            </m:r>
                            <m:r>
                              <a:rPr kumimoji="0" lang="en-IN" altLang="en-US" sz="1600" b="0" i="1" u="none" strike="noStrike" cap="none" normalizeH="0" baseline="0" smtClean="0">
                                <a:ln>
                                  <a:noFill/>
                                </a:ln>
                                <a:solidFill>
                                  <a:schemeClr val="tx1"/>
                                </a:solidFill>
                                <a:effectLst/>
                                <a:latin typeface="Cambria Math" panose="02040503050406030204" pitchFamily="18" charset="0"/>
                              </a:rPr>
                              <m:t>1</m:t>
                            </m:r>
                          </m:sub>
                        </m:sSub>
                      </m:den>
                    </m:f>
                    <m:r>
                      <a:rPr kumimoji="0" lang="en-IN" altLang="en-US" sz="1600" b="0" i="1" u="none" strike="noStrike" cap="none" normalizeH="0" baseline="0" smtClean="0">
                        <a:ln>
                          <a:noFill/>
                        </a:ln>
                        <a:solidFill>
                          <a:schemeClr val="tx1"/>
                        </a:solidFill>
                        <a:effectLst/>
                        <a:latin typeface="Cambria Math" panose="02040503050406030204" pitchFamily="18" charset="0"/>
                      </a:rPr>
                      <m:t>+</m:t>
                    </m:r>
                    <m:f>
                      <m:fPr>
                        <m:ctrlPr>
                          <a:rPr kumimoji="0" lang="en-IN" altLang="en-US" sz="1600" b="0" i="1" u="none" strike="noStrike" cap="none" normalizeH="0" baseline="0" smtClean="0">
                            <a:ln>
                              <a:noFill/>
                            </a:ln>
                            <a:solidFill>
                              <a:schemeClr val="tx1"/>
                            </a:solidFill>
                            <a:effectLst/>
                            <a:latin typeface="Cambria Math" panose="02040503050406030204" pitchFamily="18" charset="0"/>
                          </a:rPr>
                        </m:ctrlPr>
                      </m:fPr>
                      <m:num>
                        <m:r>
                          <a:rPr kumimoji="0" lang="en-IN" altLang="en-US" sz="1600" b="0" i="1" u="none" strike="noStrike" cap="none" normalizeH="0" baseline="0" smtClean="0">
                            <a:ln>
                              <a:noFill/>
                            </a:ln>
                            <a:solidFill>
                              <a:schemeClr val="tx1"/>
                            </a:solidFill>
                            <a:effectLst/>
                            <a:latin typeface="Cambria Math" panose="02040503050406030204" pitchFamily="18" charset="0"/>
                          </a:rPr>
                          <m:t>𝑝</m:t>
                        </m:r>
                      </m:num>
                      <m:den>
                        <m:sSub>
                          <m:sSubPr>
                            <m:ctrlPr>
                              <a:rPr kumimoji="0" lang="en-IN" altLang="en-US" sz="1600" b="0" i="1" u="none" strike="noStrike" cap="none" normalizeH="0" baseline="0" smtClean="0">
                                <a:ln>
                                  <a:noFill/>
                                </a:ln>
                                <a:solidFill>
                                  <a:schemeClr val="tx1"/>
                                </a:solidFill>
                                <a:effectLst/>
                                <a:latin typeface="Cambria Math" panose="02040503050406030204" pitchFamily="18" charset="0"/>
                              </a:rPr>
                            </m:ctrlPr>
                          </m:sSubPr>
                          <m:e>
                            <m:r>
                              <a:rPr kumimoji="0" lang="en-IN" altLang="en-US" sz="1600" b="0" i="1" u="none" strike="noStrike" cap="none" normalizeH="0" baseline="0" smtClean="0">
                                <a:ln>
                                  <a:noFill/>
                                </a:ln>
                                <a:solidFill>
                                  <a:schemeClr val="tx1"/>
                                </a:solidFill>
                                <a:effectLst/>
                                <a:latin typeface="Cambria Math" panose="02040503050406030204" pitchFamily="18" charset="0"/>
                              </a:rPr>
                              <m:t>𝑝</m:t>
                            </m:r>
                          </m:e>
                          <m:sub>
                            <m:r>
                              <a:rPr kumimoji="0" lang="en-IN" altLang="en-US" sz="1600" b="0" i="1" u="none" strike="noStrike" cap="none" normalizeH="0" baseline="0" smtClean="0">
                                <a:ln>
                                  <a:noFill/>
                                </a:ln>
                                <a:solidFill>
                                  <a:schemeClr val="tx1"/>
                                </a:solidFill>
                                <a:effectLst/>
                                <a:latin typeface="Cambria Math" panose="02040503050406030204" pitchFamily="18" charset="0"/>
                              </a:rPr>
                              <m:t>𝑐𝑜𝑚𝑝</m:t>
                            </m:r>
                            <m:r>
                              <a:rPr kumimoji="0" lang="en-IN" altLang="en-US" sz="1600" b="0" i="1" u="none" strike="noStrike" cap="none" normalizeH="0" baseline="0" smtClean="0">
                                <a:ln>
                                  <a:noFill/>
                                </a:ln>
                                <a:solidFill>
                                  <a:schemeClr val="tx1"/>
                                </a:solidFill>
                                <a:effectLst/>
                                <a:latin typeface="Cambria Math" panose="02040503050406030204" pitchFamily="18" charset="0"/>
                              </a:rPr>
                              <m:t>2</m:t>
                            </m:r>
                          </m:sub>
                        </m:sSub>
                      </m:den>
                    </m:f>
                  </m:oMath>
                </a14:m>
                <a:endParaRPr kumimoji="0" lang="en-IN" altLang="en-US" sz="1600" b="0" i="0" u="none" strike="noStrike" cap="none" normalizeH="0" baseline="0" dirty="0">
                  <a:ln>
                    <a:noFill/>
                  </a:ln>
                  <a:solidFill>
                    <a:schemeClr val="tx1"/>
                  </a:solidFill>
                  <a:effectLst/>
                  <a:latin typeface="Arial" panose="020B0604020202020204" pitchFamily="34" charset="0"/>
                </a:endParaRPr>
              </a:p>
              <a:p>
                <a:pPr marL="742950" lvl="1" indent="-285750" eaLnBrk="0" fontAlgn="base" hangingPunct="0">
                  <a:spcBef>
                    <a:spcPct val="0"/>
                  </a:spcBef>
                  <a:spcAft>
                    <a:spcPct val="0"/>
                  </a:spcAft>
                  <a:buClrTx/>
                  <a:buSzTx/>
                  <a:buFont typeface="Courier New" panose="02070309020205020404" pitchFamily="49" charset="0"/>
                  <a:buChar char="o"/>
                </a:pPr>
                <a:r>
                  <a:rPr kumimoji="0" lang="en-US" altLang="en-US" sz="1600" b="0" i="0" u="none" strike="noStrike" cap="none" normalizeH="0" baseline="0" dirty="0">
                    <a:ln>
                      <a:noFill/>
                    </a:ln>
                    <a:solidFill>
                      <a:schemeClr val="tx1"/>
                    </a:solidFill>
                    <a:effectLst/>
                    <a:latin typeface="Arial" panose="020B0604020202020204" pitchFamily="34" charset="0"/>
                  </a:rPr>
                  <a:t>Redefined the demand curve using above for each product capture specific price sensitivity and elasticity.</a:t>
                </a:r>
              </a:p>
              <a:p>
                <a:pPr marL="457200" lvl="1" indent="0" eaLnBrk="0" fontAlgn="base" hangingPunct="0">
                  <a:spcBef>
                    <a:spcPct val="0"/>
                  </a:spcBef>
                  <a:spcAft>
                    <a:spcPct val="0"/>
                  </a:spcAft>
                  <a:buClrTx/>
                  <a:buSzTx/>
                  <a:buNone/>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Arial" panose="020B0604020202020204" pitchFamily="34" charset="0"/>
                  </a:rPr>
                  <a:t>Future Enhancements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0" i="0" u="none" strike="noStrike" cap="none" normalizeH="0" baseline="0" dirty="0">
                    <a:ln>
                      <a:noFill/>
                    </a:ln>
                    <a:solidFill>
                      <a:schemeClr val="tx1"/>
                    </a:solidFill>
                    <a:effectLst/>
                    <a:latin typeface="Arial" panose="020B0604020202020204" pitchFamily="34" charset="0"/>
                  </a:rPr>
                  <a:t>Tailored pricing considers:</a:t>
                </a:r>
              </a:p>
              <a:p>
                <a:pPr marL="742950" marR="0" lvl="1"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0" i="0" u="none" strike="noStrike" cap="none" normalizeH="0" baseline="0" dirty="0">
                    <a:ln>
                      <a:noFill/>
                    </a:ln>
                    <a:solidFill>
                      <a:schemeClr val="tx1"/>
                    </a:solidFill>
                    <a:effectLst/>
                    <a:latin typeface="Arial" panose="020B0604020202020204" pitchFamily="34" charset="0"/>
                  </a:rPr>
                  <a:t>Consumer preferences.</a:t>
                </a:r>
              </a:p>
              <a:p>
                <a:pPr marL="742950" marR="0" lvl="1"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0" i="0" u="none" strike="noStrike" cap="none" normalizeH="0" baseline="0" dirty="0">
                    <a:ln>
                      <a:noFill/>
                    </a:ln>
                    <a:solidFill>
                      <a:schemeClr val="tx1"/>
                    </a:solidFill>
                    <a:effectLst/>
                    <a:latin typeface="Arial" panose="020B0604020202020204" pitchFamily="34" charset="0"/>
                  </a:rPr>
                  <a:t>Competitive influence.</a:t>
                </a: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0" i="0" u="none" strike="noStrike" cap="none" normalizeH="0" baseline="0" dirty="0">
                    <a:ln>
                      <a:noFill/>
                    </a:ln>
                    <a:solidFill>
                      <a:schemeClr val="tx1"/>
                    </a:solidFill>
                    <a:effectLst/>
                    <a:latin typeface="Arial" panose="020B0604020202020204" pitchFamily="34" charset="0"/>
                  </a:rPr>
                  <a:t>Explore consumer behavior changes, market share shifts, and product differentiation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600" b="1" i="0" u="none" strike="noStrike" cap="none" normalizeH="0" baseline="0" dirty="0">
                    <a:ln>
                      <a:noFill/>
                    </a:ln>
                    <a:solidFill>
                      <a:schemeClr val="tx1"/>
                    </a:solidFill>
                    <a:effectLst/>
                    <a:latin typeface="Arial" panose="020B0604020202020204" pitchFamily="34" charset="0"/>
                  </a:rPr>
                  <a:t>Business Impact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Courier New" panose="02070309020205020404" pitchFamily="49" charset="0"/>
                  <a:buChar char="o"/>
                  <a:tabLst/>
                </a:pPr>
                <a:r>
                  <a:rPr kumimoji="0" lang="en-US" altLang="en-US" sz="1600" b="0" i="0" u="none" strike="noStrike" cap="none" normalizeH="0" baseline="0" dirty="0">
                    <a:ln>
                      <a:noFill/>
                    </a:ln>
                    <a:solidFill>
                      <a:schemeClr val="tx1"/>
                    </a:solidFill>
                    <a:effectLst/>
                    <a:latin typeface="Arial" panose="020B0604020202020204" pitchFamily="34" charset="0"/>
                  </a:rPr>
                  <a:t>Robust tool for optimizing pricing strategies in competitive markets.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Choice>
        <mc:Fallback xmlns="">
          <p:sp>
            <p:nvSpPr>
              <p:cNvPr id="2" name="Text Placeholder 1">
                <a:extLst>
                  <a:ext uri="{FF2B5EF4-FFF2-40B4-BE49-F238E27FC236}">
                    <a16:creationId xmlns:a16="http://schemas.microsoft.com/office/drawing/2014/main" id="{1AC9D1F3-FB4A-FEA4-98D3-E0D6617FCF6A}"/>
                  </a:ext>
                </a:extLst>
              </p:cNvPr>
              <p:cNvSpPr>
                <a:spLocks noGrp="1" noRot="1" noChangeAspect="1" noMove="1" noResize="1" noEditPoints="1" noAdjustHandles="1" noChangeArrowheads="1" noChangeShapeType="1" noTextEdit="1"/>
              </p:cNvSpPr>
              <p:nvPr>
                <p:ph type="body" idx="1"/>
              </p:nvPr>
            </p:nvSpPr>
            <p:spPr bwMode="auto">
              <a:xfrm>
                <a:off x="273250" y="816190"/>
                <a:ext cx="8692330" cy="3954480"/>
              </a:xfrm>
              <a:prstGeom prst="rect">
                <a:avLst/>
              </a:prstGeom>
              <a:blipFill>
                <a:blip r:embed="rId4"/>
                <a:stretch>
                  <a:fillRect l="-28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IN">
                    <a:noFill/>
                  </a:rPr>
                  <a:t> </a:t>
                </a:r>
              </a:p>
            </p:txBody>
          </p:sp>
        </mc:Fallback>
      </mc:AlternateContent>
    </p:spTree>
    <p:extLst>
      <p:ext uri="{BB962C8B-B14F-4D97-AF65-F5344CB8AC3E}">
        <p14:creationId xmlns:p14="http://schemas.microsoft.com/office/powerpoint/2010/main" val="30991965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2CC3C145-0FE2-954C-B49F-4A406D100F79}"/>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D037C230-14E5-0DAC-13B3-588501B7FF9B}"/>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References</a:t>
            </a:r>
            <a:endParaRPr sz="2600" b="1" dirty="0"/>
          </a:p>
        </p:txBody>
      </p:sp>
      <p:sp>
        <p:nvSpPr>
          <p:cNvPr id="143" name="Google Shape;143;p26">
            <a:extLst>
              <a:ext uri="{FF2B5EF4-FFF2-40B4-BE49-F238E27FC236}">
                <a16:creationId xmlns:a16="http://schemas.microsoft.com/office/drawing/2014/main" id="{40BDAEC1-D611-2332-1E77-5B6A1E6CA905}"/>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37</a:t>
            </a:fld>
            <a:endParaRPr/>
          </a:p>
        </p:txBody>
      </p:sp>
      <p:pic>
        <p:nvPicPr>
          <p:cNvPr id="144" name="Google Shape;144;p26">
            <a:extLst>
              <a:ext uri="{FF2B5EF4-FFF2-40B4-BE49-F238E27FC236}">
                <a16:creationId xmlns:a16="http://schemas.microsoft.com/office/drawing/2014/main" id="{32DDCF0E-26F0-181E-4F8D-B08350D8E8F3}"/>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FD343565-81FA-BADE-2673-64D0E7146E28}"/>
              </a:ext>
            </a:extLst>
          </p:cNvPr>
          <p:cNvSpPr>
            <a:spLocks noGrp="1"/>
          </p:cNvSpPr>
          <p:nvPr>
            <p:ph type="body" idx="1"/>
          </p:nvPr>
        </p:nvSpPr>
        <p:spPr>
          <a:xfrm>
            <a:off x="386576" y="750849"/>
            <a:ext cx="8528824" cy="4049751"/>
          </a:xfrm>
        </p:spPr>
        <p:txBody>
          <a:bodyPr>
            <a:normAutofit lnSpcReduction="10000"/>
          </a:bodyPr>
          <a:lstStyle/>
          <a:p>
            <a:pPr>
              <a:buFont typeface="Wingdings" panose="05000000000000000000" pitchFamily="2" charset="2"/>
              <a:buChar char="q"/>
            </a:pPr>
            <a:r>
              <a:rPr lang="en-IN" sz="1600" dirty="0"/>
              <a:t>[1] Choi, H. (2021). The Profitable Theory of Consumers’ and Producers’ Surplus: Positive Demand, Negative Supply?. Advisor, Chung-Hua Institution for Eco nomic Research. </a:t>
            </a:r>
          </a:p>
          <a:p>
            <a:pPr>
              <a:buFont typeface="Wingdings" panose="05000000000000000000" pitchFamily="2" charset="2"/>
              <a:buChar char="q"/>
            </a:pPr>
            <a:endParaRPr lang="en-IN" sz="1600" dirty="0"/>
          </a:p>
          <a:p>
            <a:pPr>
              <a:buFont typeface="Wingdings" panose="05000000000000000000" pitchFamily="2" charset="2"/>
              <a:buChar char="q"/>
            </a:pPr>
            <a:r>
              <a:rPr lang="en-IN" sz="1600" dirty="0"/>
              <a:t>[2] Hirth, L., Khanna, T., </a:t>
            </a:r>
            <a:r>
              <a:rPr lang="en-IN" sz="1600" dirty="0" err="1"/>
              <a:t>Ruhnau</a:t>
            </a:r>
            <a:r>
              <a:rPr lang="en-IN" sz="1600" dirty="0"/>
              <a:t>, O. (2022). The (very) short-term price elastic </a:t>
            </a:r>
            <a:r>
              <a:rPr lang="en-IN" sz="1600" dirty="0" err="1"/>
              <a:t>ity</a:t>
            </a:r>
            <a:r>
              <a:rPr lang="en-IN" sz="1600" dirty="0"/>
              <a:t> of German electricity demand. ZBW- Leibniz Information Centre for Eco nomics, Kiel, Hamburg. Available at: http://hdl.handle.net/10419/249570. </a:t>
            </a:r>
          </a:p>
          <a:p>
            <a:pPr>
              <a:buFont typeface="Wingdings" panose="05000000000000000000" pitchFamily="2" charset="2"/>
              <a:buChar char="q"/>
            </a:pPr>
            <a:endParaRPr lang="en-IN" sz="1600" dirty="0"/>
          </a:p>
          <a:p>
            <a:pPr>
              <a:buFont typeface="Wingdings" panose="05000000000000000000" pitchFamily="2" charset="2"/>
              <a:buChar char="q"/>
            </a:pPr>
            <a:r>
              <a:rPr lang="en-IN" sz="1600" dirty="0"/>
              <a:t>[3] Dooley, P. C. (1983). Consumer’s Surplus: Marshall and His Critics. The Cana </a:t>
            </a:r>
            <a:r>
              <a:rPr lang="en-IN" sz="1600" dirty="0" err="1"/>
              <a:t>dian</a:t>
            </a:r>
            <a:r>
              <a:rPr lang="en-IN" sz="1600" dirty="0"/>
              <a:t> Journal of Economics / Revue canadienne </a:t>
            </a:r>
            <a:r>
              <a:rPr lang="en-IN" sz="1600" dirty="0" err="1"/>
              <a:t>d’Economique</a:t>
            </a:r>
            <a:r>
              <a:rPr lang="en-IN" sz="1600" dirty="0"/>
              <a:t>, 16(1), 26-38. Published by Wiley on behalf of the Canadian Economics Association. Avail able at: https://www.jstor.org/stable/134973. </a:t>
            </a:r>
          </a:p>
          <a:p>
            <a:pPr>
              <a:buFont typeface="Wingdings" panose="05000000000000000000" pitchFamily="2" charset="2"/>
              <a:buChar char="q"/>
            </a:pPr>
            <a:endParaRPr lang="en-IN" sz="1600" dirty="0"/>
          </a:p>
          <a:p>
            <a:pPr>
              <a:buFont typeface="Wingdings" panose="05000000000000000000" pitchFamily="2" charset="2"/>
              <a:buChar char="q"/>
            </a:pPr>
            <a:r>
              <a:rPr lang="en-IN" sz="1600" dirty="0"/>
              <a:t>[4] Rosenthal-Kay, J., Traina, J., Tran, U. (2021). Seven million demand elasticities. Leibniz Information Centre for Economics</a:t>
            </a:r>
          </a:p>
        </p:txBody>
      </p:sp>
    </p:spTree>
    <p:extLst>
      <p:ext uri="{BB962C8B-B14F-4D97-AF65-F5344CB8AC3E}">
        <p14:creationId xmlns:p14="http://schemas.microsoft.com/office/powerpoint/2010/main" val="9078117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0">
          <a:extLst>
            <a:ext uri="{FF2B5EF4-FFF2-40B4-BE49-F238E27FC236}">
              <a16:creationId xmlns:a16="http://schemas.microsoft.com/office/drawing/2014/main" id="{DA19FA3C-F177-B5C8-07CC-29C70FAC7894}"/>
            </a:ext>
          </a:extLst>
        </p:cNvPr>
        <p:cNvGrpSpPr/>
        <p:nvPr/>
      </p:nvGrpSpPr>
      <p:grpSpPr>
        <a:xfrm>
          <a:off x="0" y="0"/>
          <a:ext cx="0" cy="0"/>
          <a:chOff x="0" y="0"/>
          <a:chExt cx="0" cy="0"/>
        </a:xfrm>
      </p:grpSpPr>
      <p:sp>
        <p:nvSpPr>
          <p:cNvPr id="141" name="Google Shape;141;p26">
            <a:extLst>
              <a:ext uri="{FF2B5EF4-FFF2-40B4-BE49-F238E27FC236}">
                <a16:creationId xmlns:a16="http://schemas.microsoft.com/office/drawing/2014/main" id="{6508DB67-A619-4AD8-B7CB-00518E3957DE}"/>
              </a:ext>
            </a:extLst>
          </p:cNvPr>
          <p:cNvSpPr txBox="1">
            <a:spLocks noGrp="1"/>
          </p:cNvSpPr>
          <p:nvPr>
            <p:ph type="title"/>
          </p:nvPr>
        </p:nvSpPr>
        <p:spPr>
          <a:xfrm>
            <a:off x="266738" y="26071"/>
            <a:ext cx="8610600" cy="514500"/>
          </a:xfrm>
          <a:prstGeom prst="rect">
            <a:avLst/>
          </a:prstGeom>
          <a:noFill/>
          <a:ln>
            <a:noFill/>
          </a:ln>
        </p:spPr>
        <p:txBody>
          <a:bodyPr spcFirstLastPara="1" wrap="square" lIns="68575" tIns="34275" rIns="68575" bIns="34275" anchor="ctr" anchorCtr="0">
            <a:normAutofit/>
          </a:bodyPr>
          <a:lstStyle/>
          <a:p>
            <a:r>
              <a:rPr lang="en-IN" sz="2600" b="1" dirty="0"/>
              <a:t>References</a:t>
            </a:r>
            <a:endParaRPr sz="2600" b="1" dirty="0"/>
          </a:p>
        </p:txBody>
      </p:sp>
      <p:sp>
        <p:nvSpPr>
          <p:cNvPr id="143" name="Google Shape;143;p26">
            <a:extLst>
              <a:ext uri="{FF2B5EF4-FFF2-40B4-BE49-F238E27FC236}">
                <a16:creationId xmlns:a16="http://schemas.microsoft.com/office/drawing/2014/main" id="{D0899252-84C3-525E-A33A-2A9512C60415}"/>
              </a:ext>
            </a:extLst>
          </p:cNvPr>
          <p:cNvSpPr txBox="1">
            <a:spLocks noGrp="1"/>
          </p:cNvSpPr>
          <p:nvPr>
            <p:ph type="sldNum" idx="12"/>
          </p:nvPr>
        </p:nvSpPr>
        <p:spPr>
          <a:xfrm>
            <a:off x="6553200" y="4857751"/>
            <a:ext cx="2133600" cy="273844"/>
          </a:xfrm>
          <a:prstGeom prst="rect">
            <a:avLst/>
          </a:prstGeom>
          <a:noFill/>
          <a:ln>
            <a:noFill/>
          </a:ln>
        </p:spPr>
        <p:txBody>
          <a:bodyPr spcFirstLastPara="1" wrap="square" lIns="68575" tIns="34275" rIns="68575" bIns="34275" anchor="ctr" anchorCtr="0">
            <a:noAutofit/>
          </a:bodyPr>
          <a:lstStyle/>
          <a:p>
            <a:pPr marL="0" lvl="0" indent="0" algn="r" rtl="0">
              <a:spcBef>
                <a:spcPts val="0"/>
              </a:spcBef>
              <a:spcAft>
                <a:spcPts val="0"/>
              </a:spcAft>
              <a:buNone/>
            </a:pPr>
            <a:fld id="{00000000-1234-1234-1234-123412341234}" type="slidenum">
              <a:rPr lang="en"/>
              <a:t>38</a:t>
            </a:fld>
            <a:endParaRPr/>
          </a:p>
        </p:txBody>
      </p:sp>
      <p:pic>
        <p:nvPicPr>
          <p:cNvPr id="144" name="Google Shape;144;p26">
            <a:extLst>
              <a:ext uri="{FF2B5EF4-FFF2-40B4-BE49-F238E27FC236}">
                <a16:creationId xmlns:a16="http://schemas.microsoft.com/office/drawing/2014/main" id="{19F1D204-5475-91F3-E848-1FE18E3E1F61}"/>
              </a:ext>
            </a:extLst>
          </p:cNvPr>
          <p:cNvPicPr preferRelativeResize="0"/>
          <p:nvPr/>
        </p:nvPicPr>
        <p:blipFill>
          <a:blip r:embed="rId3">
            <a:alphaModFix/>
          </a:blip>
          <a:stretch>
            <a:fillRect/>
          </a:stretch>
        </p:blipFill>
        <p:spPr>
          <a:xfrm>
            <a:off x="0" y="0"/>
            <a:ext cx="546501" cy="514350"/>
          </a:xfrm>
          <a:prstGeom prst="rect">
            <a:avLst/>
          </a:prstGeom>
          <a:noFill/>
          <a:ln>
            <a:noFill/>
          </a:ln>
        </p:spPr>
      </p:pic>
      <p:sp>
        <p:nvSpPr>
          <p:cNvPr id="3" name="Text Placeholder 2">
            <a:extLst>
              <a:ext uri="{FF2B5EF4-FFF2-40B4-BE49-F238E27FC236}">
                <a16:creationId xmlns:a16="http://schemas.microsoft.com/office/drawing/2014/main" id="{E3754DB3-9B71-B4D3-4D70-507CDB999547}"/>
              </a:ext>
            </a:extLst>
          </p:cNvPr>
          <p:cNvSpPr>
            <a:spLocks noGrp="1"/>
          </p:cNvSpPr>
          <p:nvPr>
            <p:ph type="body" idx="1"/>
          </p:nvPr>
        </p:nvSpPr>
        <p:spPr>
          <a:xfrm>
            <a:off x="386576" y="750849"/>
            <a:ext cx="8528824" cy="4049751"/>
          </a:xfrm>
        </p:spPr>
        <p:txBody>
          <a:bodyPr>
            <a:normAutofit lnSpcReduction="10000"/>
          </a:bodyPr>
          <a:lstStyle/>
          <a:p>
            <a:pPr>
              <a:buFont typeface="Wingdings" panose="05000000000000000000" pitchFamily="2" charset="2"/>
              <a:buChar char="q"/>
            </a:pPr>
            <a:r>
              <a:rPr lang="en-IN" sz="1600" dirty="0"/>
              <a:t>[5] </a:t>
            </a:r>
            <a:r>
              <a:rPr lang="en-IN" sz="1600" dirty="0" err="1"/>
              <a:t>Neelamegham</a:t>
            </a:r>
            <a:r>
              <a:rPr lang="en-IN" sz="1600" dirty="0"/>
              <a:t>, R., </a:t>
            </a:r>
            <a:r>
              <a:rPr lang="en-IN" sz="1600" dirty="0" err="1"/>
              <a:t>Chintagunta</a:t>
            </a:r>
            <a:r>
              <a:rPr lang="en-IN" sz="1600" dirty="0"/>
              <a:t>, P. (2003). A Bayesian Model to Forecast New Product Performance in Domestic and International Markets. INSEAD, Graduate School of Business, University of Chicago. Available at: https: //www.insead.edu.</a:t>
            </a:r>
          </a:p>
          <a:p>
            <a:pPr>
              <a:buFont typeface="Wingdings" panose="05000000000000000000" pitchFamily="2" charset="2"/>
              <a:buChar char="q"/>
            </a:pPr>
            <a:endParaRPr lang="en-IN" sz="1600" dirty="0"/>
          </a:p>
          <a:p>
            <a:pPr>
              <a:buFont typeface="Wingdings" panose="05000000000000000000" pitchFamily="2" charset="2"/>
              <a:buChar char="q"/>
            </a:pPr>
            <a:r>
              <a:rPr lang="en-IN" sz="1600" dirty="0"/>
              <a:t> [6] Manchanda, P., Rossi, P. E., </a:t>
            </a:r>
            <a:r>
              <a:rPr lang="en-IN" sz="1600" dirty="0" err="1"/>
              <a:t>Chintagunta</a:t>
            </a:r>
            <a:r>
              <a:rPr lang="en-IN" sz="1600" dirty="0"/>
              <a:t>, P. K. (2004). Investigating Hetero </a:t>
            </a:r>
            <a:r>
              <a:rPr lang="en-IN" sz="1600" dirty="0" err="1"/>
              <a:t>geneity</a:t>
            </a:r>
            <a:r>
              <a:rPr lang="en-IN" sz="1600" dirty="0"/>
              <a:t> in Brand Preferences in Logit Models for Panel Data, Response Model </a:t>
            </a:r>
            <a:r>
              <a:rPr lang="en-IN" sz="1600" dirty="0" err="1"/>
              <a:t>ing</a:t>
            </a:r>
            <a:r>
              <a:rPr lang="en-IN" sz="1600" dirty="0"/>
              <a:t> with </a:t>
            </a:r>
            <a:r>
              <a:rPr lang="en-IN" sz="1600" dirty="0" err="1"/>
              <a:t>Nonrandom</a:t>
            </a:r>
            <a:r>
              <a:rPr lang="en-IN" sz="1600" dirty="0"/>
              <a:t> Marketing-Mix Variables. Journal of Marketing Research, 41(4), 467-4700. 10.1509/jmkr.41.4.467.4700. </a:t>
            </a:r>
          </a:p>
          <a:p>
            <a:pPr marL="114300" indent="0">
              <a:buNone/>
            </a:pPr>
            <a:endParaRPr lang="en-IN" sz="1600" dirty="0"/>
          </a:p>
          <a:p>
            <a:pPr>
              <a:buFont typeface="Wingdings" panose="05000000000000000000" pitchFamily="2" charset="2"/>
              <a:buChar char="q"/>
            </a:pPr>
            <a:r>
              <a:rPr lang="en-IN" sz="1600" dirty="0"/>
              <a:t>[7] </a:t>
            </a:r>
            <a:r>
              <a:rPr lang="en-IN" sz="1600" dirty="0" err="1"/>
              <a:t>Hitsch</a:t>
            </a:r>
            <a:r>
              <a:rPr lang="en-IN" sz="1600" dirty="0"/>
              <a:t>, G. J., </a:t>
            </a:r>
            <a:r>
              <a:rPr lang="en-IN" sz="1600" dirty="0" err="1"/>
              <a:t>Horta¸csu</a:t>
            </a:r>
            <a:r>
              <a:rPr lang="en-IN" sz="1600" dirty="0"/>
              <a:t>, A., Lin, X. (2019). Prices and promotions in U.S. retail markets: Evidence from big data. NBER Working Paper. Available at: https://www.nber.org/. </a:t>
            </a:r>
          </a:p>
          <a:p>
            <a:pPr>
              <a:buFont typeface="Wingdings" panose="05000000000000000000" pitchFamily="2" charset="2"/>
              <a:buChar char="q"/>
            </a:pPr>
            <a:endParaRPr lang="en-IN" sz="1600" dirty="0"/>
          </a:p>
          <a:p>
            <a:pPr>
              <a:buFont typeface="Wingdings" panose="05000000000000000000" pitchFamily="2" charset="2"/>
              <a:buChar char="q"/>
            </a:pPr>
            <a:r>
              <a:rPr lang="en-IN" sz="1600" dirty="0"/>
              <a:t>[8] Jensen, R. T., Miller, N. H. (2008). Giffen </a:t>
            </a:r>
            <a:r>
              <a:rPr lang="en-IN" sz="1600" dirty="0" err="1"/>
              <a:t>behavior</a:t>
            </a:r>
            <a:r>
              <a:rPr lang="en-IN" sz="1600" dirty="0"/>
              <a:t> and subsistence </a:t>
            </a:r>
            <a:r>
              <a:rPr lang="en-IN" sz="1600" dirty="0" err="1"/>
              <a:t>consump</a:t>
            </a:r>
            <a:r>
              <a:rPr lang="en-IN" sz="1600" dirty="0"/>
              <a:t> </a:t>
            </a:r>
            <a:r>
              <a:rPr lang="en-IN" sz="1600" dirty="0" err="1"/>
              <a:t>tion</a:t>
            </a:r>
            <a:r>
              <a:rPr lang="en-IN" sz="1600" dirty="0"/>
              <a:t>. American Economic Review, 98(4), 2008</a:t>
            </a:r>
          </a:p>
        </p:txBody>
      </p:sp>
    </p:spTree>
    <p:extLst>
      <p:ext uri="{BB962C8B-B14F-4D97-AF65-F5344CB8AC3E}">
        <p14:creationId xmlns:p14="http://schemas.microsoft.com/office/powerpoint/2010/main" val="383604889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TotalTime>
  <Words>2412</Words>
  <Application>Microsoft Office PowerPoint</Application>
  <PresentationFormat>On-screen Show (16:9)</PresentationFormat>
  <Paragraphs>283</Paragraphs>
  <Slides>38</Slides>
  <Notes>38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38</vt:i4>
      </vt:variant>
    </vt:vector>
  </HeadingPairs>
  <TitlesOfParts>
    <vt:vector size="46" baseType="lpstr">
      <vt:lpstr>Wingdings</vt:lpstr>
      <vt:lpstr>Cambria Math</vt:lpstr>
      <vt:lpstr>Courier New</vt:lpstr>
      <vt:lpstr>Century</vt:lpstr>
      <vt:lpstr>Calibri</vt:lpstr>
      <vt:lpstr>Arial</vt:lpstr>
      <vt:lpstr>Simple Light</vt:lpstr>
      <vt:lpstr>Office Theme</vt:lpstr>
      <vt:lpstr>Modeling Demand Curve for Non-Traditional Patterns</vt:lpstr>
      <vt:lpstr>Contents:</vt:lpstr>
      <vt:lpstr>Introduction</vt:lpstr>
      <vt:lpstr>Challenges in Modern Markets</vt:lpstr>
      <vt:lpstr>Proposed Solution</vt:lpstr>
      <vt:lpstr>Problem Description</vt:lpstr>
      <vt:lpstr>Features</vt:lpstr>
      <vt:lpstr>Features</vt:lpstr>
      <vt:lpstr>Features</vt:lpstr>
      <vt:lpstr>Weighted Metrics</vt:lpstr>
      <vt:lpstr>Competitive Features</vt:lpstr>
      <vt:lpstr>Competitive Features</vt:lpstr>
      <vt:lpstr>Competitive Features</vt:lpstr>
      <vt:lpstr> Features</vt:lpstr>
      <vt:lpstr>Up Down Index</vt:lpstr>
      <vt:lpstr>Data Set </vt:lpstr>
      <vt:lpstr>Methods and Approach </vt:lpstr>
      <vt:lpstr>Approaches</vt:lpstr>
      <vt:lpstr>Approach: Ridge regression</vt:lpstr>
      <vt:lpstr>Workflow</vt:lpstr>
      <vt:lpstr>Transformations</vt:lpstr>
      <vt:lpstr>Price Elasticity</vt:lpstr>
      <vt:lpstr>Demand Curve Formulation</vt:lpstr>
      <vt:lpstr>Experiments</vt:lpstr>
      <vt:lpstr>Experiments</vt:lpstr>
      <vt:lpstr>Experiments</vt:lpstr>
      <vt:lpstr>Experiments</vt:lpstr>
      <vt:lpstr>Experiments</vt:lpstr>
      <vt:lpstr>Experiments</vt:lpstr>
      <vt:lpstr>Final Interpretation </vt:lpstr>
      <vt:lpstr>Experiments</vt:lpstr>
      <vt:lpstr>Results</vt:lpstr>
      <vt:lpstr>Final Interpretation </vt:lpstr>
      <vt:lpstr>Why this is better than other……</vt:lpstr>
      <vt:lpstr>Conclusion</vt:lpstr>
      <vt:lpstr>Future Work </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Aakash Verma</dc:creator>
  <cp:lastModifiedBy>Aakash Verma</cp:lastModifiedBy>
  <cp:revision>5</cp:revision>
  <dcterms:modified xsi:type="dcterms:W3CDTF">2024-11-30T05:37:15Z</dcterms:modified>
</cp:coreProperties>
</file>